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开场先说明：本阶段已完成从通用强化学习代码验证到防空资源分配正式基准实验的过渡。汇报重点是环境如何建模、实验说明了什么，以及下一阶段怎样形成学术创新。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这一页只讲任务本身，不展开公式。强调防空资源有限、目标持续来袭、命中随机，当前选择会改变后续资源与可行动作集合，因此问题天然具有序贯决策属性。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主动说明研究边界：当前是集中式、完全可观测的决策级模型。保留区域价值、威胁、到达时间、射程、弹药、冷却和命中随机性，但不追求雷达方程与弹道高保真。v1.0 是基准环境，不是最终环境。</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解释场景图中的保护区、防御单元、射程覆盖与目标运动。强调 agent 不是单个武器，而是集中式指挥器；动作是同时为三个防御单元做联合分配。动作掩码排除无弹药、冷却、超射程或目标失效等物理不可行动作。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环境负责状态转移、奖励与终止；Agent 负责动作选择；模型提供策略和价值估计；训练算法利用交互数据更新模型参数。当前已实现的是环境与基线训练闭环，后续可以替换模型和算法而复用同一环境。</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这一页证明平台可靠即可，不讲 Conda、导入路径等工程细节。重点是通用算法链路已验证，任务环境、规则与学习基线、正式多种子实验和留档机制均已形成。测试结果为 54 passed。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强调这不是一次随机训练结果。训练种子为 0 到 4，每个学习模型请求 100k 步；最终每个方法评估 500 回合；所有方法使用相同配对场景；置信区间以 5 个实验运行为统计单位。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先讲结论，再看数字。Maskable PPO 平均奖励 -35.93，greedy_damage -38.75，PPO -86.52。Maskable PPO 的成功率和拦截率更高，损伤更低，非法动作保持为零。这里只能说达到强规则水平，不能说显著超过。</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普通 PPO 必须在包含大量不可能动作的空间中学习，容易先学成 no-op 或后期重新产生非法动作。Maskable PPO 在采样前过滤不可行动作，配对比较中平均奖励提高 50.60，置信区间不跨零，拦截率、突防率和损伤也均显著改善。动作掩码应被定位为必要机制和可靠基线，而非最终创新。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观察四个子图：Maskable PPO 的主要改善发生在约 40k 到 80k 步，80k 后奖励和损伤进入平台；普通 PPO 早期近似学成不行动，后期恢复部分拦截，但成功率始终为零，非法动作在训练后期重新上升；Maskable PPO 全程非法动作数为零。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主动区分已证实和未证实。Maskable PPO 相比 greedy_damage 的奖励均值高 2.83，但 95% 置信区间跨零，成功率、拦截率与资源效率差异也没有稳定证据。因此当前贡献是研究基准、约束机制验证和失败归因，不是算法创新已经完成。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下一步不是立即堆叠复杂模型。先建立场景难度分层和更强优化基线，再分析冲突、过度分配和资源保留等瓶颈；随后围绕资源—目标图表示、动作可行性与联合分配形成约束感知图强化学习方法；最后验证跨规模、未见场景和多智能体扩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结束时明确提出三个需要导师判断的问题，不用泛泛地说请批评指正。自己的当前建议是先做难度分层和更强优化基线，再进入约束感知的图结构联合分配；多智能体与高保真机制放在后续扩展。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B829D1B8-4CA2-4B5B-BDB5-221B8EE19F19}"/>
              </a:ext>
            </a:extLst>
          </p:cNvPr>
          <p:cNvSpPr>
            <a:spLocks noGrp="1"/>
          </p:cNvSpPr>
          <p:nvPr/>
        </p:nvSpPr>
        <p:spPr>
          <a:xfrm>
            <a:off x="0" y="0"/>
            <a:ext cx="171450" cy="6858000"/>
          </a:xfrm>
          <a:prstGeom prst="roundRect">
            <a:avLst>
              <a:gd name="adj" fmla="val 44444"/>
            </a:avLst>
          </a:prstGeom>
          <a:solidFill>
            <a:srgbClr val="1E5AA8"/>
          </a:solidFill>
          <a:ln w="9525">
            <a:solidFill>
              <a:srgbClr val="1E5AA8"/>
            </a:solidFill>
            <a:prstDash val="solid"/>
          </a:ln>
        </p:spPr>
      </p:sp>
      <p:sp>
        <p:nvSpPr>
          <p:cNvPr id="2" name="矩形 1">
            <a:extLst>
              <a:ext uri="{FF2B5EF4-FFF2-40B4-BE49-F238E27FC236}">
                <a16:creationId xmlns:a16="http://schemas.microsoft.com/office/drawing/2014/main" id="{79F3E864-6758-4170-865A-68FE118BEC1B}"/>
              </a:ext>
            </a:extLst>
          </p:cNvPr>
          <p:cNvSpPr>
            <a:spLocks noGrp="1"/>
          </p:cNvSpPr>
          <p:nvPr/>
        </p:nvSpPr>
        <p:spPr>
          <a:xfrm>
            <a:off x="533400" y="457200"/>
            <a:ext cx="4953000" cy="285750"/>
          </a:xfrm>
          <a:prstGeom prst="rect">
            <a:avLst/>
          </a:prstGeom>
        </p:spPr>
        <p:txBody>
          <a:bodyPr wrap="square" lIns="0" tIns="0" rIns="0" bIns="0" anchor="t">
            <a:normAutofit/>
          </a:bodyPr>
          <a:lstStyle/>
          <a:p>
            <a:pPr algn="l">
              <a:defRPr sz="1350" b="1">
                <a:solidFill>
                  <a:srgbClr val="1E5AA8"/>
                </a:solidFill>
                <a:latin typeface="Microsoft YaHei"/>
                <a:ea typeface="Microsoft YaHei"/>
                <a:cs typeface="Microsoft YaHei"/>
              </a:defRPr>
            </a:pPr>
            <a:r>
              <a:t>阶段进展汇报 · 2026.07.16</a:t>
            </a:r>
          </a:p>
        </p:txBody>
      </p:sp>
      <p:sp>
        <p:nvSpPr>
          <p:cNvPr id="3" name="矩形 2">
            <a:extLst>
              <a:ext uri="{FF2B5EF4-FFF2-40B4-BE49-F238E27FC236}">
                <a16:creationId xmlns:a16="http://schemas.microsoft.com/office/drawing/2014/main" id="{33E7791A-9B75-42F1-8E82-61C377F80370}"/>
              </a:ext>
            </a:extLst>
          </p:cNvPr>
          <p:cNvSpPr>
            <a:spLocks noGrp="1"/>
          </p:cNvSpPr>
          <p:nvPr/>
        </p:nvSpPr>
        <p:spPr>
          <a:xfrm>
            <a:off x="533400" y="1695450"/>
            <a:ext cx="10382250" cy="1866900"/>
          </a:xfrm>
          <a:prstGeom prst="rect">
            <a:avLst/>
          </a:prstGeom>
        </p:spPr>
        <p:txBody>
          <a:bodyPr wrap="square" lIns="0" tIns="0" rIns="0" bIns="0" anchor="t">
            <a:normAutofit/>
          </a:bodyPr>
          <a:lstStyle/>
          <a:p>
            <a:pPr algn="l">
              <a:defRPr sz="4950" b="1">
                <a:solidFill>
                  <a:srgbClr val="17232D"/>
                </a:solidFill>
                <a:latin typeface="Microsoft YaHei"/>
                <a:ea typeface="Microsoft YaHei"/>
                <a:cs typeface="Microsoft YaHei"/>
              </a:defRPr>
            </a:pPr>
            <a:r>
              <a:t>面向反无人机防空编组的
强化学习动态资源分配</a:t>
            </a:r>
          </a:p>
        </p:txBody>
      </p:sp>
      <p:sp>
        <p:nvSpPr>
          <p:cNvPr id="4" name="矩形 3">
            <a:extLst>
              <a:ext uri="{FF2B5EF4-FFF2-40B4-BE49-F238E27FC236}">
                <a16:creationId xmlns:a16="http://schemas.microsoft.com/office/drawing/2014/main" id="{DF8056B1-F316-451A-91BD-D02EA9654FE7}"/>
              </a:ext>
            </a:extLst>
          </p:cNvPr>
          <p:cNvSpPr>
            <a:spLocks noGrp="1"/>
          </p:cNvSpPr>
          <p:nvPr/>
        </p:nvSpPr>
        <p:spPr>
          <a:xfrm>
            <a:off x="552450" y="3752850"/>
            <a:ext cx="7810500" cy="495300"/>
          </a:xfrm>
          <a:prstGeom prst="rect">
            <a:avLst/>
          </a:prstGeom>
        </p:spPr>
        <p:txBody>
          <a:bodyPr wrap="square" lIns="0" tIns="0" rIns="0" bIns="0" anchor="t">
            <a:normAutofit/>
          </a:bodyPr>
          <a:lstStyle/>
          <a:p>
            <a:pPr algn="l">
              <a:defRPr sz="2550" b="1">
                <a:solidFill>
                  <a:srgbClr val="5D6A74"/>
                </a:solidFill>
                <a:latin typeface="Microsoft YaHei"/>
                <a:ea typeface="Microsoft YaHei"/>
                <a:cs typeface="Microsoft YaHei"/>
              </a:defRPr>
            </a:pPr>
            <a:r>
              <a:t>环境建模与正式基线实验</a:t>
            </a:r>
          </a:p>
        </p:txBody>
      </p:sp>
      <p:cxnSp>
        <p:nvCxnSpPr>
          <p:cNvPr id="13" name="直接箭头连接符 12"/>
          <p:cNvCxnSpPr/>
          <p:nvPr/>
        </p:nvCxnSpPr>
        <p:spPr>
          <a:xfrm>
            <a:off x="552450" y="4705350"/>
            <a:ext cx="5334000" cy="95"/>
          </a:xfrm>
          <a:prstGeom prst="straightConnector1">
            <a:avLst/>
          </a:prstGeom>
          <a:ln w="38100">
            <a:solidFill>
              <a:srgbClr val="1E5AA8"/>
            </a:solidFill>
            <a:prstDash val="solid"/>
          </a:ln>
        </p:spPr>
      </p:cxnSp>
      <p:sp>
        <p:nvSpPr>
          <p:cNvPr id="6" name="矩形 5">
            <a:extLst>
              <a:ext uri="{FF2B5EF4-FFF2-40B4-BE49-F238E27FC236}">
                <a16:creationId xmlns:a16="http://schemas.microsoft.com/office/drawing/2014/main" id="{19E0A90D-242E-4960-81DF-C5CF0EA9598D}"/>
              </a:ext>
            </a:extLst>
          </p:cNvPr>
          <p:cNvSpPr>
            <a:spLocks noGrp="1"/>
          </p:cNvSpPr>
          <p:nvPr/>
        </p:nvSpPr>
        <p:spPr>
          <a:xfrm>
            <a:off x="552450" y="5143500"/>
            <a:ext cx="2857500" cy="266700"/>
          </a:xfrm>
          <a:prstGeom prst="rect">
            <a:avLst/>
          </a:prstGeom>
        </p:spPr>
        <p:txBody>
          <a:bodyPr wrap="square" lIns="0" tIns="0" rIns="0" bIns="0" anchor="t">
            <a:normAutofit/>
          </a:bodyPr>
          <a:lstStyle/>
          <a:p>
            <a:pPr algn="l">
              <a:defRPr sz="1500" b="0">
                <a:solidFill>
                  <a:srgbClr val="17232D"/>
                </a:solidFill>
                <a:latin typeface="Microsoft YaHei"/>
                <a:ea typeface="Microsoft YaHei"/>
                <a:cs typeface="Microsoft YaHei"/>
              </a:defRPr>
            </a:pPr>
            <a:r>
              <a:rPr dirty="0" err="1"/>
              <a:t>汇报人</a:t>
            </a:r>
            <a:r>
              <a:rPr lang="zh-CN" altLang="en-US" dirty="0"/>
              <a:t>：黄自康</a:t>
            </a:r>
            <a:endParaRPr dirty="0"/>
          </a:p>
        </p:txBody>
      </p:sp>
      <p:sp>
        <p:nvSpPr>
          <p:cNvPr id="7" name="矩形 6">
            <a:extLst>
              <a:ext uri="{FF2B5EF4-FFF2-40B4-BE49-F238E27FC236}">
                <a16:creationId xmlns:a16="http://schemas.microsoft.com/office/drawing/2014/main" id="{378EA021-0FEC-43E1-B3AC-40F7005F33F5}"/>
              </a:ext>
            </a:extLst>
          </p:cNvPr>
          <p:cNvSpPr>
            <a:spLocks noGrp="1"/>
          </p:cNvSpPr>
          <p:nvPr/>
        </p:nvSpPr>
        <p:spPr>
          <a:xfrm>
            <a:off x="552450" y="5581650"/>
            <a:ext cx="6191250" cy="285750"/>
          </a:xfrm>
          <a:prstGeom prst="rect">
            <a:avLst/>
          </a:prstGeom>
        </p:spPr>
        <p:txBody>
          <a:bodyPr wrap="square" lIns="0" tIns="0" rIns="0" bIns="0" anchor="t">
            <a:normAutofit/>
          </a:bodyPr>
          <a:lstStyle/>
          <a:p>
            <a:pPr algn="l">
              <a:defRPr sz="1650" b="0">
                <a:solidFill>
                  <a:srgbClr val="5D6A74"/>
                </a:solidFill>
                <a:latin typeface="Microsoft YaHei"/>
                <a:ea typeface="Microsoft YaHei"/>
                <a:cs typeface="Microsoft YaHei"/>
              </a:defRPr>
            </a:pPr>
            <a:r>
              <a:rPr dirty="0" err="1"/>
              <a:t>研究主线：异构资源</a:t>
            </a:r>
            <a:r>
              <a:rPr dirty="0"/>
              <a:t>—</a:t>
            </a:r>
            <a:r>
              <a:rPr dirty="0" err="1"/>
              <a:t>目标的动态联合分配</a:t>
            </a:r>
            <a:endParaRPr dirty="0"/>
          </a:p>
        </p:txBody>
      </p:sp>
      <p:sp>
        <p:nvSpPr>
          <p:cNvPr id="8" name="矩形 7">
            <a:extLst>
              <a:ext uri="{FF2B5EF4-FFF2-40B4-BE49-F238E27FC236}">
                <a16:creationId xmlns:a16="http://schemas.microsoft.com/office/drawing/2014/main" id="{8304B373-0618-4E30-965D-AA1F1BB3B3FE}"/>
              </a:ext>
            </a:extLst>
          </p:cNvPr>
          <p:cNvSpPr>
            <a:spLocks noGrp="1"/>
          </p:cNvSpPr>
          <p:nvPr/>
        </p:nvSpPr>
        <p:spPr>
          <a:xfrm>
            <a:off x="8620125" y="5810250"/>
            <a:ext cx="2857500" cy="266700"/>
          </a:xfrm>
          <a:prstGeom prst="rect">
            <a:avLst/>
          </a:prstGeom>
        </p:spPr>
        <p:txBody>
          <a:bodyPr wrap="square" lIns="0" tIns="0" rIns="0" bIns="0" anchor="t">
            <a:normAutofit/>
          </a:bodyPr>
          <a:lstStyle/>
          <a:p>
            <a:pPr algn="r">
              <a:defRPr sz="1350" b="1">
                <a:solidFill>
                  <a:srgbClr val="8A959D"/>
                </a:solidFill>
                <a:latin typeface="Microsoft YaHei"/>
                <a:ea typeface="Microsoft YaHei"/>
                <a:cs typeface="Microsoft YaHei"/>
              </a:defRPr>
            </a:pPr>
            <a:r>
              <a:t>AIR DEFENSE RL</a:t>
            </a:r>
          </a:p>
        </p:txBody>
      </p:sp>
    </p:spTree>
    <p:extLst>
      <p:ext uri="{BB962C8B-B14F-4D97-AF65-F5344CB8AC3E}">
        <p14:creationId xmlns:p14="http://schemas.microsoft.com/office/powerpoint/2010/main" val="975525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6C5DB32-135B-49A7-89C3-F2EF15B357ED}"/>
              </a:ext>
            </a:extLst>
          </p:cNvPr>
          <p:cNvSpPr>
            <a:spLocks noGrp="1"/>
          </p:cNvSpPr>
          <p:nvPr/>
        </p:nvSpPr>
        <p:spPr>
          <a:xfrm>
            <a:off x="457200" y="285750"/>
            <a:ext cx="3143250" cy="209550"/>
          </a:xfrm>
          <a:prstGeom prst="rect">
            <a:avLst/>
          </a:prstGeom>
        </p:spPr>
        <p:txBody>
          <a:bodyPr wrap="square" lIns="0" tIns="0" rIns="0" bIns="0" anchor="t">
            <a:normAutofit/>
          </a:bodyPr>
          <a:lstStyle/>
          <a:p>
            <a:pPr algn="l">
              <a:defRPr sz="1125" b="1">
                <a:solidFill>
                  <a:srgbClr val="1E5AA8"/>
                </a:solidFill>
                <a:latin typeface="Microsoft YaHei"/>
                <a:ea typeface="Microsoft YaHei"/>
                <a:cs typeface="Microsoft YaHei"/>
              </a:defRPr>
            </a:pPr>
            <a:r>
              <a:t>PROBLEM</a:t>
            </a:r>
          </a:p>
        </p:txBody>
      </p:sp>
      <p:sp>
        <p:nvSpPr>
          <p:cNvPr id="2" name="矩形 1">
            <a:extLst>
              <a:ext uri="{FF2B5EF4-FFF2-40B4-BE49-F238E27FC236}">
                <a16:creationId xmlns:a16="http://schemas.microsoft.com/office/drawing/2014/main" id="{D6FB991D-7584-4541-8F77-16ADF8A26932}"/>
              </a:ext>
            </a:extLst>
          </p:cNvPr>
          <p:cNvSpPr>
            <a:spLocks noGrp="1"/>
          </p:cNvSpPr>
          <p:nvPr/>
        </p:nvSpPr>
        <p:spPr>
          <a:xfrm>
            <a:off x="457200" y="552450"/>
            <a:ext cx="11049000" cy="571500"/>
          </a:xfrm>
          <a:prstGeom prst="rect">
            <a:avLst/>
          </a:prstGeom>
        </p:spPr>
        <p:txBody>
          <a:bodyPr wrap="square" lIns="0" tIns="0" rIns="0" bIns="0" anchor="t">
            <a:normAutofit/>
          </a:bodyPr>
          <a:lstStyle/>
          <a:p>
            <a:pPr algn="l">
              <a:defRPr sz="3450" b="1">
                <a:solidFill>
                  <a:srgbClr val="17232D"/>
                </a:solidFill>
                <a:latin typeface="Microsoft YaHei"/>
                <a:ea typeface="Microsoft YaHei"/>
                <a:cs typeface="Microsoft YaHei"/>
              </a:defRPr>
            </a:pPr>
            <a:r>
              <a:t>研究问题：动态决策，而不是一次性匹配</a:t>
            </a:r>
          </a:p>
        </p:txBody>
      </p:sp>
      <p:cxnSp>
        <p:nvCxnSpPr>
          <p:cNvPr id="26" name="直接箭头连接符 25"/>
          <p:cNvCxnSpPr/>
          <p:nvPr/>
        </p:nvCxnSpPr>
        <p:spPr>
          <a:xfrm>
            <a:off x="457200" y="1200150"/>
            <a:ext cx="11277600" cy="95"/>
          </a:xfrm>
          <a:prstGeom prst="straightConnector1">
            <a:avLst/>
          </a:prstGeom>
          <a:ln w="9525">
            <a:solidFill>
              <a:srgbClr val="D8DFE4"/>
            </a:solidFill>
            <a:prstDash val="solid"/>
          </a:ln>
        </p:spPr>
      </p:cxnSp>
      <p:sp>
        <p:nvSpPr>
          <p:cNvPr id="4" name="矩形 3">
            <a:extLst>
              <a:ext uri="{FF2B5EF4-FFF2-40B4-BE49-F238E27FC236}">
                <a16:creationId xmlns:a16="http://schemas.microsoft.com/office/drawing/2014/main" id="{5B238D6B-247D-4654-8069-33678143B5B2}"/>
              </a:ext>
            </a:extLst>
          </p:cNvPr>
          <p:cNvSpPr>
            <a:spLocks noGrp="1"/>
          </p:cNvSpPr>
          <p:nvPr/>
        </p:nvSpPr>
        <p:spPr>
          <a:xfrm>
            <a:off x="11239500" y="6448425"/>
            <a:ext cx="495300" cy="171450"/>
          </a:xfrm>
          <a:prstGeom prst="rect">
            <a:avLst/>
          </a:prstGeom>
        </p:spPr>
        <p:txBody>
          <a:bodyPr wrap="square" lIns="0" tIns="0" rIns="0" bIns="0" anchor="t">
            <a:normAutofit/>
          </a:bodyPr>
          <a:lstStyle/>
          <a:p>
            <a:pPr algn="r">
              <a:defRPr sz="975" b="0">
                <a:solidFill>
                  <a:srgbClr val="8A959D"/>
                </a:solidFill>
                <a:latin typeface="Microsoft YaHei"/>
                <a:ea typeface="Microsoft YaHei"/>
                <a:cs typeface="Microsoft YaHei"/>
              </a:defRPr>
            </a:pPr>
            <a:r>
              <a:t>02</a:t>
            </a:r>
          </a:p>
        </p:txBody>
      </p:sp>
      <p:sp>
        <p:nvSpPr>
          <p:cNvPr id="5" name="矩形 4">
            <a:extLst>
              <a:ext uri="{FF2B5EF4-FFF2-40B4-BE49-F238E27FC236}">
                <a16:creationId xmlns:a16="http://schemas.microsoft.com/office/drawing/2014/main" id="{B8CD089D-1E6E-4022-AAD2-46F04CEC920B}"/>
              </a:ext>
            </a:extLst>
          </p:cNvPr>
          <p:cNvSpPr>
            <a:spLocks noGrp="1"/>
          </p:cNvSpPr>
          <p:nvPr/>
        </p:nvSpPr>
        <p:spPr>
          <a:xfrm>
            <a:off x="457200" y="1504950"/>
            <a:ext cx="1524000" cy="228600"/>
          </a:xfrm>
          <a:prstGeom prst="rect">
            <a:avLst/>
          </a:prstGeom>
        </p:spPr>
        <p:txBody>
          <a:bodyPr wrap="square" lIns="0" tIns="0" rIns="0" bIns="0" anchor="t">
            <a:normAutofit/>
          </a:bodyPr>
          <a:lstStyle/>
          <a:p>
            <a:pPr algn="l">
              <a:defRPr sz="1275" b="1">
                <a:solidFill>
                  <a:srgbClr val="B84A55"/>
                </a:solidFill>
                <a:latin typeface="Microsoft YaHei"/>
                <a:ea typeface="Microsoft YaHei"/>
                <a:cs typeface="Microsoft YaHei"/>
              </a:defRPr>
            </a:pPr>
            <a:r>
              <a:t>核心问题</a:t>
            </a:r>
          </a:p>
        </p:txBody>
      </p:sp>
      <p:sp>
        <p:nvSpPr>
          <p:cNvPr id="6" name="矩形 5">
            <a:extLst>
              <a:ext uri="{FF2B5EF4-FFF2-40B4-BE49-F238E27FC236}">
                <a16:creationId xmlns:a16="http://schemas.microsoft.com/office/drawing/2014/main" id="{CB899D01-F9E2-4B48-ACC7-1B4A9CA951F5}"/>
              </a:ext>
            </a:extLst>
          </p:cNvPr>
          <p:cNvSpPr>
            <a:spLocks noGrp="1"/>
          </p:cNvSpPr>
          <p:nvPr/>
        </p:nvSpPr>
        <p:spPr>
          <a:xfrm>
            <a:off x="457200" y="1847850"/>
            <a:ext cx="6858000" cy="1581150"/>
          </a:xfrm>
          <a:prstGeom prst="rect">
            <a:avLst/>
          </a:prstGeom>
        </p:spPr>
        <p:txBody>
          <a:bodyPr wrap="square" lIns="0" tIns="0" rIns="0" bIns="0" anchor="t">
            <a:normAutofit/>
          </a:bodyPr>
          <a:lstStyle/>
          <a:p>
            <a:pPr algn="l">
              <a:defRPr sz="3150" b="1">
                <a:solidFill>
                  <a:srgbClr val="17232D"/>
                </a:solidFill>
                <a:latin typeface="Microsoft YaHei"/>
                <a:ea typeface="Microsoft YaHei"/>
                <a:cs typeface="Microsoft YaHei"/>
              </a:defRPr>
            </a:pPr>
            <a:r>
              <a:t>在有限资源与随机拦截条件下，
如何动态分配异构防御资源，
以最小化重要区域损伤？</a:t>
            </a:r>
          </a:p>
        </p:txBody>
      </p:sp>
      <p:sp>
        <p:nvSpPr>
          <p:cNvPr id="7" name="矩形 6">
            <a:extLst>
              <a:ext uri="{FF2B5EF4-FFF2-40B4-BE49-F238E27FC236}">
                <a16:creationId xmlns:a16="http://schemas.microsoft.com/office/drawing/2014/main" id="{C49AADAB-FE6B-4E4E-A543-ECB54BB5F3A6}"/>
              </a:ext>
            </a:extLst>
          </p:cNvPr>
          <p:cNvSpPr>
            <a:spLocks noGrp="1"/>
          </p:cNvSpPr>
          <p:nvPr/>
        </p:nvSpPr>
        <p:spPr>
          <a:xfrm>
            <a:off x="457200" y="3619500"/>
            <a:ext cx="10668000" cy="609600"/>
          </a:xfrm>
          <a:prstGeom prst="rect">
            <a:avLst/>
          </a:prstGeom>
        </p:spPr>
        <p:txBody>
          <a:bodyPr wrap="square" lIns="0" tIns="0" rIns="0" bIns="0" anchor="t">
            <a:normAutofit/>
          </a:bodyPr>
          <a:lstStyle/>
          <a:p>
            <a:pPr algn="l">
              <a:defRPr sz="1725" b="0">
                <a:solidFill>
                  <a:srgbClr val="5D6A74"/>
                </a:solidFill>
                <a:latin typeface="Microsoft YaHei"/>
                <a:ea typeface="Microsoft YaHei"/>
                <a:cs typeface="Microsoft YaHei"/>
              </a:defRPr>
            </a:pPr>
            <a:r>
              <a:t>强化学习的价值不在于替代所有优化方法，而在于处理当前决策对后续可行动作集合与资源状态的长期影响。</a:t>
            </a:r>
          </a:p>
        </p:txBody>
      </p:sp>
      <p:cxnSp>
        <p:nvCxnSpPr>
          <p:cNvPr id="31" name="直接箭头连接符 30"/>
          <p:cNvCxnSpPr/>
          <p:nvPr/>
        </p:nvCxnSpPr>
        <p:spPr>
          <a:xfrm>
            <a:off x="457200" y="4686300"/>
            <a:ext cx="2400300" cy="95"/>
          </a:xfrm>
          <a:prstGeom prst="straightConnector1">
            <a:avLst/>
          </a:prstGeom>
          <a:ln w="38100">
            <a:solidFill>
              <a:srgbClr val="B84A55"/>
            </a:solidFill>
            <a:prstDash val="solid"/>
          </a:ln>
        </p:spPr>
      </p:cxnSp>
      <p:sp>
        <p:nvSpPr>
          <p:cNvPr id="9" name="矩形 8">
            <a:extLst>
              <a:ext uri="{FF2B5EF4-FFF2-40B4-BE49-F238E27FC236}">
                <a16:creationId xmlns:a16="http://schemas.microsoft.com/office/drawing/2014/main" id="{4CE50598-9840-4361-84FB-30E36E043038}"/>
              </a:ext>
            </a:extLst>
          </p:cNvPr>
          <p:cNvSpPr>
            <a:spLocks noGrp="1"/>
          </p:cNvSpPr>
          <p:nvPr/>
        </p:nvSpPr>
        <p:spPr>
          <a:xfrm>
            <a:off x="457200" y="4857750"/>
            <a:ext cx="438150" cy="285750"/>
          </a:xfrm>
          <a:prstGeom prst="rect">
            <a:avLst/>
          </a:prstGeom>
        </p:spPr>
        <p:txBody>
          <a:bodyPr wrap="square" lIns="0" tIns="0" rIns="0" bIns="0" anchor="t">
            <a:normAutofit/>
          </a:bodyPr>
          <a:lstStyle/>
          <a:p>
            <a:pPr algn="l">
              <a:defRPr sz="1275" b="1">
                <a:solidFill>
                  <a:srgbClr val="8A959D"/>
                </a:solidFill>
                <a:latin typeface="Microsoft YaHei"/>
                <a:ea typeface="Microsoft YaHei"/>
                <a:cs typeface="Microsoft YaHei"/>
              </a:defRPr>
            </a:pPr>
            <a:r>
              <a:t>01</a:t>
            </a:r>
          </a:p>
        </p:txBody>
      </p:sp>
      <p:sp>
        <p:nvSpPr>
          <p:cNvPr id="10" name="矩形 9">
            <a:extLst>
              <a:ext uri="{FF2B5EF4-FFF2-40B4-BE49-F238E27FC236}">
                <a16:creationId xmlns:a16="http://schemas.microsoft.com/office/drawing/2014/main" id="{7F077AEE-6737-47AB-A347-F1133E4E8F4D}"/>
              </a:ext>
            </a:extLst>
          </p:cNvPr>
          <p:cNvSpPr>
            <a:spLocks noGrp="1"/>
          </p:cNvSpPr>
          <p:nvPr/>
        </p:nvSpPr>
        <p:spPr>
          <a:xfrm>
            <a:off x="933450" y="4819650"/>
            <a:ext cx="1809750" cy="323850"/>
          </a:xfrm>
          <a:prstGeom prst="rect">
            <a:avLst/>
          </a:prstGeom>
        </p:spPr>
        <p:txBody>
          <a:bodyPr wrap="square" lIns="0" tIns="0" rIns="0" bIns="0" anchor="t">
            <a:normAutofit/>
          </a:bodyPr>
          <a:lstStyle/>
          <a:p>
            <a:pPr algn="l">
              <a:defRPr sz="1800" b="1">
                <a:solidFill>
                  <a:srgbClr val="17232D"/>
                </a:solidFill>
                <a:latin typeface="Microsoft YaHei"/>
                <a:ea typeface="Microsoft YaHei"/>
                <a:cs typeface="Microsoft YaHei"/>
              </a:defRPr>
            </a:pPr>
            <a:r>
              <a:t>持续来袭</a:t>
            </a:r>
          </a:p>
        </p:txBody>
      </p:sp>
      <p:sp>
        <p:nvSpPr>
          <p:cNvPr id="11" name="矩形 10">
            <a:extLst>
              <a:ext uri="{FF2B5EF4-FFF2-40B4-BE49-F238E27FC236}">
                <a16:creationId xmlns:a16="http://schemas.microsoft.com/office/drawing/2014/main" id="{F258900E-C92B-442F-BDA3-A6415A35833A}"/>
              </a:ext>
            </a:extLst>
          </p:cNvPr>
          <p:cNvSpPr>
            <a:spLocks noGrp="1"/>
          </p:cNvSpPr>
          <p:nvPr/>
        </p:nvSpPr>
        <p:spPr>
          <a:xfrm>
            <a:off x="457200" y="5295900"/>
            <a:ext cx="2400300" cy="666750"/>
          </a:xfrm>
          <a:prstGeom prst="rect">
            <a:avLst/>
          </a:prstGeom>
        </p:spPr>
        <p:txBody>
          <a:bodyPr wrap="square" lIns="0" tIns="0" rIns="0" bIns="0" anchor="t">
            <a:normAutofit/>
          </a:bodyPr>
          <a:lstStyle/>
          <a:p>
            <a:pPr algn="l">
              <a:defRPr sz="1350" b="0">
                <a:solidFill>
                  <a:srgbClr val="5D6A74"/>
                </a:solidFill>
                <a:latin typeface="Microsoft YaHei"/>
                <a:ea typeface="Microsoft YaHei"/>
                <a:cs typeface="Microsoft YaHei"/>
              </a:defRPr>
            </a:pPr>
            <a:r>
              <a:t>目标分批到达，决策具有时序依赖</a:t>
            </a:r>
          </a:p>
        </p:txBody>
      </p:sp>
      <p:cxnSp>
        <p:nvCxnSpPr>
          <p:cNvPr id="35" name="直接箭头连接符 34"/>
          <p:cNvCxnSpPr/>
          <p:nvPr/>
        </p:nvCxnSpPr>
        <p:spPr>
          <a:xfrm>
            <a:off x="3276600" y="4686300"/>
            <a:ext cx="2400300" cy="95"/>
          </a:xfrm>
          <a:prstGeom prst="straightConnector1">
            <a:avLst/>
          </a:prstGeom>
          <a:ln w="19050">
            <a:solidFill>
              <a:srgbClr val="D8DFE4"/>
            </a:solidFill>
            <a:prstDash val="solid"/>
          </a:ln>
        </p:spPr>
      </p:cxnSp>
      <p:sp>
        <p:nvSpPr>
          <p:cNvPr id="13" name="矩形 12">
            <a:extLst>
              <a:ext uri="{FF2B5EF4-FFF2-40B4-BE49-F238E27FC236}">
                <a16:creationId xmlns:a16="http://schemas.microsoft.com/office/drawing/2014/main" id="{9566D195-FF6F-473D-A141-5AE8FFF72E75}"/>
              </a:ext>
            </a:extLst>
          </p:cNvPr>
          <p:cNvSpPr>
            <a:spLocks noGrp="1"/>
          </p:cNvSpPr>
          <p:nvPr/>
        </p:nvSpPr>
        <p:spPr>
          <a:xfrm>
            <a:off x="3276600" y="4857750"/>
            <a:ext cx="438150" cy="285750"/>
          </a:xfrm>
          <a:prstGeom prst="rect">
            <a:avLst/>
          </a:prstGeom>
        </p:spPr>
        <p:txBody>
          <a:bodyPr wrap="square" lIns="0" tIns="0" rIns="0" bIns="0" anchor="t">
            <a:normAutofit/>
          </a:bodyPr>
          <a:lstStyle/>
          <a:p>
            <a:pPr algn="l">
              <a:defRPr sz="1275" b="1">
                <a:solidFill>
                  <a:srgbClr val="8A959D"/>
                </a:solidFill>
                <a:latin typeface="Microsoft YaHei"/>
                <a:ea typeface="Microsoft YaHei"/>
                <a:cs typeface="Microsoft YaHei"/>
              </a:defRPr>
            </a:pPr>
            <a:r>
              <a:t>02</a:t>
            </a:r>
          </a:p>
        </p:txBody>
      </p:sp>
      <p:sp>
        <p:nvSpPr>
          <p:cNvPr id="14" name="矩形 13">
            <a:extLst>
              <a:ext uri="{FF2B5EF4-FFF2-40B4-BE49-F238E27FC236}">
                <a16:creationId xmlns:a16="http://schemas.microsoft.com/office/drawing/2014/main" id="{0CEDDE0B-5460-4413-A3FE-45B5C18030E7}"/>
              </a:ext>
            </a:extLst>
          </p:cNvPr>
          <p:cNvSpPr>
            <a:spLocks noGrp="1"/>
          </p:cNvSpPr>
          <p:nvPr/>
        </p:nvSpPr>
        <p:spPr>
          <a:xfrm>
            <a:off x="3752850" y="4819650"/>
            <a:ext cx="1809750" cy="323850"/>
          </a:xfrm>
          <a:prstGeom prst="rect">
            <a:avLst/>
          </a:prstGeom>
        </p:spPr>
        <p:txBody>
          <a:bodyPr wrap="square" lIns="0" tIns="0" rIns="0" bIns="0" anchor="t">
            <a:normAutofit/>
          </a:bodyPr>
          <a:lstStyle/>
          <a:p>
            <a:pPr algn="l">
              <a:defRPr sz="1800" b="1">
                <a:solidFill>
                  <a:srgbClr val="17232D"/>
                </a:solidFill>
                <a:latin typeface="Microsoft YaHei"/>
                <a:ea typeface="Microsoft YaHei"/>
                <a:cs typeface="Microsoft YaHei"/>
              </a:defRPr>
            </a:pPr>
            <a:r>
              <a:t>异构资源</a:t>
            </a:r>
          </a:p>
        </p:txBody>
      </p:sp>
      <p:sp>
        <p:nvSpPr>
          <p:cNvPr id="15" name="矩形 14">
            <a:extLst>
              <a:ext uri="{FF2B5EF4-FFF2-40B4-BE49-F238E27FC236}">
                <a16:creationId xmlns:a16="http://schemas.microsoft.com/office/drawing/2014/main" id="{5D3BA633-C6FD-485D-B829-E1F7A878A0D1}"/>
              </a:ext>
            </a:extLst>
          </p:cNvPr>
          <p:cNvSpPr>
            <a:spLocks noGrp="1"/>
          </p:cNvSpPr>
          <p:nvPr/>
        </p:nvSpPr>
        <p:spPr>
          <a:xfrm>
            <a:off x="3276600" y="5295900"/>
            <a:ext cx="2400300" cy="666750"/>
          </a:xfrm>
          <a:prstGeom prst="rect">
            <a:avLst/>
          </a:prstGeom>
        </p:spPr>
        <p:txBody>
          <a:bodyPr wrap="square" lIns="0" tIns="0" rIns="0" bIns="0" anchor="t">
            <a:normAutofit/>
          </a:bodyPr>
          <a:lstStyle/>
          <a:p>
            <a:pPr algn="l">
              <a:defRPr sz="1350" b="0">
                <a:solidFill>
                  <a:srgbClr val="5D6A74"/>
                </a:solidFill>
                <a:latin typeface="Microsoft YaHei"/>
                <a:ea typeface="Microsoft YaHei"/>
                <a:cs typeface="Microsoft YaHei"/>
              </a:defRPr>
            </a:pPr>
            <a:r>
              <a:t>射程、命中率、弹药与成本不同</a:t>
            </a:r>
          </a:p>
        </p:txBody>
      </p:sp>
      <p:cxnSp>
        <p:nvCxnSpPr>
          <p:cNvPr id="39" name="直接箭头连接符 38"/>
          <p:cNvCxnSpPr/>
          <p:nvPr/>
        </p:nvCxnSpPr>
        <p:spPr>
          <a:xfrm>
            <a:off x="6096000" y="4686300"/>
            <a:ext cx="2400300" cy="95"/>
          </a:xfrm>
          <a:prstGeom prst="straightConnector1">
            <a:avLst/>
          </a:prstGeom>
          <a:ln w="19050">
            <a:solidFill>
              <a:srgbClr val="D8DFE4"/>
            </a:solidFill>
            <a:prstDash val="solid"/>
          </a:ln>
        </p:spPr>
      </p:cxnSp>
      <p:sp>
        <p:nvSpPr>
          <p:cNvPr id="17" name="矩形 16">
            <a:extLst>
              <a:ext uri="{FF2B5EF4-FFF2-40B4-BE49-F238E27FC236}">
                <a16:creationId xmlns:a16="http://schemas.microsoft.com/office/drawing/2014/main" id="{11006EE8-6FED-4B1F-90FA-C1CF87EC7016}"/>
              </a:ext>
            </a:extLst>
          </p:cNvPr>
          <p:cNvSpPr>
            <a:spLocks noGrp="1"/>
          </p:cNvSpPr>
          <p:nvPr/>
        </p:nvSpPr>
        <p:spPr>
          <a:xfrm>
            <a:off x="6096000" y="4857750"/>
            <a:ext cx="438150" cy="285750"/>
          </a:xfrm>
          <a:prstGeom prst="rect">
            <a:avLst/>
          </a:prstGeom>
        </p:spPr>
        <p:txBody>
          <a:bodyPr wrap="square" lIns="0" tIns="0" rIns="0" bIns="0" anchor="t">
            <a:normAutofit/>
          </a:bodyPr>
          <a:lstStyle/>
          <a:p>
            <a:pPr algn="l">
              <a:defRPr sz="1275" b="1">
                <a:solidFill>
                  <a:srgbClr val="8A959D"/>
                </a:solidFill>
                <a:latin typeface="Microsoft YaHei"/>
                <a:ea typeface="Microsoft YaHei"/>
                <a:cs typeface="Microsoft YaHei"/>
              </a:defRPr>
            </a:pPr>
            <a:r>
              <a:t>03</a:t>
            </a:r>
          </a:p>
        </p:txBody>
      </p:sp>
      <p:sp>
        <p:nvSpPr>
          <p:cNvPr id="18" name="矩形 17">
            <a:extLst>
              <a:ext uri="{FF2B5EF4-FFF2-40B4-BE49-F238E27FC236}">
                <a16:creationId xmlns:a16="http://schemas.microsoft.com/office/drawing/2014/main" id="{367DC2F9-D236-4C5C-B017-0A462EEF0795}"/>
              </a:ext>
            </a:extLst>
          </p:cNvPr>
          <p:cNvSpPr>
            <a:spLocks noGrp="1"/>
          </p:cNvSpPr>
          <p:nvPr/>
        </p:nvSpPr>
        <p:spPr>
          <a:xfrm>
            <a:off x="6572250" y="4819650"/>
            <a:ext cx="1809750" cy="323850"/>
          </a:xfrm>
          <a:prstGeom prst="rect">
            <a:avLst/>
          </a:prstGeom>
        </p:spPr>
        <p:txBody>
          <a:bodyPr wrap="square" lIns="0" tIns="0" rIns="0" bIns="0" anchor="t">
            <a:normAutofit/>
          </a:bodyPr>
          <a:lstStyle/>
          <a:p>
            <a:pPr algn="l">
              <a:defRPr sz="1800" b="1">
                <a:solidFill>
                  <a:srgbClr val="17232D"/>
                </a:solidFill>
                <a:latin typeface="Microsoft YaHei"/>
                <a:ea typeface="Microsoft YaHei"/>
                <a:cs typeface="Microsoft YaHei"/>
              </a:defRPr>
            </a:pPr>
            <a:r>
              <a:t>随机结果</a:t>
            </a:r>
          </a:p>
        </p:txBody>
      </p:sp>
      <p:sp>
        <p:nvSpPr>
          <p:cNvPr id="19" name="矩形 18">
            <a:extLst>
              <a:ext uri="{FF2B5EF4-FFF2-40B4-BE49-F238E27FC236}">
                <a16:creationId xmlns:a16="http://schemas.microsoft.com/office/drawing/2014/main" id="{8B773990-2706-4327-B711-001FD491DB71}"/>
              </a:ext>
            </a:extLst>
          </p:cNvPr>
          <p:cNvSpPr>
            <a:spLocks noGrp="1"/>
          </p:cNvSpPr>
          <p:nvPr/>
        </p:nvSpPr>
        <p:spPr>
          <a:xfrm>
            <a:off x="6096000" y="5295900"/>
            <a:ext cx="2400300" cy="666750"/>
          </a:xfrm>
          <a:prstGeom prst="rect">
            <a:avLst/>
          </a:prstGeom>
        </p:spPr>
        <p:txBody>
          <a:bodyPr wrap="square" lIns="0" tIns="0" rIns="0" bIns="0" anchor="t">
            <a:normAutofit/>
          </a:bodyPr>
          <a:lstStyle/>
          <a:p>
            <a:pPr algn="l">
              <a:defRPr sz="1350" b="0">
                <a:solidFill>
                  <a:srgbClr val="5D6A74"/>
                </a:solidFill>
                <a:latin typeface="Microsoft YaHei"/>
                <a:ea typeface="Microsoft YaHei"/>
                <a:cs typeface="Microsoft YaHei"/>
              </a:defRPr>
            </a:pPr>
            <a:r>
              <a:rPr dirty="0" err="1"/>
              <a:t>拦截成功与目标规避存在不确定性</a:t>
            </a:r>
            <a:endParaRPr dirty="0"/>
          </a:p>
        </p:txBody>
      </p:sp>
      <p:cxnSp>
        <p:nvCxnSpPr>
          <p:cNvPr id="43" name="直接箭头连接符 42"/>
          <p:cNvCxnSpPr/>
          <p:nvPr/>
        </p:nvCxnSpPr>
        <p:spPr>
          <a:xfrm>
            <a:off x="8915400" y="4686300"/>
            <a:ext cx="2400300" cy="95"/>
          </a:xfrm>
          <a:prstGeom prst="straightConnector1">
            <a:avLst/>
          </a:prstGeom>
          <a:ln w="19050">
            <a:solidFill>
              <a:srgbClr val="D8DFE4"/>
            </a:solidFill>
            <a:prstDash val="solid"/>
          </a:ln>
        </p:spPr>
      </p:cxnSp>
      <p:sp>
        <p:nvSpPr>
          <p:cNvPr id="21" name="矩形 20">
            <a:extLst>
              <a:ext uri="{FF2B5EF4-FFF2-40B4-BE49-F238E27FC236}">
                <a16:creationId xmlns:a16="http://schemas.microsoft.com/office/drawing/2014/main" id="{54985D0B-134F-46B0-B177-8A7EBDA04E63}"/>
              </a:ext>
            </a:extLst>
          </p:cNvPr>
          <p:cNvSpPr>
            <a:spLocks noGrp="1"/>
          </p:cNvSpPr>
          <p:nvPr/>
        </p:nvSpPr>
        <p:spPr>
          <a:xfrm>
            <a:off x="8915400" y="4857750"/>
            <a:ext cx="438150" cy="285750"/>
          </a:xfrm>
          <a:prstGeom prst="rect">
            <a:avLst/>
          </a:prstGeom>
        </p:spPr>
        <p:txBody>
          <a:bodyPr wrap="square" lIns="0" tIns="0" rIns="0" bIns="0" anchor="t">
            <a:normAutofit/>
          </a:bodyPr>
          <a:lstStyle/>
          <a:p>
            <a:pPr algn="l">
              <a:defRPr sz="1275" b="1">
                <a:solidFill>
                  <a:srgbClr val="8A959D"/>
                </a:solidFill>
                <a:latin typeface="Microsoft YaHei"/>
                <a:ea typeface="Microsoft YaHei"/>
                <a:cs typeface="Microsoft YaHei"/>
              </a:defRPr>
            </a:pPr>
            <a:r>
              <a:t>04</a:t>
            </a:r>
          </a:p>
        </p:txBody>
      </p:sp>
      <p:sp>
        <p:nvSpPr>
          <p:cNvPr id="22" name="矩形 21">
            <a:extLst>
              <a:ext uri="{FF2B5EF4-FFF2-40B4-BE49-F238E27FC236}">
                <a16:creationId xmlns:a16="http://schemas.microsoft.com/office/drawing/2014/main" id="{4CA2D8FD-30F2-4410-AE1B-9D5AF136541D}"/>
              </a:ext>
            </a:extLst>
          </p:cNvPr>
          <p:cNvSpPr>
            <a:spLocks noGrp="1"/>
          </p:cNvSpPr>
          <p:nvPr/>
        </p:nvSpPr>
        <p:spPr>
          <a:xfrm>
            <a:off x="9391650" y="4819650"/>
            <a:ext cx="1809750" cy="323850"/>
          </a:xfrm>
          <a:prstGeom prst="rect">
            <a:avLst/>
          </a:prstGeom>
        </p:spPr>
        <p:txBody>
          <a:bodyPr wrap="square" lIns="0" tIns="0" rIns="0" bIns="0" anchor="t">
            <a:normAutofit/>
          </a:bodyPr>
          <a:lstStyle/>
          <a:p>
            <a:pPr algn="l">
              <a:defRPr sz="1800" b="1">
                <a:solidFill>
                  <a:srgbClr val="17232D"/>
                </a:solidFill>
                <a:latin typeface="Microsoft YaHei"/>
                <a:ea typeface="Microsoft YaHei"/>
                <a:cs typeface="Microsoft YaHei"/>
              </a:defRPr>
            </a:pPr>
            <a:r>
              <a:t>跨时消耗</a:t>
            </a:r>
          </a:p>
        </p:txBody>
      </p:sp>
      <p:sp>
        <p:nvSpPr>
          <p:cNvPr id="23" name="矩形 22">
            <a:extLst>
              <a:ext uri="{FF2B5EF4-FFF2-40B4-BE49-F238E27FC236}">
                <a16:creationId xmlns:a16="http://schemas.microsoft.com/office/drawing/2014/main" id="{ACB62873-1416-4F70-BD2E-BCD129301CF3}"/>
              </a:ext>
            </a:extLst>
          </p:cNvPr>
          <p:cNvSpPr>
            <a:spLocks noGrp="1"/>
          </p:cNvSpPr>
          <p:nvPr/>
        </p:nvSpPr>
        <p:spPr>
          <a:xfrm>
            <a:off x="8915400" y="5295900"/>
            <a:ext cx="2400300" cy="666750"/>
          </a:xfrm>
          <a:prstGeom prst="rect">
            <a:avLst/>
          </a:prstGeom>
        </p:spPr>
        <p:txBody>
          <a:bodyPr wrap="square" lIns="0" tIns="0" rIns="0" bIns="0" anchor="t">
            <a:normAutofit/>
          </a:bodyPr>
          <a:lstStyle/>
          <a:p>
            <a:pPr algn="l">
              <a:defRPr sz="1350" b="0">
                <a:solidFill>
                  <a:srgbClr val="5D6A74"/>
                </a:solidFill>
                <a:latin typeface="Microsoft YaHei"/>
                <a:ea typeface="Microsoft YaHei"/>
                <a:cs typeface="Microsoft YaHei"/>
              </a:defRPr>
            </a:pPr>
            <a:r>
              <a:t>当前分配直接影响后续防御能力</a:t>
            </a:r>
          </a:p>
        </p:txBody>
      </p:sp>
    </p:spTree>
    <p:extLst>
      <p:ext uri="{BB962C8B-B14F-4D97-AF65-F5344CB8AC3E}">
        <p14:creationId xmlns:p14="http://schemas.microsoft.com/office/powerpoint/2010/main" val="1048025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20B6970-167A-49A7-9D85-106879EE6FDC}"/>
              </a:ext>
            </a:extLst>
          </p:cNvPr>
          <p:cNvSpPr>
            <a:spLocks noGrp="1"/>
          </p:cNvSpPr>
          <p:nvPr/>
        </p:nvSpPr>
        <p:spPr>
          <a:xfrm>
            <a:off x="457200" y="285750"/>
            <a:ext cx="3143250" cy="209550"/>
          </a:xfrm>
          <a:prstGeom prst="rect">
            <a:avLst/>
          </a:prstGeom>
        </p:spPr>
        <p:txBody>
          <a:bodyPr wrap="square" lIns="0" tIns="0" rIns="0" bIns="0" anchor="t">
            <a:normAutofit/>
          </a:bodyPr>
          <a:lstStyle/>
          <a:p>
            <a:pPr algn="l">
              <a:defRPr sz="1125" b="1">
                <a:solidFill>
                  <a:srgbClr val="1E5AA8"/>
                </a:solidFill>
                <a:latin typeface="Microsoft YaHei"/>
                <a:ea typeface="Microsoft YaHei"/>
                <a:cs typeface="Microsoft YaHei"/>
              </a:defRPr>
            </a:pPr>
            <a:r>
              <a:t>MODELING</a:t>
            </a:r>
          </a:p>
        </p:txBody>
      </p:sp>
      <p:sp>
        <p:nvSpPr>
          <p:cNvPr id="2" name="矩形 1">
            <a:extLst>
              <a:ext uri="{FF2B5EF4-FFF2-40B4-BE49-F238E27FC236}">
                <a16:creationId xmlns:a16="http://schemas.microsoft.com/office/drawing/2014/main" id="{F66BC9EB-8E71-4620-A593-1CE13902014D}"/>
              </a:ext>
            </a:extLst>
          </p:cNvPr>
          <p:cNvSpPr>
            <a:spLocks noGrp="1"/>
          </p:cNvSpPr>
          <p:nvPr/>
        </p:nvSpPr>
        <p:spPr>
          <a:xfrm>
            <a:off x="457200" y="552450"/>
            <a:ext cx="11049000" cy="571500"/>
          </a:xfrm>
          <a:prstGeom prst="rect">
            <a:avLst/>
          </a:prstGeom>
        </p:spPr>
        <p:txBody>
          <a:bodyPr wrap="square" lIns="0" tIns="0" rIns="0" bIns="0" anchor="t">
            <a:normAutofit/>
          </a:bodyPr>
          <a:lstStyle/>
          <a:p>
            <a:pPr algn="l">
              <a:defRPr sz="3450" b="1">
                <a:solidFill>
                  <a:srgbClr val="17232D"/>
                </a:solidFill>
                <a:latin typeface="Microsoft YaHei"/>
                <a:ea typeface="Microsoft YaHei"/>
                <a:cs typeface="Microsoft YaHei"/>
              </a:defRPr>
            </a:pPr>
            <a:r>
              <a:t>问题建模与研究边界</a:t>
            </a:r>
          </a:p>
        </p:txBody>
      </p:sp>
      <p:cxnSp>
        <p:nvCxnSpPr>
          <p:cNvPr id="25" name="直接箭头连接符 24"/>
          <p:cNvCxnSpPr/>
          <p:nvPr/>
        </p:nvCxnSpPr>
        <p:spPr>
          <a:xfrm>
            <a:off x="457200" y="1200150"/>
            <a:ext cx="11277600" cy="95"/>
          </a:xfrm>
          <a:prstGeom prst="straightConnector1">
            <a:avLst/>
          </a:prstGeom>
          <a:ln w="9525">
            <a:solidFill>
              <a:srgbClr val="D8DFE4"/>
            </a:solidFill>
            <a:prstDash val="solid"/>
          </a:ln>
        </p:spPr>
      </p:cxnSp>
      <p:sp>
        <p:nvSpPr>
          <p:cNvPr id="4" name="矩形 3">
            <a:extLst>
              <a:ext uri="{FF2B5EF4-FFF2-40B4-BE49-F238E27FC236}">
                <a16:creationId xmlns:a16="http://schemas.microsoft.com/office/drawing/2014/main" id="{25A07185-6EFB-411F-B08B-47DBA2C0F176}"/>
              </a:ext>
            </a:extLst>
          </p:cNvPr>
          <p:cNvSpPr>
            <a:spLocks noGrp="1"/>
          </p:cNvSpPr>
          <p:nvPr/>
        </p:nvSpPr>
        <p:spPr>
          <a:xfrm>
            <a:off x="11239500" y="6448425"/>
            <a:ext cx="495300" cy="171450"/>
          </a:xfrm>
          <a:prstGeom prst="rect">
            <a:avLst/>
          </a:prstGeom>
        </p:spPr>
        <p:txBody>
          <a:bodyPr wrap="square" lIns="0" tIns="0" rIns="0" bIns="0" anchor="t">
            <a:normAutofit/>
          </a:bodyPr>
          <a:lstStyle/>
          <a:p>
            <a:pPr algn="r">
              <a:defRPr sz="975" b="0">
                <a:solidFill>
                  <a:srgbClr val="8A959D"/>
                </a:solidFill>
                <a:latin typeface="Microsoft YaHei"/>
                <a:ea typeface="Microsoft YaHei"/>
                <a:cs typeface="Microsoft YaHei"/>
              </a:defRPr>
            </a:pPr>
            <a:r>
              <a:t>03</a:t>
            </a:r>
          </a:p>
        </p:txBody>
      </p:sp>
      <p:sp>
        <p:nvSpPr>
          <p:cNvPr id="5" name="矩形: 圆角 4">
            <a:extLst>
              <a:ext uri="{FF2B5EF4-FFF2-40B4-BE49-F238E27FC236}">
                <a16:creationId xmlns:a16="http://schemas.microsoft.com/office/drawing/2014/main" id="{042CD863-2A7E-48DE-81FB-B4A7FE70BAF4}"/>
              </a:ext>
            </a:extLst>
          </p:cNvPr>
          <p:cNvSpPr>
            <a:spLocks noGrp="1"/>
          </p:cNvSpPr>
          <p:nvPr/>
        </p:nvSpPr>
        <p:spPr>
          <a:xfrm>
            <a:off x="457200" y="1562100"/>
            <a:ext cx="3524250" cy="4019550"/>
          </a:xfrm>
          <a:prstGeom prst="roundRect">
            <a:avLst>
              <a:gd name="adj" fmla="val 2162"/>
            </a:avLst>
          </a:prstGeom>
          <a:solidFill>
            <a:srgbClr val="DFEAF6"/>
          </a:solidFill>
          <a:ln w="9525">
            <a:solidFill>
              <a:srgbClr val="DFEAF6"/>
            </a:solidFill>
            <a:prstDash val="solid"/>
          </a:ln>
        </p:spPr>
      </p:sp>
      <p:sp>
        <p:nvSpPr>
          <p:cNvPr id="6" name="矩形 5">
            <a:extLst>
              <a:ext uri="{FF2B5EF4-FFF2-40B4-BE49-F238E27FC236}">
                <a16:creationId xmlns:a16="http://schemas.microsoft.com/office/drawing/2014/main" id="{7655C99E-27EC-42D2-BDB5-FB11E977FD61}"/>
              </a:ext>
            </a:extLst>
          </p:cNvPr>
          <p:cNvSpPr>
            <a:spLocks noGrp="1"/>
          </p:cNvSpPr>
          <p:nvPr/>
        </p:nvSpPr>
        <p:spPr>
          <a:xfrm>
            <a:off x="723900" y="2000250"/>
            <a:ext cx="2952750" cy="1809750"/>
          </a:xfrm>
          <a:prstGeom prst="rect">
            <a:avLst/>
          </a:prstGeom>
        </p:spPr>
        <p:txBody>
          <a:bodyPr wrap="square" lIns="0" tIns="0" rIns="0" bIns="0" anchor="t">
            <a:normAutofit/>
          </a:bodyPr>
          <a:lstStyle/>
          <a:p>
            <a:pPr algn="l">
              <a:defRPr sz="3450" b="1">
                <a:solidFill>
                  <a:srgbClr val="1E5AA8"/>
                </a:solidFill>
                <a:latin typeface="Microsoft YaHei"/>
                <a:ea typeface="Microsoft YaHei"/>
                <a:cs typeface="Microsoft YaHei"/>
              </a:defRPr>
            </a:pPr>
            <a:r>
              <a:t>集中式
完全可观测
决策级 MDP</a:t>
            </a:r>
          </a:p>
        </p:txBody>
      </p:sp>
      <p:sp>
        <p:nvSpPr>
          <p:cNvPr id="7" name="矩形 6">
            <a:extLst>
              <a:ext uri="{FF2B5EF4-FFF2-40B4-BE49-F238E27FC236}">
                <a16:creationId xmlns:a16="http://schemas.microsoft.com/office/drawing/2014/main" id="{F99DC378-CDC8-4C6F-A8D1-352EF0C75B7B}"/>
              </a:ext>
            </a:extLst>
          </p:cNvPr>
          <p:cNvSpPr>
            <a:spLocks noGrp="1"/>
          </p:cNvSpPr>
          <p:nvPr/>
        </p:nvSpPr>
        <p:spPr>
          <a:xfrm>
            <a:off x="723900" y="4248150"/>
            <a:ext cx="2952750" cy="857250"/>
          </a:xfrm>
          <a:prstGeom prst="rect">
            <a:avLst/>
          </a:prstGeom>
        </p:spPr>
        <p:txBody>
          <a:bodyPr wrap="square" lIns="0" tIns="0" rIns="0" bIns="0" anchor="t">
            <a:normAutofit/>
          </a:bodyPr>
          <a:lstStyle/>
          <a:p>
            <a:pPr algn="l">
              <a:defRPr sz="1500" b="0">
                <a:solidFill>
                  <a:srgbClr val="5D6A74"/>
                </a:solidFill>
                <a:latin typeface="Microsoft YaHei"/>
                <a:ea typeface="Microsoft YaHei"/>
                <a:cs typeface="Microsoft YaHei"/>
              </a:defRPr>
            </a:pPr>
            <a:r>
              <a:t>研究动态资源分配机制，
不追求雷达、电磁或弹道的高保真仿真。</a:t>
            </a:r>
          </a:p>
        </p:txBody>
      </p:sp>
      <p:sp>
        <p:nvSpPr>
          <p:cNvPr id="8" name="矩形 7">
            <a:extLst>
              <a:ext uri="{FF2B5EF4-FFF2-40B4-BE49-F238E27FC236}">
                <a16:creationId xmlns:a16="http://schemas.microsoft.com/office/drawing/2014/main" id="{3C27197F-2413-49F8-8C29-883F3F36ACE5}"/>
              </a:ext>
            </a:extLst>
          </p:cNvPr>
          <p:cNvSpPr>
            <a:spLocks noGrp="1"/>
          </p:cNvSpPr>
          <p:nvPr/>
        </p:nvSpPr>
        <p:spPr>
          <a:xfrm>
            <a:off x="4495800" y="1600200"/>
            <a:ext cx="1219200" cy="304800"/>
          </a:xfrm>
          <a:prstGeom prst="rect">
            <a:avLst/>
          </a:prstGeom>
        </p:spPr>
        <p:txBody>
          <a:bodyPr wrap="square" lIns="0" tIns="0" rIns="0" bIns="0" anchor="t">
            <a:normAutofit/>
          </a:bodyPr>
          <a:lstStyle/>
          <a:p>
            <a:pPr algn="l">
              <a:defRPr sz="1500" b="1">
                <a:solidFill>
                  <a:srgbClr val="1E5AA8"/>
                </a:solidFill>
                <a:latin typeface="Microsoft YaHei"/>
                <a:ea typeface="Microsoft YaHei"/>
                <a:cs typeface="Microsoft YaHei"/>
              </a:defRPr>
            </a:pPr>
            <a:r>
              <a:t>Agent</a:t>
            </a:r>
          </a:p>
        </p:txBody>
      </p:sp>
      <p:sp>
        <p:nvSpPr>
          <p:cNvPr id="9" name="矩形 8">
            <a:extLst>
              <a:ext uri="{FF2B5EF4-FFF2-40B4-BE49-F238E27FC236}">
                <a16:creationId xmlns:a16="http://schemas.microsoft.com/office/drawing/2014/main" id="{3FCAAA29-A5E3-42E0-BA00-379E41DEA055}"/>
              </a:ext>
            </a:extLst>
          </p:cNvPr>
          <p:cNvSpPr>
            <a:spLocks noGrp="1"/>
          </p:cNvSpPr>
          <p:nvPr/>
        </p:nvSpPr>
        <p:spPr>
          <a:xfrm>
            <a:off x="5810250" y="1562100"/>
            <a:ext cx="5524500" cy="438150"/>
          </a:xfrm>
          <a:prstGeom prst="rect">
            <a:avLst/>
          </a:prstGeom>
        </p:spPr>
        <p:txBody>
          <a:bodyPr wrap="square" lIns="0" tIns="0" rIns="0" bIns="0" anchor="t">
            <a:normAutofit/>
          </a:bodyPr>
          <a:lstStyle/>
          <a:p>
            <a:pPr algn="l">
              <a:defRPr sz="1725" b="0">
                <a:solidFill>
                  <a:srgbClr val="17232D"/>
                </a:solidFill>
                <a:latin typeface="Microsoft YaHei"/>
                <a:ea typeface="Microsoft YaHei"/>
                <a:cs typeface="Microsoft YaHei"/>
              </a:defRPr>
            </a:pPr>
            <a:r>
              <a:t>防空编组的集中式指挥决策器</a:t>
            </a:r>
          </a:p>
        </p:txBody>
      </p:sp>
      <p:cxnSp>
        <p:nvCxnSpPr>
          <p:cNvPr id="32" name="直接箭头连接符 31"/>
          <p:cNvCxnSpPr/>
          <p:nvPr/>
        </p:nvCxnSpPr>
        <p:spPr>
          <a:xfrm>
            <a:off x="4495800" y="2133600"/>
            <a:ext cx="6838950" cy="95"/>
          </a:xfrm>
          <a:prstGeom prst="straightConnector1">
            <a:avLst/>
          </a:prstGeom>
          <a:ln w="9525">
            <a:solidFill>
              <a:srgbClr val="D8DFE4"/>
            </a:solidFill>
            <a:prstDash val="solid"/>
          </a:ln>
        </p:spPr>
      </p:cxnSp>
      <p:sp>
        <p:nvSpPr>
          <p:cNvPr id="11" name="矩形 10">
            <a:extLst>
              <a:ext uri="{FF2B5EF4-FFF2-40B4-BE49-F238E27FC236}">
                <a16:creationId xmlns:a16="http://schemas.microsoft.com/office/drawing/2014/main" id="{B95D534D-4689-408C-8B51-24A689690D53}"/>
              </a:ext>
            </a:extLst>
          </p:cNvPr>
          <p:cNvSpPr>
            <a:spLocks noGrp="1"/>
          </p:cNvSpPr>
          <p:nvPr/>
        </p:nvSpPr>
        <p:spPr>
          <a:xfrm>
            <a:off x="4495800" y="2400300"/>
            <a:ext cx="1219200" cy="304800"/>
          </a:xfrm>
          <a:prstGeom prst="rect">
            <a:avLst/>
          </a:prstGeom>
        </p:spPr>
        <p:txBody>
          <a:bodyPr wrap="square" lIns="0" tIns="0" rIns="0" bIns="0" anchor="t">
            <a:normAutofit/>
          </a:bodyPr>
          <a:lstStyle/>
          <a:p>
            <a:pPr algn="l">
              <a:defRPr sz="1500" b="1">
                <a:solidFill>
                  <a:srgbClr val="1E5AA8"/>
                </a:solidFill>
                <a:latin typeface="Microsoft YaHei"/>
                <a:ea typeface="Microsoft YaHei"/>
                <a:cs typeface="Microsoft YaHei"/>
              </a:defRPr>
            </a:pPr>
            <a:r>
              <a:t>State</a:t>
            </a:r>
          </a:p>
        </p:txBody>
      </p:sp>
      <p:sp>
        <p:nvSpPr>
          <p:cNvPr id="12" name="矩形 11">
            <a:extLst>
              <a:ext uri="{FF2B5EF4-FFF2-40B4-BE49-F238E27FC236}">
                <a16:creationId xmlns:a16="http://schemas.microsoft.com/office/drawing/2014/main" id="{E0481CA4-16B2-48E0-87BE-1E16C7FC2BBB}"/>
              </a:ext>
            </a:extLst>
          </p:cNvPr>
          <p:cNvSpPr>
            <a:spLocks noGrp="1"/>
          </p:cNvSpPr>
          <p:nvPr/>
        </p:nvSpPr>
        <p:spPr>
          <a:xfrm>
            <a:off x="5810250" y="2362200"/>
            <a:ext cx="5524500" cy="438150"/>
          </a:xfrm>
          <a:prstGeom prst="rect">
            <a:avLst/>
          </a:prstGeom>
        </p:spPr>
        <p:txBody>
          <a:bodyPr wrap="square" lIns="0" tIns="0" rIns="0" bIns="0" anchor="t">
            <a:normAutofit/>
          </a:bodyPr>
          <a:lstStyle/>
          <a:p>
            <a:pPr algn="l">
              <a:defRPr sz="1725" b="0">
                <a:solidFill>
                  <a:srgbClr val="17232D"/>
                </a:solidFill>
                <a:latin typeface="Microsoft YaHei"/>
                <a:ea typeface="Microsoft YaHei"/>
                <a:cs typeface="Microsoft YaHei"/>
              </a:defRPr>
            </a:pPr>
            <a:r>
              <a:t>保护区、目标威胁与到达时间、防御单元资源状态</a:t>
            </a:r>
          </a:p>
        </p:txBody>
      </p:sp>
      <p:cxnSp>
        <p:nvCxnSpPr>
          <p:cNvPr id="35" name="直接箭头连接符 34"/>
          <p:cNvCxnSpPr/>
          <p:nvPr/>
        </p:nvCxnSpPr>
        <p:spPr>
          <a:xfrm>
            <a:off x="4495800" y="2933700"/>
            <a:ext cx="6838950" cy="95"/>
          </a:xfrm>
          <a:prstGeom prst="straightConnector1">
            <a:avLst/>
          </a:prstGeom>
          <a:ln w="9525">
            <a:solidFill>
              <a:srgbClr val="D8DFE4"/>
            </a:solidFill>
            <a:prstDash val="solid"/>
          </a:ln>
        </p:spPr>
      </p:cxnSp>
      <p:sp>
        <p:nvSpPr>
          <p:cNvPr id="14" name="矩形 13">
            <a:extLst>
              <a:ext uri="{FF2B5EF4-FFF2-40B4-BE49-F238E27FC236}">
                <a16:creationId xmlns:a16="http://schemas.microsoft.com/office/drawing/2014/main" id="{B102419E-351C-41BA-8F44-8EE7772C2E53}"/>
              </a:ext>
            </a:extLst>
          </p:cNvPr>
          <p:cNvSpPr>
            <a:spLocks noGrp="1"/>
          </p:cNvSpPr>
          <p:nvPr/>
        </p:nvSpPr>
        <p:spPr>
          <a:xfrm>
            <a:off x="4495800" y="3200400"/>
            <a:ext cx="1219200" cy="304800"/>
          </a:xfrm>
          <a:prstGeom prst="rect">
            <a:avLst/>
          </a:prstGeom>
        </p:spPr>
        <p:txBody>
          <a:bodyPr wrap="square" lIns="0" tIns="0" rIns="0" bIns="0" anchor="t">
            <a:normAutofit/>
          </a:bodyPr>
          <a:lstStyle/>
          <a:p>
            <a:pPr algn="l">
              <a:defRPr sz="1500" b="1">
                <a:solidFill>
                  <a:srgbClr val="1E5AA8"/>
                </a:solidFill>
                <a:latin typeface="Microsoft YaHei"/>
                <a:ea typeface="Microsoft YaHei"/>
                <a:cs typeface="Microsoft YaHei"/>
              </a:defRPr>
            </a:pPr>
            <a:r>
              <a:t>Action</a:t>
            </a:r>
          </a:p>
        </p:txBody>
      </p:sp>
      <p:sp>
        <p:nvSpPr>
          <p:cNvPr id="15" name="矩形 14">
            <a:extLst>
              <a:ext uri="{FF2B5EF4-FFF2-40B4-BE49-F238E27FC236}">
                <a16:creationId xmlns:a16="http://schemas.microsoft.com/office/drawing/2014/main" id="{C71239B0-6576-46DC-93C4-99E1B7744198}"/>
              </a:ext>
            </a:extLst>
          </p:cNvPr>
          <p:cNvSpPr>
            <a:spLocks noGrp="1"/>
          </p:cNvSpPr>
          <p:nvPr/>
        </p:nvSpPr>
        <p:spPr>
          <a:xfrm>
            <a:off x="5810250" y="3162300"/>
            <a:ext cx="5524500" cy="438150"/>
          </a:xfrm>
          <a:prstGeom prst="rect">
            <a:avLst/>
          </a:prstGeom>
        </p:spPr>
        <p:txBody>
          <a:bodyPr wrap="square" lIns="0" tIns="0" rIns="0" bIns="0" anchor="t">
            <a:normAutofit/>
          </a:bodyPr>
          <a:lstStyle/>
          <a:p>
            <a:pPr algn="l">
              <a:defRPr sz="1725" b="0">
                <a:solidFill>
                  <a:srgbClr val="17232D"/>
                </a:solidFill>
                <a:latin typeface="Microsoft YaHei"/>
                <a:ea typeface="Microsoft YaHei"/>
                <a:cs typeface="Microsoft YaHei"/>
              </a:defRPr>
            </a:pPr>
            <a:r>
              <a:t>为每个防御单元联合选择目标或不行动</a:t>
            </a:r>
          </a:p>
        </p:txBody>
      </p:sp>
      <p:cxnSp>
        <p:nvCxnSpPr>
          <p:cNvPr id="38" name="直接箭头连接符 37"/>
          <p:cNvCxnSpPr/>
          <p:nvPr/>
        </p:nvCxnSpPr>
        <p:spPr>
          <a:xfrm>
            <a:off x="4495800" y="3733800"/>
            <a:ext cx="6838950" cy="95"/>
          </a:xfrm>
          <a:prstGeom prst="straightConnector1">
            <a:avLst/>
          </a:prstGeom>
          <a:ln w="9525">
            <a:solidFill>
              <a:srgbClr val="D8DFE4"/>
            </a:solidFill>
            <a:prstDash val="solid"/>
          </a:ln>
        </p:spPr>
      </p:cxnSp>
      <p:sp>
        <p:nvSpPr>
          <p:cNvPr id="17" name="矩形 16">
            <a:extLst>
              <a:ext uri="{FF2B5EF4-FFF2-40B4-BE49-F238E27FC236}">
                <a16:creationId xmlns:a16="http://schemas.microsoft.com/office/drawing/2014/main" id="{65A177A5-AAC7-427C-BF34-B0D176AC7C8F}"/>
              </a:ext>
            </a:extLst>
          </p:cNvPr>
          <p:cNvSpPr>
            <a:spLocks noGrp="1"/>
          </p:cNvSpPr>
          <p:nvPr/>
        </p:nvSpPr>
        <p:spPr>
          <a:xfrm>
            <a:off x="4495800" y="4000500"/>
            <a:ext cx="1219200" cy="304800"/>
          </a:xfrm>
          <a:prstGeom prst="rect">
            <a:avLst/>
          </a:prstGeom>
        </p:spPr>
        <p:txBody>
          <a:bodyPr wrap="square" lIns="0" tIns="0" rIns="0" bIns="0" anchor="t">
            <a:normAutofit/>
          </a:bodyPr>
          <a:lstStyle/>
          <a:p>
            <a:pPr algn="l">
              <a:defRPr sz="1500" b="1">
                <a:solidFill>
                  <a:srgbClr val="1E5AA8"/>
                </a:solidFill>
                <a:latin typeface="Microsoft YaHei"/>
                <a:ea typeface="Microsoft YaHei"/>
                <a:cs typeface="Microsoft YaHei"/>
              </a:defRPr>
            </a:pPr>
            <a:r>
              <a:t>Reward</a:t>
            </a:r>
          </a:p>
        </p:txBody>
      </p:sp>
      <p:sp>
        <p:nvSpPr>
          <p:cNvPr id="18" name="矩形 17">
            <a:extLst>
              <a:ext uri="{FF2B5EF4-FFF2-40B4-BE49-F238E27FC236}">
                <a16:creationId xmlns:a16="http://schemas.microsoft.com/office/drawing/2014/main" id="{5CC3FB66-C2BD-498E-A44F-340BE2B36E22}"/>
              </a:ext>
            </a:extLst>
          </p:cNvPr>
          <p:cNvSpPr>
            <a:spLocks noGrp="1"/>
          </p:cNvSpPr>
          <p:nvPr/>
        </p:nvSpPr>
        <p:spPr>
          <a:xfrm>
            <a:off x="5810250" y="3962400"/>
            <a:ext cx="5524500" cy="438150"/>
          </a:xfrm>
          <a:prstGeom prst="rect">
            <a:avLst/>
          </a:prstGeom>
        </p:spPr>
        <p:txBody>
          <a:bodyPr wrap="square" lIns="0" tIns="0" rIns="0" bIns="0" anchor="t">
            <a:normAutofit/>
          </a:bodyPr>
          <a:lstStyle/>
          <a:p>
            <a:pPr algn="l">
              <a:defRPr sz="1725" b="0">
                <a:solidFill>
                  <a:srgbClr val="17232D"/>
                </a:solidFill>
                <a:latin typeface="Microsoft YaHei"/>
                <a:ea typeface="Microsoft YaHei"/>
                <a:cs typeface="Microsoft YaHei"/>
              </a:defRPr>
            </a:pPr>
            <a:r>
              <a:t>拦截收益 − 区域损伤 − 资源消耗 − 冲突/非法动作</a:t>
            </a:r>
          </a:p>
        </p:txBody>
      </p:sp>
      <p:cxnSp>
        <p:nvCxnSpPr>
          <p:cNvPr id="41" name="直接箭头连接符 40"/>
          <p:cNvCxnSpPr/>
          <p:nvPr/>
        </p:nvCxnSpPr>
        <p:spPr>
          <a:xfrm>
            <a:off x="4495800" y="4533900"/>
            <a:ext cx="6838950" cy="95"/>
          </a:xfrm>
          <a:prstGeom prst="straightConnector1">
            <a:avLst/>
          </a:prstGeom>
          <a:ln w="9525">
            <a:solidFill>
              <a:srgbClr val="D8DFE4"/>
            </a:solidFill>
            <a:prstDash val="solid"/>
          </a:ln>
        </p:spPr>
      </p:cxnSp>
      <p:sp>
        <p:nvSpPr>
          <p:cNvPr id="20" name="矩形 19">
            <a:extLst>
              <a:ext uri="{FF2B5EF4-FFF2-40B4-BE49-F238E27FC236}">
                <a16:creationId xmlns:a16="http://schemas.microsoft.com/office/drawing/2014/main" id="{3DFBF7A9-A496-4646-8278-4352EACF3C55}"/>
              </a:ext>
            </a:extLst>
          </p:cNvPr>
          <p:cNvSpPr>
            <a:spLocks noGrp="1"/>
          </p:cNvSpPr>
          <p:nvPr/>
        </p:nvSpPr>
        <p:spPr>
          <a:xfrm>
            <a:off x="4495800" y="4800600"/>
            <a:ext cx="1219200" cy="304800"/>
          </a:xfrm>
          <a:prstGeom prst="rect">
            <a:avLst/>
          </a:prstGeom>
        </p:spPr>
        <p:txBody>
          <a:bodyPr wrap="square" lIns="0" tIns="0" rIns="0" bIns="0" anchor="t">
            <a:normAutofit/>
          </a:bodyPr>
          <a:lstStyle/>
          <a:p>
            <a:pPr algn="l">
              <a:defRPr sz="1500" b="1">
                <a:solidFill>
                  <a:srgbClr val="B84A55"/>
                </a:solidFill>
                <a:latin typeface="Microsoft YaHei"/>
                <a:ea typeface="Microsoft YaHei"/>
                <a:cs typeface="Microsoft YaHei"/>
              </a:defRPr>
            </a:pPr>
            <a:r>
              <a:t>Objective</a:t>
            </a:r>
          </a:p>
        </p:txBody>
      </p:sp>
      <p:sp>
        <p:nvSpPr>
          <p:cNvPr id="21" name="矩形 20">
            <a:extLst>
              <a:ext uri="{FF2B5EF4-FFF2-40B4-BE49-F238E27FC236}">
                <a16:creationId xmlns:a16="http://schemas.microsoft.com/office/drawing/2014/main" id="{87A23A2A-DB93-4C99-B22F-3AA44F099F7C}"/>
              </a:ext>
            </a:extLst>
          </p:cNvPr>
          <p:cNvSpPr>
            <a:spLocks noGrp="1"/>
          </p:cNvSpPr>
          <p:nvPr/>
        </p:nvSpPr>
        <p:spPr>
          <a:xfrm>
            <a:off x="5810250" y="4762500"/>
            <a:ext cx="5524500" cy="438150"/>
          </a:xfrm>
          <a:prstGeom prst="rect">
            <a:avLst/>
          </a:prstGeom>
        </p:spPr>
        <p:txBody>
          <a:bodyPr wrap="square" lIns="0" tIns="0" rIns="0" bIns="0" anchor="t">
            <a:normAutofit/>
          </a:bodyPr>
          <a:lstStyle/>
          <a:p>
            <a:pPr algn="l">
              <a:defRPr sz="1725" b="0">
                <a:solidFill>
                  <a:srgbClr val="17232D"/>
                </a:solidFill>
                <a:latin typeface="Microsoft YaHei"/>
                <a:ea typeface="Microsoft YaHei"/>
                <a:cs typeface="Microsoft YaHei"/>
              </a:defRPr>
            </a:pPr>
            <a:r>
              <a:t>有限资源下最小化重要区域累计损伤</a:t>
            </a:r>
          </a:p>
        </p:txBody>
      </p:sp>
      <p:sp>
        <p:nvSpPr>
          <p:cNvPr id="22" name="矩形 21">
            <a:extLst>
              <a:ext uri="{FF2B5EF4-FFF2-40B4-BE49-F238E27FC236}">
                <a16:creationId xmlns:a16="http://schemas.microsoft.com/office/drawing/2014/main" id="{4D07C30C-1F9B-48B6-B885-E085A50E516D}"/>
              </a:ext>
            </a:extLst>
          </p:cNvPr>
          <p:cNvSpPr>
            <a:spLocks noGrp="1"/>
          </p:cNvSpPr>
          <p:nvPr/>
        </p:nvSpPr>
        <p:spPr>
          <a:xfrm>
            <a:off x="457200" y="5962650"/>
            <a:ext cx="10858500" cy="323850"/>
          </a:xfrm>
          <a:prstGeom prst="rect">
            <a:avLst/>
          </a:prstGeom>
        </p:spPr>
        <p:txBody>
          <a:bodyPr wrap="square" lIns="0" tIns="0" rIns="0" bIns="0" anchor="t">
            <a:normAutofit/>
          </a:bodyPr>
          <a:lstStyle/>
          <a:p>
            <a:pPr algn="l">
              <a:defRPr sz="1275" b="0">
                <a:solidFill>
                  <a:srgbClr val="8A959D"/>
                </a:solidFill>
                <a:latin typeface="Microsoft YaHei"/>
                <a:ea typeface="Microsoft YaHei"/>
                <a:cs typeface="Microsoft YaHei"/>
              </a:defRPr>
            </a:pPr>
            <a:r>
              <a:t>当前未纳入：通信延迟、局部观测、干扰/软杀伤、高保真三维弹道、攻防双方同时学习</a:t>
            </a:r>
          </a:p>
        </p:txBody>
      </p:sp>
    </p:spTree>
    <p:extLst>
      <p:ext uri="{BB962C8B-B14F-4D97-AF65-F5344CB8AC3E}">
        <p14:creationId xmlns:p14="http://schemas.microsoft.com/office/powerpoint/2010/main" val="1961934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07A41C7-7302-47DD-9E60-5DA1B8FD0EE9}"/>
              </a:ext>
            </a:extLst>
          </p:cNvPr>
          <p:cNvSpPr>
            <a:spLocks noGrp="1"/>
          </p:cNvSpPr>
          <p:nvPr/>
        </p:nvSpPr>
        <p:spPr>
          <a:xfrm>
            <a:off x="457200" y="285750"/>
            <a:ext cx="3143250" cy="209550"/>
          </a:xfrm>
          <a:prstGeom prst="rect">
            <a:avLst/>
          </a:prstGeom>
        </p:spPr>
        <p:txBody>
          <a:bodyPr wrap="square" lIns="0" tIns="0" rIns="0" bIns="0" anchor="t">
            <a:normAutofit/>
          </a:bodyPr>
          <a:lstStyle/>
          <a:p>
            <a:pPr algn="l">
              <a:defRPr sz="1125" b="1">
                <a:solidFill>
                  <a:srgbClr val="1E5AA8"/>
                </a:solidFill>
                <a:latin typeface="Microsoft YaHei"/>
                <a:ea typeface="Microsoft YaHei"/>
                <a:cs typeface="Microsoft YaHei"/>
              </a:defRPr>
            </a:pPr>
            <a:r>
              <a:t>ENVIRONMENT</a:t>
            </a:r>
          </a:p>
        </p:txBody>
      </p:sp>
      <p:sp>
        <p:nvSpPr>
          <p:cNvPr id="2" name="矩形 1">
            <a:extLst>
              <a:ext uri="{FF2B5EF4-FFF2-40B4-BE49-F238E27FC236}">
                <a16:creationId xmlns:a16="http://schemas.microsoft.com/office/drawing/2014/main" id="{17A22D2E-D6AD-4C3E-ABA3-7C8B423EB56B}"/>
              </a:ext>
            </a:extLst>
          </p:cNvPr>
          <p:cNvSpPr>
            <a:spLocks noGrp="1"/>
          </p:cNvSpPr>
          <p:nvPr/>
        </p:nvSpPr>
        <p:spPr>
          <a:xfrm>
            <a:off x="457200" y="552450"/>
            <a:ext cx="11049000" cy="571500"/>
          </a:xfrm>
          <a:prstGeom prst="rect">
            <a:avLst/>
          </a:prstGeom>
        </p:spPr>
        <p:txBody>
          <a:bodyPr wrap="square" lIns="0" tIns="0" rIns="0" bIns="0" anchor="t">
            <a:normAutofit/>
          </a:bodyPr>
          <a:lstStyle/>
          <a:p>
            <a:pPr algn="l">
              <a:defRPr sz="3450" b="1">
                <a:solidFill>
                  <a:srgbClr val="17232D"/>
                </a:solidFill>
                <a:latin typeface="Microsoft YaHei"/>
                <a:ea typeface="Microsoft YaHei"/>
                <a:cs typeface="Microsoft YaHei"/>
              </a:defRPr>
            </a:pPr>
            <a:r>
              <a:t>AirDefenseResourceAssignmentEnv v1.0</a:t>
            </a:r>
          </a:p>
        </p:txBody>
      </p:sp>
      <p:cxnSp>
        <p:nvCxnSpPr>
          <p:cNvPr id="21" name="直接箭头连接符 20"/>
          <p:cNvCxnSpPr/>
          <p:nvPr/>
        </p:nvCxnSpPr>
        <p:spPr>
          <a:xfrm>
            <a:off x="457200" y="1200150"/>
            <a:ext cx="11277600" cy="95"/>
          </a:xfrm>
          <a:prstGeom prst="straightConnector1">
            <a:avLst/>
          </a:prstGeom>
          <a:ln w="9525">
            <a:solidFill>
              <a:srgbClr val="D8DFE4"/>
            </a:solidFill>
            <a:prstDash val="solid"/>
          </a:ln>
        </p:spPr>
      </p:cxnSp>
      <p:sp>
        <p:nvSpPr>
          <p:cNvPr id="4" name="矩形 3">
            <a:extLst>
              <a:ext uri="{FF2B5EF4-FFF2-40B4-BE49-F238E27FC236}">
                <a16:creationId xmlns:a16="http://schemas.microsoft.com/office/drawing/2014/main" id="{4E5B465A-B8FC-4142-932D-3D4CE6771A5C}"/>
              </a:ext>
            </a:extLst>
          </p:cNvPr>
          <p:cNvSpPr>
            <a:spLocks noGrp="1"/>
          </p:cNvSpPr>
          <p:nvPr/>
        </p:nvSpPr>
        <p:spPr>
          <a:xfrm>
            <a:off x="11239500" y="6448425"/>
            <a:ext cx="495300" cy="171450"/>
          </a:xfrm>
          <a:prstGeom prst="rect">
            <a:avLst/>
          </a:prstGeom>
        </p:spPr>
        <p:txBody>
          <a:bodyPr wrap="square" lIns="0" tIns="0" rIns="0" bIns="0" anchor="t">
            <a:normAutofit/>
          </a:bodyPr>
          <a:lstStyle/>
          <a:p>
            <a:pPr algn="r">
              <a:defRPr sz="975" b="0">
                <a:solidFill>
                  <a:srgbClr val="8A959D"/>
                </a:solidFill>
                <a:latin typeface="Microsoft YaHei"/>
                <a:ea typeface="Microsoft YaHei"/>
                <a:cs typeface="Microsoft YaHei"/>
              </a:defRPr>
            </a:pPr>
            <a:r>
              <a:t>04</a:t>
            </a:r>
          </a:p>
        </p:txBody>
      </p:sp>
      <p:sp>
        <p:nvSpPr>
          <p:cNvPr id="5" name="矩形 4">
            <a:extLst>
              <a:ext uri="{FF2B5EF4-FFF2-40B4-BE49-F238E27FC236}">
                <a16:creationId xmlns:a16="http://schemas.microsoft.com/office/drawing/2014/main" id="{960F38F7-874A-4F88-A1D5-7360F0DD31A4}"/>
              </a:ext>
            </a:extLst>
          </p:cNvPr>
          <p:cNvSpPr>
            <a:spLocks noGrp="1"/>
          </p:cNvSpPr>
          <p:nvPr/>
        </p:nvSpPr>
        <p:spPr>
          <a:xfrm>
            <a:off x="457200" y="1524000"/>
            <a:ext cx="3143250" cy="323850"/>
          </a:xfrm>
          <a:prstGeom prst="rect">
            <a:avLst/>
          </a:prstGeom>
        </p:spPr>
        <p:txBody>
          <a:bodyPr wrap="square" lIns="0" tIns="0" rIns="0" bIns="0" anchor="t">
            <a:normAutofit/>
          </a:bodyPr>
          <a:lstStyle/>
          <a:p>
            <a:pPr algn="l">
              <a:defRPr sz="2025" b="1">
                <a:solidFill>
                  <a:srgbClr val="1E5AA8"/>
                </a:solidFill>
                <a:latin typeface="Microsoft YaHei"/>
                <a:ea typeface="Microsoft YaHei"/>
                <a:cs typeface="Microsoft YaHei"/>
              </a:defRPr>
            </a:pPr>
            <a:r>
              <a:t>v1.0 默认场景</a:t>
            </a:r>
          </a:p>
        </p:txBody>
      </p:sp>
      <p:sp>
        <p:nvSpPr>
          <p:cNvPr id="6" name="矩形 5">
            <a:extLst>
              <a:ext uri="{FF2B5EF4-FFF2-40B4-BE49-F238E27FC236}">
                <a16:creationId xmlns:a16="http://schemas.microsoft.com/office/drawing/2014/main" id="{043618C5-B8C0-49DE-9AB0-A856AD384582}"/>
              </a:ext>
            </a:extLst>
          </p:cNvPr>
          <p:cNvSpPr>
            <a:spLocks noGrp="1"/>
          </p:cNvSpPr>
          <p:nvPr/>
        </p:nvSpPr>
        <p:spPr>
          <a:xfrm>
            <a:off x="457200" y="2019300"/>
            <a:ext cx="666750" cy="495300"/>
          </a:xfrm>
          <a:prstGeom prst="rect">
            <a:avLst/>
          </a:prstGeom>
        </p:spPr>
        <p:txBody>
          <a:bodyPr wrap="square" lIns="0" tIns="0" rIns="0" bIns="0" anchor="t">
            <a:normAutofit/>
          </a:bodyPr>
          <a:lstStyle/>
          <a:p>
            <a:pPr algn="l">
              <a:defRPr sz="3150" b="1">
                <a:solidFill>
                  <a:srgbClr val="17232D"/>
                </a:solidFill>
                <a:latin typeface="Microsoft YaHei"/>
                <a:ea typeface="Microsoft YaHei"/>
                <a:cs typeface="Microsoft YaHei"/>
              </a:defRPr>
            </a:pPr>
            <a:r>
              <a:t>2</a:t>
            </a:r>
          </a:p>
        </p:txBody>
      </p:sp>
      <p:sp>
        <p:nvSpPr>
          <p:cNvPr id="7" name="矩形 6">
            <a:extLst>
              <a:ext uri="{FF2B5EF4-FFF2-40B4-BE49-F238E27FC236}">
                <a16:creationId xmlns:a16="http://schemas.microsoft.com/office/drawing/2014/main" id="{5A020539-9DBB-4786-9BB2-7C610F1B50BB}"/>
              </a:ext>
            </a:extLst>
          </p:cNvPr>
          <p:cNvSpPr>
            <a:spLocks noGrp="1"/>
          </p:cNvSpPr>
          <p:nvPr/>
        </p:nvSpPr>
        <p:spPr>
          <a:xfrm>
            <a:off x="1066800" y="2133600"/>
            <a:ext cx="1428750" cy="285750"/>
          </a:xfrm>
          <a:prstGeom prst="rect">
            <a:avLst/>
          </a:prstGeom>
        </p:spPr>
        <p:txBody>
          <a:bodyPr wrap="square" lIns="0" tIns="0" rIns="0" bIns="0" anchor="t">
            <a:normAutofit/>
          </a:bodyPr>
          <a:lstStyle/>
          <a:p>
            <a:pPr algn="l">
              <a:defRPr sz="1500" b="0">
                <a:solidFill>
                  <a:srgbClr val="5D6A74"/>
                </a:solidFill>
                <a:latin typeface="Microsoft YaHei"/>
                <a:ea typeface="Microsoft YaHei"/>
                <a:cs typeface="Microsoft YaHei"/>
              </a:defRPr>
            </a:pPr>
            <a:r>
              <a:t>保护区域</a:t>
            </a:r>
          </a:p>
        </p:txBody>
      </p:sp>
      <p:sp>
        <p:nvSpPr>
          <p:cNvPr id="8" name="矩形 7">
            <a:extLst>
              <a:ext uri="{FF2B5EF4-FFF2-40B4-BE49-F238E27FC236}">
                <a16:creationId xmlns:a16="http://schemas.microsoft.com/office/drawing/2014/main" id="{039CD43F-B218-4C86-9022-1F0D1F3A5C2D}"/>
              </a:ext>
            </a:extLst>
          </p:cNvPr>
          <p:cNvSpPr>
            <a:spLocks noGrp="1"/>
          </p:cNvSpPr>
          <p:nvPr/>
        </p:nvSpPr>
        <p:spPr>
          <a:xfrm>
            <a:off x="457200" y="2705100"/>
            <a:ext cx="666750" cy="495300"/>
          </a:xfrm>
          <a:prstGeom prst="rect">
            <a:avLst/>
          </a:prstGeom>
        </p:spPr>
        <p:txBody>
          <a:bodyPr wrap="square" lIns="0" tIns="0" rIns="0" bIns="0" anchor="t">
            <a:normAutofit/>
          </a:bodyPr>
          <a:lstStyle/>
          <a:p>
            <a:pPr algn="l">
              <a:defRPr sz="3150" b="1">
                <a:solidFill>
                  <a:srgbClr val="17232D"/>
                </a:solidFill>
                <a:latin typeface="Microsoft YaHei"/>
                <a:ea typeface="Microsoft YaHei"/>
                <a:cs typeface="Microsoft YaHei"/>
              </a:defRPr>
            </a:pPr>
            <a:r>
              <a:t>3</a:t>
            </a:r>
          </a:p>
        </p:txBody>
      </p:sp>
      <p:sp>
        <p:nvSpPr>
          <p:cNvPr id="9" name="矩形 8">
            <a:extLst>
              <a:ext uri="{FF2B5EF4-FFF2-40B4-BE49-F238E27FC236}">
                <a16:creationId xmlns:a16="http://schemas.microsoft.com/office/drawing/2014/main" id="{C9FC01B2-3419-4014-BE57-5B6514648B1A}"/>
              </a:ext>
            </a:extLst>
          </p:cNvPr>
          <p:cNvSpPr>
            <a:spLocks noGrp="1"/>
          </p:cNvSpPr>
          <p:nvPr/>
        </p:nvSpPr>
        <p:spPr>
          <a:xfrm>
            <a:off x="1066800" y="2819400"/>
            <a:ext cx="1714500" cy="285750"/>
          </a:xfrm>
          <a:prstGeom prst="rect">
            <a:avLst/>
          </a:prstGeom>
        </p:spPr>
        <p:txBody>
          <a:bodyPr wrap="square" lIns="0" tIns="0" rIns="0" bIns="0" anchor="t">
            <a:normAutofit/>
          </a:bodyPr>
          <a:lstStyle/>
          <a:p>
            <a:pPr algn="l">
              <a:defRPr sz="1500" b="0">
                <a:solidFill>
                  <a:srgbClr val="5D6A74"/>
                </a:solidFill>
                <a:latin typeface="Microsoft YaHei"/>
                <a:ea typeface="Microsoft YaHei"/>
                <a:cs typeface="Microsoft YaHei"/>
              </a:defRPr>
            </a:pPr>
            <a:r>
              <a:t>异构防御单元</a:t>
            </a:r>
          </a:p>
        </p:txBody>
      </p:sp>
      <p:sp>
        <p:nvSpPr>
          <p:cNvPr id="10" name="矩形 9">
            <a:extLst>
              <a:ext uri="{FF2B5EF4-FFF2-40B4-BE49-F238E27FC236}">
                <a16:creationId xmlns:a16="http://schemas.microsoft.com/office/drawing/2014/main" id="{E87F897C-A50D-41BE-B430-111C3C2C3C6A}"/>
              </a:ext>
            </a:extLst>
          </p:cNvPr>
          <p:cNvSpPr>
            <a:spLocks noGrp="1"/>
          </p:cNvSpPr>
          <p:nvPr/>
        </p:nvSpPr>
        <p:spPr>
          <a:xfrm>
            <a:off x="457200" y="3390900"/>
            <a:ext cx="666750" cy="495300"/>
          </a:xfrm>
          <a:prstGeom prst="rect">
            <a:avLst/>
          </a:prstGeom>
        </p:spPr>
        <p:txBody>
          <a:bodyPr wrap="square" lIns="0" tIns="0" rIns="0" bIns="0" anchor="t">
            <a:normAutofit/>
          </a:bodyPr>
          <a:lstStyle/>
          <a:p>
            <a:pPr algn="l">
              <a:defRPr sz="3150" b="1">
                <a:solidFill>
                  <a:srgbClr val="17232D"/>
                </a:solidFill>
                <a:latin typeface="Microsoft YaHei"/>
                <a:ea typeface="Microsoft YaHei"/>
                <a:cs typeface="Microsoft YaHei"/>
              </a:defRPr>
            </a:pPr>
            <a:r>
              <a:t>5</a:t>
            </a:r>
          </a:p>
        </p:txBody>
      </p:sp>
      <p:sp>
        <p:nvSpPr>
          <p:cNvPr id="11" name="矩形 10">
            <a:extLst>
              <a:ext uri="{FF2B5EF4-FFF2-40B4-BE49-F238E27FC236}">
                <a16:creationId xmlns:a16="http://schemas.microsoft.com/office/drawing/2014/main" id="{82435D25-B322-45D9-A2B1-B7D23F025014}"/>
              </a:ext>
            </a:extLst>
          </p:cNvPr>
          <p:cNvSpPr>
            <a:spLocks noGrp="1"/>
          </p:cNvSpPr>
          <p:nvPr/>
        </p:nvSpPr>
        <p:spPr>
          <a:xfrm>
            <a:off x="1066800" y="3505200"/>
            <a:ext cx="2190750" cy="285750"/>
          </a:xfrm>
          <a:prstGeom prst="rect">
            <a:avLst/>
          </a:prstGeom>
        </p:spPr>
        <p:txBody>
          <a:bodyPr wrap="square" lIns="0" tIns="0" rIns="0" bIns="0" anchor="t">
            <a:normAutofit/>
          </a:bodyPr>
          <a:lstStyle/>
          <a:p>
            <a:pPr algn="l">
              <a:defRPr sz="1500" b="0">
                <a:solidFill>
                  <a:srgbClr val="5D6A74"/>
                </a:solidFill>
                <a:latin typeface="Microsoft YaHei"/>
                <a:ea typeface="Microsoft YaHei"/>
                <a:cs typeface="Microsoft YaHei"/>
              </a:defRPr>
            </a:pPr>
            <a:r>
              <a:t>随机来袭目标 / 回合</a:t>
            </a:r>
          </a:p>
        </p:txBody>
      </p:sp>
      <p:cxnSp>
        <p:nvCxnSpPr>
          <p:cNvPr id="30" name="直接箭头连接符 29"/>
          <p:cNvCxnSpPr/>
          <p:nvPr/>
        </p:nvCxnSpPr>
        <p:spPr>
          <a:xfrm>
            <a:off x="457200" y="4152900"/>
            <a:ext cx="2857500" cy="95"/>
          </a:xfrm>
          <a:prstGeom prst="straightConnector1">
            <a:avLst/>
          </a:prstGeom>
          <a:ln w="9525">
            <a:solidFill>
              <a:srgbClr val="D8DFE4"/>
            </a:solidFill>
            <a:prstDash val="solid"/>
          </a:ln>
        </p:spPr>
      </p:cxnSp>
      <p:sp>
        <p:nvSpPr>
          <p:cNvPr id="13" name="矩形 12">
            <a:extLst>
              <a:ext uri="{FF2B5EF4-FFF2-40B4-BE49-F238E27FC236}">
                <a16:creationId xmlns:a16="http://schemas.microsoft.com/office/drawing/2014/main" id="{0D289796-7AB6-461D-967C-80D2E45E957B}"/>
              </a:ext>
            </a:extLst>
          </p:cNvPr>
          <p:cNvSpPr>
            <a:spLocks noGrp="1"/>
          </p:cNvSpPr>
          <p:nvPr/>
        </p:nvSpPr>
        <p:spPr>
          <a:xfrm>
            <a:off x="457200" y="4362450"/>
            <a:ext cx="1143000" cy="266700"/>
          </a:xfrm>
          <a:prstGeom prst="rect">
            <a:avLst/>
          </a:prstGeom>
        </p:spPr>
        <p:txBody>
          <a:bodyPr wrap="square" lIns="0" tIns="0" rIns="0" bIns="0" anchor="t">
            <a:normAutofit/>
          </a:bodyPr>
          <a:lstStyle/>
          <a:p>
            <a:pPr algn="l">
              <a:defRPr sz="1350" b="1">
                <a:solidFill>
                  <a:srgbClr val="B84A55"/>
                </a:solidFill>
                <a:latin typeface="Microsoft YaHei"/>
                <a:ea typeface="Microsoft YaHei"/>
                <a:cs typeface="Microsoft YaHei"/>
              </a:defRPr>
            </a:pPr>
            <a:r>
              <a:t>目标属性</a:t>
            </a:r>
          </a:p>
        </p:txBody>
      </p:sp>
      <p:sp>
        <p:nvSpPr>
          <p:cNvPr id="14" name="矩形 13">
            <a:extLst>
              <a:ext uri="{FF2B5EF4-FFF2-40B4-BE49-F238E27FC236}">
                <a16:creationId xmlns:a16="http://schemas.microsoft.com/office/drawing/2014/main" id="{4DED37CA-879A-4260-A4F9-8B2B89FBED0E}"/>
              </a:ext>
            </a:extLst>
          </p:cNvPr>
          <p:cNvSpPr>
            <a:spLocks noGrp="1"/>
          </p:cNvSpPr>
          <p:nvPr/>
        </p:nvSpPr>
        <p:spPr>
          <a:xfrm>
            <a:off x="457200" y="4667250"/>
            <a:ext cx="3143250" cy="533400"/>
          </a:xfrm>
          <a:prstGeom prst="rect">
            <a:avLst/>
          </a:prstGeom>
        </p:spPr>
        <p:txBody>
          <a:bodyPr wrap="square" lIns="0" tIns="0" rIns="0" bIns="0" anchor="t">
            <a:normAutofit/>
          </a:bodyPr>
          <a:lstStyle/>
          <a:p>
            <a:pPr algn="l">
              <a:defRPr sz="1425" b="0">
                <a:solidFill>
                  <a:srgbClr val="17232D"/>
                </a:solidFill>
                <a:latin typeface="Microsoft YaHei"/>
                <a:ea typeface="Microsoft YaHei"/>
                <a:cs typeface="Microsoft YaHei"/>
              </a:defRPr>
            </a:pPr>
            <a:r>
              <a:t>威胁、载荷、攻击区域、到达时间、规避能力</a:t>
            </a:r>
          </a:p>
        </p:txBody>
      </p:sp>
      <p:sp>
        <p:nvSpPr>
          <p:cNvPr id="15" name="矩形 14">
            <a:extLst>
              <a:ext uri="{FF2B5EF4-FFF2-40B4-BE49-F238E27FC236}">
                <a16:creationId xmlns:a16="http://schemas.microsoft.com/office/drawing/2014/main" id="{7334B6F3-97D0-44B8-B7F5-97BCA76B467D}"/>
              </a:ext>
            </a:extLst>
          </p:cNvPr>
          <p:cNvSpPr>
            <a:spLocks noGrp="1"/>
          </p:cNvSpPr>
          <p:nvPr/>
        </p:nvSpPr>
        <p:spPr>
          <a:xfrm>
            <a:off x="457200" y="5314950"/>
            <a:ext cx="1143000" cy="266700"/>
          </a:xfrm>
          <a:prstGeom prst="rect">
            <a:avLst/>
          </a:prstGeom>
        </p:spPr>
        <p:txBody>
          <a:bodyPr wrap="square" lIns="0" tIns="0" rIns="0" bIns="0" anchor="t">
            <a:normAutofit/>
          </a:bodyPr>
          <a:lstStyle/>
          <a:p>
            <a:pPr algn="l">
              <a:defRPr sz="1350" b="1">
                <a:solidFill>
                  <a:srgbClr val="1E5AA8"/>
                </a:solidFill>
                <a:latin typeface="Microsoft YaHei"/>
                <a:ea typeface="Microsoft YaHei"/>
                <a:cs typeface="Microsoft YaHei"/>
              </a:defRPr>
            </a:pPr>
            <a:r>
              <a:t>资源属性</a:t>
            </a:r>
          </a:p>
        </p:txBody>
      </p:sp>
      <p:sp>
        <p:nvSpPr>
          <p:cNvPr id="16" name="矩形 15">
            <a:extLst>
              <a:ext uri="{FF2B5EF4-FFF2-40B4-BE49-F238E27FC236}">
                <a16:creationId xmlns:a16="http://schemas.microsoft.com/office/drawing/2014/main" id="{5362E1B2-408E-4894-A1D3-282AD078E283}"/>
              </a:ext>
            </a:extLst>
          </p:cNvPr>
          <p:cNvSpPr>
            <a:spLocks noGrp="1"/>
          </p:cNvSpPr>
          <p:nvPr/>
        </p:nvSpPr>
        <p:spPr>
          <a:xfrm>
            <a:off x="457200" y="5619750"/>
            <a:ext cx="3143250" cy="533400"/>
          </a:xfrm>
          <a:prstGeom prst="rect">
            <a:avLst/>
          </a:prstGeom>
        </p:spPr>
        <p:txBody>
          <a:bodyPr wrap="square" lIns="0" tIns="0" rIns="0" bIns="0" anchor="t">
            <a:normAutofit/>
          </a:bodyPr>
          <a:lstStyle/>
          <a:p>
            <a:pPr algn="l">
              <a:defRPr sz="1425" b="0">
                <a:solidFill>
                  <a:srgbClr val="17232D"/>
                </a:solidFill>
                <a:latin typeface="Microsoft YaHei"/>
                <a:ea typeface="Microsoft YaHei"/>
                <a:cs typeface="Microsoft YaHei"/>
              </a:defRPr>
            </a:pPr>
            <a:r>
              <a:t>类型、射程、弹药、命中概率、成本、冷却</a:t>
            </a:r>
          </a:p>
        </p:txBody>
      </p:sp>
      <p:sp>
        <p:nvSpPr>
          <p:cNvPr id="17" name="矩形: 圆角 16">
            <a:extLst>
              <a:ext uri="{FF2B5EF4-FFF2-40B4-BE49-F238E27FC236}">
                <a16:creationId xmlns:a16="http://schemas.microsoft.com/office/drawing/2014/main" id="{D945A708-4B61-4644-ABFD-BB13C1269F53}"/>
              </a:ext>
            </a:extLst>
          </p:cNvPr>
          <p:cNvSpPr>
            <a:spLocks noGrp="1"/>
          </p:cNvSpPr>
          <p:nvPr/>
        </p:nvSpPr>
        <p:spPr>
          <a:xfrm>
            <a:off x="4000500" y="1466850"/>
            <a:ext cx="7734300" cy="4819650"/>
          </a:xfrm>
          <a:prstGeom prst="roundRect">
            <a:avLst>
              <a:gd name="adj" fmla="val 1581"/>
            </a:avLst>
          </a:prstGeom>
          <a:solidFill>
            <a:srgbClr val="FFFFFF"/>
          </a:solidFill>
          <a:ln w="9525">
            <a:solidFill>
              <a:srgbClr val="D8DFE4"/>
            </a:solidFill>
            <a:prstDash val="solid"/>
          </a:ln>
        </p:spPr>
      </p:sp>
      <p:pic>
        <p:nvPicPr>
          <p:cNvPr id="36" name="图片 35"/>
          <p:cNvPicPr>
            <a:picLocks noChangeAspect="1"/>
          </p:cNvPicPr>
          <p:nvPr/>
        </p:nvPicPr>
        <p:blipFill>
          <a:blip r:embed="rId3"/>
          <a:stretch/>
        </p:blipFill>
        <p:spPr>
          <a:xfrm>
            <a:off x="5263753" y="1562100"/>
            <a:ext cx="5207794" cy="4629150"/>
          </a:xfrm>
          <a:prstGeom prst="rect">
            <a:avLst/>
          </a:prstGeom>
        </p:spPr>
      </p:pic>
    </p:spTree>
    <p:extLst>
      <p:ext uri="{BB962C8B-B14F-4D97-AF65-F5344CB8AC3E}">
        <p14:creationId xmlns:p14="http://schemas.microsoft.com/office/powerpoint/2010/main" val="1442398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0AA8A65-6812-44F4-B0C2-24FE642177CC}"/>
              </a:ext>
            </a:extLst>
          </p:cNvPr>
          <p:cNvSpPr>
            <a:spLocks noGrp="1"/>
          </p:cNvSpPr>
          <p:nvPr/>
        </p:nvSpPr>
        <p:spPr>
          <a:xfrm>
            <a:off x="457200" y="285750"/>
            <a:ext cx="3143250" cy="209550"/>
          </a:xfrm>
          <a:prstGeom prst="rect">
            <a:avLst/>
          </a:prstGeom>
        </p:spPr>
        <p:txBody>
          <a:bodyPr wrap="square" lIns="0" tIns="0" rIns="0" bIns="0" anchor="t">
            <a:normAutofit/>
          </a:bodyPr>
          <a:lstStyle/>
          <a:p>
            <a:pPr algn="l">
              <a:defRPr sz="1125" b="1">
                <a:solidFill>
                  <a:srgbClr val="1E5AA8"/>
                </a:solidFill>
                <a:latin typeface="Microsoft YaHei"/>
                <a:ea typeface="Microsoft YaHei"/>
                <a:cs typeface="Microsoft YaHei"/>
              </a:defRPr>
            </a:pPr>
            <a:r>
              <a:t>ARCHITECTURE</a:t>
            </a:r>
          </a:p>
        </p:txBody>
      </p:sp>
      <p:sp>
        <p:nvSpPr>
          <p:cNvPr id="2" name="矩形 1">
            <a:extLst>
              <a:ext uri="{FF2B5EF4-FFF2-40B4-BE49-F238E27FC236}">
                <a16:creationId xmlns:a16="http://schemas.microsoft.com/office/drawing/2014/main" id="{3F8867BE-BF2A-41CD-A863-0C40F20EEA64}"/>
              </a:ext>
            </a:extLst>
          </p:cNvPr>
          <p:cNvSpPr>
            <a:spLocks noGrp="1"/>
          </p:cNvSpPr>
          <p:nvPr/>
        </p:nvSpPr>
        <p:spPr>
          <a:xfrm>
            <a:off x="457200" y="552450"/>
            <a:ext cx="11049000" cy="571500"/>
          </a:xfrm>
          <a:prstGeom prst="rect">
            <a:avLst/>
          </a:prstGeom>
        </p:spPr>
        <p:txBody>
          <a:bodyPr wrap="square" lIns="0" tIns="0" rIns="0" bIns="0" anchor="t">
            <a:normAutofit/>
          </a:bodyPr>
          <a:lstStyle/>
          <a:p>
            <a:pPr algn="l">
              <a:defRPr sz="3450" b="1">
                <a:solidFill>
                  <a:srgbClr val="17232D"/>
                </a:solidFill>
                <a:latin typeface="Microsoft YaHei"/>
                <a:ea typeface="Microsoft YaHei"/>
                <a:cs typeface="Microsoft YaHei"/>
              </a:defRPr>
            </a:pPr>
            <a:r>
              <a:t>完整强化学习系统：环境、Agent、模型与训练算法</a:t>
            </a:r>
          </a:p>
        </p:txBody>
      </p:sp>
      <p:cxnSp>
        <p:nvCxnSpPr>
          <p:cNvPr id="33" name="直接箭头连接符 32"/>
          <p:cNvCxnSpPr/>
          <p:nvPr/>
        </p:nvCxnSpPr>
        <p:spPr>
          <a:xfrm>
            <a:off x="457200" y="1200150"/>
            <a:ext cx="11277600" cy="95"/>
          </a:xfrm>
          <a:prstGeom prst="straightConnector1">
            <a:avLst/>
          </a:prstGeom>
          <a:ln w="9525">
            <a:solidFill>
              <a:srgbClr val="D8DFE4"/>
            </a:solidFill>
            <a:prstDash val="solid"/>
          </a:ln>
        </p:spPr>
      </p:cxnSp>
      <p:sp>
        <p:nvSpPr>
          <p:cNvPr id="4" name="矩形 3">
            <a:extLst>
              <a:ext uri="{FF2B5EF4-FFF2-40B4-BE49-F238E27FC236}">
                <a16:creationId xmlns:a16="http://schemas.microsoft.com/office/drawing/2014/main" id="{528306CB-E007-4272-893E-F18D388B70E0}"/>
              </a:ext>
            </a:extLst>
          </p:cNvPr>
          <p:cNvSpPr>
            <a:spLocks noGrp="1"/>
          </p:cNvSpPr>
          <p:nvPr/>
        </p:nvSpPr>
        <p:spPr>
          <a:xfrm>
            <a:off x="11239500" y="6448425"/>
            <a:ext cx="495300" cy="171450"/>
          </a:xfrm>
          <a:prstGeom prst="rect">
            <a:avLst/>
          </a:prstGeom>
        </p:spPr>
        <p:txBody>
          <a:bodyPr wrap="square" lIns="0" tIns="0" rIns="0" bIns="0" anchor="t">
            <a:normAutofit/>
          </a:bodyPr>
          <a:lstStyle/>
          <a:p>
            <a:pPr algn="r">
              <a:defRPr sz="975" b="0">
                <a:solidFill>
                  <a:srgbClr val="8A959D"/>
                </a:solidFill>
                <a:latin typeface="Microsoft YaHei"/>
                <a:ea typeface="Microsoft YaHei"/>
                <a:cs typeface="Microsoft YaHei"/>
              </a:defRPr>
            </a:pPr>
            <a:r>
              <a:t>05</a:t>
            </a:r>
          </a:p>
        </p:txBody>
      </p:sp>
      <p:cxnSp>
        <p:nvCxnSpPr>
          <p:cNvPr id="35" name="直接箭头连接符 34"/>
          <p:cNvCxnSpPr/>
          <p:nvPr/>
        </p:nvCxnSpPr>
        <p:spPr>
          <a:xfrm>
            <a:off x="2724150" y="2781300"/>
            <a:ext cx="895350" cy="95"/>
          </a:xfrm>
          <a:prstGeom prst="straightConnector1">
            <a:avLst/>
          </a:prstGeom>
          <a:ln w="19050">
            <a:solidFill>
              <a:srgbClr val="5D6A74"/>
            </a:solidFill>
            <a:prstDash val="solid"/>
          </a:ln>
        </p:spPr>
      </p:cxnSp>
      <p:cxnSp>
        <p:nvCxnSpPr>
          <p:cNvPr id="36" name="直接箭头连接符 35"/>
          <p:cNvCxnSpPr/>
          <p:nvPr/>
        </p:nvCxnSpPr>
        <p:spPr>
          <a:xfrm>
            <a:off x="5314950" y="2781300"/>
            <a:ext cx="895350" cy="95"/>
          </a:xfrm>
          <a:prstGeom prst="straightConnector1">
            <a:avLst/>
          </a:prstGeom>
          <a:ln w="19050">
            <a:solidFill>
              <a:srgbClr val="5D6A74"/>
            </a:solidFill>
            <a:prstDash val="solid"/>
          </a:ln>
        </p:spPr>
      </p:cxnSp>
      <p:cxnSp>
        <p:nvCxnSpPr>
          <p:cNvPr id="37" name="直接箭头连接符 36"/>
          <p:cNvCxnSpPr/>
          <p:nvPr/>
        </p:nvCxnSpPr>
        <p:spPr>
          <a:xfrm>
            <a:off x="7905750" y="2781300"/>
            <a:ext cx="895350" cy="95"/>
          </a:xfrm>
          <a:prstGeom prst="straightConnector1">
            <a:avLst/>
          </a:prstGeom>
          <a:ln w="19050">
            <a:solidFill>
              <a:srgbClr val="5D6A74"/>
            </a:solidFill>
            <a:prstDash val="solid"/>
          </a:ln>
        </p:spPr>
      </p:cxnSp>
      <p:cxnSp>
        <p:nvCxnSpPr>
          <p:cNvPr id="38" name="直接箭头连接符 37"/>
          <p:cNvCxnSpPr/>
          <p:nvPr/>
        </p:nvCxnSpPr>
        <p:spPr>
          <a:xfrm>
            <a:off x="2152650" y="3524250"/>
            <a:ext cx="7905750" cy="95"/>
          </a:xfrm>
          <a:prstGeom prst="straightConnector1">
            <a:avLst/>
          </a:prstGeom>
          <a:ln w="19050">
            <a:solidFill>
              <a:srgbClr val="4A84C6"/>
            </a:solidFill>
            <a:prstDash val="solid"/>
          </a:ln>
        </p:spPr>
      </p:cxnSp>
      <p:cxnSp>
        <p:nvCxnSpPr>
          <p:cNvPr id="39" name="直接箭头连接符 38"/>
          <p:cNvCxnSpPr/>
          <p:nvPr/>
        </p:nvCxnSpPr>
        <p:spPr>
          <a:xfrm>
            <a:off x="7124700" y="5257800"/>
            <a:ext cx="723900" cy="95"/>
          </a:xfrm>
          <a:prstGeom prst="straightConnector1">
            <a:avLst/>
          </a:prstGeom>
          <a:ln w="19050">
            <a:solidFill>
              <a:srgbClr val="2E7D68"/>
            </a:solidFill>
            <a:prstDash val="solid"/>
          </a:ln>
        </p:spPr>
      </p:cxnSp>
      <p:cxnSp>
        <p:nvCxnSpPr>
          <p:cNvPr id="40" name="直接箭头连接符 39"/>
          <p:cNvCxnSpPr/>
          <p:nvPr/>
        </p:nvCxnSpPr>
        <p:spPr>
          <a:xfrm>
            <a:off x="7848600" y="3524250"/>
            <a:ext cx="95" cy="1200150"/>
          </a:xfrm>
          <a:prstGeom prst="straightConnector1">
            <a:avLst/>
          </a:prstGeom>
          <a:ln w="19050">
            <a:solidFill>
              <a:srgbClr val="2E7D68"/>
            </a:solidFill>
            <a:prstDash val="dash"/>
          </a:ln>
        </p:spPr>
      </p:cxnSp>
      <p:sp>
        <p:nvSpPr>
          <p:cNvPr id="11" name="矩形: 圆角 10">
            <a:extLst>
              <a:ext uri="{FF2B5EF4-FFF2-40B4-BE49-F238E27FC236}">
                <a16:creationId xmlns:a16="http://schemas.microsoft.com/office/drawing/2014/main" id="{CAF5E226-2B4E-45F2-B66D-038162B307AC}"/>
              </a:ext>
            </a:extLst>
          </p:cNvPr>
          <p:cNvSpPr>
            <a:spLocks noGrp="1"/>
          </p:cNvSpPr>
          <p:nvPr/>
        </p:nvSpPr>
        <p:spPr>
          <a:xfrm>
            <a:off x="457200" y="2038350"/>
            <a:ext cx="2266950" cy="1485900"/>
          </a:xfrm>
          <a:prstGeom prst="roundRect">
            <a:avLst>
              <a:gd name="adj" fmla="val 5128"/>
            </a:avLst>
          </a:prstGeom>
          <a:solidFill>
            <a:srgbClr val="F6E5E7"/>
          </a:solidFill>
          <a:ln w="9525">
            <a:solidFill>
              <a:srgbClr val="B84A55"/>
            </a:solidFill>
            <a:prstDash val="solid"/>
          </a:ln>
        </p:spPr>
      </p:sp>
      <p:sp>
        <p:nvSpPr>
          <p:cNvPr id="12" name="矩形 11">
            <a:extLst>
              <a:ext uri="{FF2B5EF4-FFF2-40B4-BE49-F238E27FC236}">
                <a16:creationId xmlns:a16="http://schemas.microsoft.com/office/drawing/2014/main" id="{A4B76348-3337-4E6F-99DA-901ECAA468A9}"/>
              </a:ext>
            </a:extLst>
          </p:cNvPr>
          <p:cNvSpPr>
            <a:spLocks noGrp="1"/>
          </p:cNvSpPr>
          <p:nvPr/>
        </p:nvSpPr>
        <p:spPr>
          <a:xfrm>
            <a:off x="647700" y="2228850"/>
            <a:ext cx="1885950" cy="323850"/>
          </a:xfrm>
          <a:prstGeom prst="rect">
            <a:avLst/>
          </a:prstGeom>
        </p:spPr>
        <p:txBody>
          <a:bodyPr wrap="square" lIns="0" tIns="0" rIns="0" bIns="0" anchor="t">
            <a:normAutofit/>
          </a:bodyPr>
          <a:lstStyle/>
          <a:p>
            <a:pPr algn="l">
              <a:defRPr sz="1800" b="1">
                <a:solidFill>
                  <a:srgbClr val="B84A55"/>
                </a:solidFill>
                <a:latin typeface="Microsoft YaHei"/>
                <a:ea typeface="Microsoft YaHei"/>
                <a:cs typeface="Microsoft YaHei"/>
              </a:defRPr>
            </a:pPr>
            <a:r>
              <a:t>Environment</a:t>
            </a:r>
          </a:p>
        </p:txBody>
      </p:sp>
      <p:sp>
        <p:nvSpPr>
          <p:cNvPr id="13" name="矩形 12">
            <a:extLst>
              <a:ext uri="{FF2B5EF4-FFF2-40B4-BE49-F238E27FC236}">
                <a16:creationId xmlns:a16="http://schemas.microsoft.com/office/drawing/2014/main" id="{C4628EEF-C5F1-4787-BD2B-5FE05FC82744}"/>
              </a:ext>
            </a:extLst>
          </p:cNvPr>
          <p:cNvSpPr>
            <a:spLocks noGrp="1"/>
          </p:cNvSpPr>
          <p:nvPr/>
        </p:nvSpPr>
        <p:spPr>
          <a:xfrm>
            <a:off x="647700" y="2686050"/>
            <a:ext cx="1885950" cy="590550"/>
          </a:xfrm>
          <a:prstGeom prst="rect">
            <a:avLst/>
          </a:prstGeom>
        </p:spPr>
        <p:txBody>
          <a:bodyPr wrap="square" lIns="0" tIns="0" rIns="0" bIns="0" anchor="t">
            <a:normAutofit/>
          </a:bodyPr>
          <a:lstStyle/>
          <a:p>
            <a:pPr algn="l">
              <a:defRPr sz="1425" b="0">
                <a:solidFill>
                  <a:srgbClr val="17232D"/>
                </a:solidFill>
                <a:latin typeface="Microsoft YaHei"/>
                <a:ea typeface="Microsoft YaHei"/>
                <a:cs typeface="Microsoft YaHei"/>
              </a:defRPr>
            </a:pPr>
            <a:r>
              <a:t>目标运动 · 命中采样
资源消耗 · 区域损伤</a:t>
            </a:r>
          </a:p>
        </p:txBody>
      </p:sp>
      <p:sp>
        <p:nvSpPr>
          <p:cNvPr id="14" name="矩形: 圆角 13">
            <a:extLst>
              <a:ext uri="{FF2B5EF4-FFF2-40B4-BE49-F238E27FC236}">
                <a16:creationId xmlns:a16="http://schemas.microsoft.com/office/drawing/2014/main" id="{67C93663-2885-4A85-B1F3-D9BFAD45308A}"/>
              </a:ext>
            </a:extLst>
          </p:cNvPr>
          <p:cNvSpPr>
            <a:spLocks noGrp="1"/>
          </p:cNvSpPr>
          <p:nvPr/>
        </p:nvSpPr>
        <p:spPr>
          <a:xfrm>
            <a:off x="3619500" y="2038350"/>
            <a:ext cx="1695450" cy="1485900"/>
          </a:xfrm>
          <a:prstGeom prst="roundRect">
            <a:avLst>
              <a:gd name="adj" fmla="val 5128"/>
            </a:avLst>
          </a:prstGeom>
          <a:solidFill>
            <a:srgbClr val="F4F6F7"/>
          </a:solidFill>
          <a:ln w="9525">
            <a:solidFill>
              <a:srgbClr val="1E5AA8"/>
            </a:solidFill>
            <a:prstDash val="solid"/>
          </a:ln>
        </p:spPr>
      </p:sp>
      <p:sp>
        <p:nvSpPr>
          <p:cNvPr id="15" name="矩形 14">
            <a:extLst>
              <a:ext uri="{FF2B5EF4-FFF2-40B4-BE49-F238E27FC236}">
                <a16:creationId xmlns:a16="http://schemas.microsoft.com/office/drawing/2014/main" id="{E1B8716C-E1D0-4B41-A77E-B0DB6BB11B69}"/>
              </a:ext>
            </a:extLst>
          </p:cNvPr>
          <p:cNvSpPr>
            <a:spLocks noGrp="1"/>
          </p:cNvSpPr>
          <p:nvPr/>
        </p:nvSpPr>
        <p:spPr>
          <a:xfrm>
            <a:off x="3810000" y="2228850"/>
            <a:ext cx="1314450" cy="323850"/>
          </a:xfrm>
          <a:prstGeom prst="rect">
            <a:avLst/>
          </a:prstGeom>
        </p:spPr>
        <p:txBody>
          <a:bodyPr wrap="square" lIns="0" tIns="0" rIns="0" bIns="0" anchor="t">
            <a:normAutofit/>
          </a:bodyPr>
          <a:lstStyle/>
          <a:p>
            <a:pPr algn="l">
              <a:defRPr sz="1800" b="1">
                <a:solidFill>
                  <a:srgbClr val="1E5AA8"/>
                </a:solidFill>
                <a:latin typeface="Microsoft YaHei"/>
                <a:ea typeface="Microsoft YaHei"/>
                <a:cs typeface="Microsoft YaHei"/>
              </a:defRPr>
            </a:pPr>
            <a:r>
              <a:t>状态 + 掩码</a:t>
            </a:r>
          </a:p>
        </p:txBody>
      </p:sp>
      <p:sp>
        <p:nvSpPr>
          <p:cNvPr id="16" name="矩形 15">
            <a:extLst>
              <a:ext uri="{FF2B5EF4-FFF2-40B4-BE49-F238E27FC236}">
                <a16:creationId xmlns:a16="http://schemas.microsoft.com/office/drawing/2014/main" id="{1EFECF6C-425B-48CB-A7DF-7503E8729038}"/>
              </a:ext>
            </a:extLst>
          </p:cNvPr>
          <p:cNvSpPr>
            <a:spLocks noGrp="1"/>
          </p:cNvSpPr>
          <p:nvPr/>
        </p:nvSpPr>
        <p:spPr>
          <a:xfrm>
            <a:off x="3810000" y="2686050"/>
            <a:ext cx="1314450" cy="590550"/>
          </a:xfrm>
          <a:prstGeom prst="rect">
            <a:avLst/>
          </a:prstGeom>
        </p:spPr>
        <p:txBody>
          <a:bodyPr wrap="square" lIns="0" tIns="0" rIns="0" bIns="0" anchor="t">
            <a:normAutofit/>
          </a:bodyPr>
          <a:lstStyle/>
          <a:p>
            <a:pPr algn="l">
              <a:defRPr sz="1425" b="0">
                <a:solidFill>
                  <a:srgbClr val="17232D"/>
                </a:solidFill>
                <a:latin typeface="Microsoft YaHei"/>
                <a:ea typeface="Microsoft YaHei"/>
                <a:cs typeface="Microsoft YaHei"/>
              </a:defRPr>
            </a:pPr>
            <a:r>
              <a:t>状态向量
+ 动作可行掩码</a:t>
            </a:r>
          </a:p>
        </p:txBody>
      </p:sp>
      <p:sp>
        <p:nvSpPr>
          <p:cNvPr id="17" name="矩形: 圆角 16">
            <a:extLst>
              <a:ext uri="{FF2B5EF4-FFF2-40B4-BE49-F238E27FC236}">
                <a16:creationId xmlns:a16="http://schemas.microsoft.com/office/drawing/2014/main" id="{2BD4D5D9-9DF2-4C97-8BC4-9D1223DB8556}"/>
              </a:ext>
            </a:extLst>
          </p:cNvPr>
          <p:cNvSpPr>
            <a:spLocks noGrp="1"/>
          </p:cNvSpPr>
          <p:nvPr/>
        </p:nvSpPr>
        <p:spPr>
          <a:xfrm>
            <a:off x="6210300" y="2038350"/>
            <a:ext cx="1695450" cy="1485900"/>
          </a:xfrm>
          <a:prstGeom prst="roundRect">
            <a:avLst>
              <a:gd name="adj" fmla="val 5128"/>
            </a:avLst>
          </a:prstGeom>
          <a:solidFill>
            <a:srgbClr val="DFEAF6"/>
          </a:solidFill>
          <a:ln w="9525">
            <a:solidFill>
              <a:srgbClr val="1E5AA8"/>
            </a:solidFill>
            <a:prstDash val="solid"/>
          </a:ln>
        </p:spPr>
      </p:sp>
      <p:sp>
        <p:nvSpPr>
          <p:cNvPr id="18" name="矩形 17">
            <a:extLst>
              <a:ext uri="{FF2B5EF4-FFF2-40B4-BE49-F238E27FC236}">
                <a16:creationId xmlns:a16="http://schemas.microsoft.com/office/drawing/2014/main" id="{5A73FEB0-1912-4CFD-9AF2-963AE30D8498}"/>
              </a:ext>
            </a:extLst>
          </p:cNvPr>
          <p:cNvSpPr>
            <a:spLocks noGrp="1"/>
          </p:cNvSpPr>
          <p:nvPr/>
        </p:nvSpPr>
        <p:spPr>
          <a:xfrm>
            <a:off x="6400800" y="2228850"/>
            <a:ext cx="1314450" cy="323850"/>
          </a:xfrm>
          <a:prstGeom prst="rect">
            <a:avLst/>
          </a:prstGeom>
        </p:spPr>
        <p:txBody>
          <a:bodyPr wrap="square" lIns="0" tIns="0" rIns="0" bIns="0" anchor="t">
            <a:normAutofit/>
          </a:bodyPr>
          <a:lstStyle/>
          <a:p>
            <a:pPr algn="l">
              <a:defRPr sz="1800" b="1">
                <a:solidFill>
                  <a:srgbClr val="1E5AA8"/>
                </a:solidFill>
                <a:latin typeface="Microsoft YaHei"/>
                <a:ea typeface="Microsoft YaHei"/>
                <a:cs typeface="Microsoft YaHei"/>
              </a:defRPr>
            </a:pPr>
            <a:r>
              <a:t>Agent</a:t>
            </a:r>
          </a:p>
        </p:txBody>
      </p:sp>
      <p:sp>
        <p:nvSpPr>
          <p:cNvPr id="19" name="矩形 18">
            <a:extLst>
              <a:ext uri="{FF2B5EF4-FFF2-40B4-BE49-F238E27FC236}">
                <a16:creationId xmlns:a16="http://schemas.microsoft.com/office/drawing/2014/main" id="{40D09D61-9DA7-4EDA-9679-7D76D369470D}"/>
              </a:ext>
            </a:extLst>
          </p:cNvPr>
          <p:cNvSpPr>
            <a:spLocks noGrp="1"/>
          </p:cNvSpPr>
          <p:nvPr/>
        </p:nvSpPr>
        <p:spPr>
          <a:xfrm>
            <a:off x="6400800" y="2686050"/>
            <a:ext cx="1314450" cy="590550"/>
          </a:xfrm>
          <a:prstGeom prst="rect">
            <a:avLst/>
          </a:prstGeom>
        </p:spPr>
        <p:txBody>
          <a:bodyPr wrap="square" lIns="0" tIns="0" rIns="0" bIns="0" anchor="t">
            <a:normAutofit/>
          </a:bodyPr>
          <a:lstStyle/>
          <a:p>
            <a:pPr algn="l">
              <a:defRPr sz="1425" b="0">
                <a:solidFill>
                  <a:srgbClr val="17232D"/>
                </a:solidFill>
                <a:latin typeface="Microsoft YaHei"/>
                <a:ea typeface="Microsoft YaHei"/>
                <a:cs typeface="Microsoft YaHei"/>
              </a:defRPr>
            </a:pPr>
            <a:r>
              <a:t>策略选择
联合分配动作</a:t>
            </a:r>
          </a:p>
        </p:txBody>
      </p:sp>
      <p:sp>
        <p:nvSpPr>
          <p:cNvPr id="20" name="矩形: 圆角 19">
            <a:extLst>
              <a:ext uri="{FF2B5EF4-FFF2-40B4-BE49-F238E27FC236}">
                <a16:creationId xmlns:a16="http://schemas.microsoft.com/office/drawing/2014/main" id="{9AC1CB9A-CC93-462D-A5EF-AF66F9FEA5AD}"/>
              </a:ext>
            </a:extLst>
          </p:cNvPr>
          <p:cNvSpPr>
            <a:spLocks noGrp="1"/>
          </p:cNvSpPr>
          <p:nvPr/>
        </p:nvSpPr>
        <p:spPr>
          <a:xfrm>
            <a:off x="8801100" y="2038350"/>
            <a:ext cx="2114550" cy="1485900"/>
          </a:xfrm>
          <a:prstGeom prst="roundRect">
            <a:avLst>
              <a:gd name="adj" fmla="val 5128"/>
            </a:avLst>
          </a:prstGeom>
          <a:solidFill>
            <a:srgbClr val="F5EDD9"/>
          </a:solidFill>
          <a:ln w="9525">
            <a:solidFill>
              <a:srgbClr val="C6912B"/>
            </a:solidFill>
            <a:prstDash val="solid"/>
          </a:ln>
        </p:spPr>
      </p:sp>
      <p:sp>
        <p:nvSpPr>
          <p:cNvPr id="21" name="矩形 20">
            <a:extLst>
              <a:ext uri="{FF2B5EF4-FFF2-40B4-BE49-F238E27FC236}">
                <a16:creationId xmlns:a16="http://schemas.microsoft.com/office/drawing/2014/main" id="{F50501C2-8B9B-416B-803D-5855671A7C10}"/>
              </a:ext>
            </a:extLst>
          </p:cNvPr>
          <p:cNvSpPr>
            <a:spLocks noGrp="1"/>
          </p:cNvSpPr>
          <p:nvPr/>
        </p:nvSpPr>
        <p:spPr>
          <a:xfrm>
            <a:off x="8991600" y="2228850"/>
            <a:ext cx="1733550" cy="323850"/>
          </a:xfrm>
          <a:prstGeom prst="rect">
            <a:avLst/>
          </a:prstGeom>
        </p:spPr>
        <p:txBody>
          <a:bodyPr wrap="square" lIns="0" tIns="0" rIns="0" bIns="0" anchor="t">
            <a:normAutofit/>
          </a:bodyPr>
          <a:lstStyle/>
          <a:p>
            <a:pPr algn="l">
              <a:defRPr sz="1800" b="1">
                <a:solidFill>
                  <a:srgbClr val="C6912B"/>
                </a:solidFill>
                <a:latin typeface="Microsoft YaHei"/>
                <a:ea typeface="Microsoft YaHei"/>
                <a:cs typeface="Microsoft YaHei"/>
              </a:defRPr>
            </a:pPr>
            <a:r>
              <a:t>Joint Action</a:t>
            </a:r>
          </a:p>
        </p:txBody>
      </p:sp>
      <p:sp>
        <p:nvSpPr>
          <p:cNvPr id="22" name="矩形 21">
            <a:extLst>
              <a:ext uri="{FF2B5EF4-FFF2-40B4-BE49-F238E27FC236}">
                <a16:creationId xmlns:a16="http://schemas.microsoft.com/office/drawing/2014/main" id="{0E0A793A-D5C7-4725-B83F-0E8BB7ADB95C}"/>
              </a:ext>
            </a:extLst>
          </p:cNvPr>
          <p:cNvSpPr>
            <a:spLocks noGrp="1"/>
          </p:cNvSpPr>
          <p:nvPr/>
        </p:nvSpPr>
        <p:spPr>
          <a:xfrm>
            <a:off x="8991600" y="2686050"/>
            <a:ext cx="1733550" cy="590550"/>
          </a:xfrm>
          <a:prstGeom prst="rect">
            <a:avLst/>
          </a:prstGeom>
        </p:spPr>
        <p:txBody>
          <a:bodyPr wrap="square" lIns="0" tIns="0" rIns="0" bIns="0" anchor="t">
            <a:normAutofit/>
          </a:bodyPr>
          <a:lstStyle/>
          <a:p>
            <a:pPr algn="l">
              <a:defRPr sz="1425" b="0">
                <a:solidFill>
                  <a:srgbClr val="17232D"/>
                </a:solidFill>
                <a:latin typeface="Microsoft YaHei"/>
                <a:ea typeface="Microsoft YaHei"/>
                <a:cs typeface="Microsoft YaHei"/>
              </a:defRPr>
            </a:pPr>
            <a:r>
              <a:t>每个资源选择
目标或 no-op</a:t>
            </a:r>
          </a:p>
        </p:txBody>
      </p:sp>
      <p:sp>
        <p:nvSpPr>
          <p:cNvPr id="23" name="矩形 22">
            <a:extLst>
              <a:ext uri="{FF2B5EF4-FFF2-40B4-BE49-F238E27FC236}">
                <a16:creationId xmlns:a16="http://schemas.microsoft.com/office/drawing/2014/main" id="{3FA56AFA-2C03-401A-8CCE-F862E09E53F3}"/>
              </a:ext>
            </a:extLst>
          </p:cNvPr>
          <p:cNvSpPr>
            <a:spLocks noGrp="1"/>
          </p:cNvSpPr>
          <p:nvPr/>
        </p:nvSpPr>
        <p:spPr>
          <a:xfrm>
            <a:off x="4514850" y="3638550"/>
            <a:ext cx="2571750" cy="247650"/>
          </a:xfrm>
          <a:prstGeom prst="rect">
            <a:avLst/>
          </a:prstGeom>
        </p:spPr>
        <p:txBody>
          <a:bodyPr wrap="square" lIns="0" tIns="0" rIns="0" bIns="0" anchor="t">
            <a:normAutofit/>
          </a:bodyPr>
          <a:lstStyle/>
          <a:p>
            <a:pPr algn="ctr">
              <a:defRPr sz="1275" b="1">
                <a:solidFill>
                  <a:srgbClr val="4A84C6"/>
                </a:solidFill>
                <a:latin typeface="Microsoft YaHei"/>
                <a:ea typeface="Microsoft YaHei"/>
                <a:cs typeface="Microsoft YaHei"/>
              </a:defRPr>
            </a:pPr>
            <a:r>
              <a:t>reward + next state</a:t>
            </a:r>
          </a:p>
        </p:txBody>
      </p:sp>
      <p:sp>
        <p:nvSpPr>
          <p:cNvPr id="24" name="矩形: 圆角 23">
            <a:extLst>
              <a:ext uri="{FF2B5EF4-FFF2-40B4-BE49-F238E27FC236}">
                <a16:creationId xmlns:a16="http://schemas.microsoft.com/office/drawing/2014/main" id="{06AA68A7-ED03-4738-A212-99FBE9AD8A88}"/>
              </a:ext>
            </a:extLst>
          </p:cNvPr>
          <p:cNvSpPr>
            <a:spLocks noGrp="1"/>
          </p:cNvSpPr>
          <p:nvPr/>
        </p:nvSpPr>
        <p:spPr>
          <a:xfrm>
            <a:off x="4781550" y="4686300"/>
            <a:ext cx="2343150" cy="1066800"/>
          </a:xfrm>
          <a:prstGeom prst="roundRect">
            <a:avLst>
              <a:gd name="adj" fmla="val 7143"/>
            </a:avLst>
          </a:prstGeom>
          <a:solidFill>
            <a:srgbClr val="E2F0EB"/>
          </a:solidFill>
          <a:ln w="9525">
            <a:solidFill>
              <a:srgbClr val="2E7D68"/>
            </a:solidFill>
            <a:prstDash val="solid"/>
          </a:ln>
        </p:spPr>
      </p:sp>
      <p:sp>
        <p:nvSpPr>
          <p:cNvPr id="25" name="矩形 24">
            <a:extLst>
              <a:ext uri="{FF2B5EF4-FFF2-40B4-BE49-F238E27FC236}">
                <a16:creationId xmlns:a16="http://schemas.microsoft.com/office/drawing/2014/main" id="{57EA2C3C-42FD-4E23-B895-0EEFB11F4880}"/>
              </a:ext>
            </a:extLst>
          </p:cNvPr>
          <p:cNvSpPr>
            <a:spLocks noGrp="1"/>
          </p:cNvSpPr>
          <p:nvPr/>
        </p:nvSpPr>
        <p:spPr>
          <a:xfrm>
            <a:off x="4972050" y="4895850"/>
            <a:ext cx="1962150" cy="285750"/>
          </a:xfrm>
          <a:prstGeom prst="rect">
            <a:avLst/>
          </a:prstGeom>
        </p:spPr>
        <p:txBody>
          <a:bodyPr wrap="square" lIns="0" tIns="0" rIns="0" bIns="0" anchor="t">
            <a:normAutofit fontScale="98266"/>
          </a:bodyPr>
          <a:lstStyle/>
          <a:p>
            <a:pPr algn="ctr">
              <a:defRPr sz="1650" b="1">
                <a:solidFill>
                  <a:srgbClr val="2E7D68"/>
                </a:solidFill>
                <a:latin typeface="Microsoft YaHei"/>
                <a:ea typeface="Microsoft YaHei"/>
                <a:cs typeface="Microsoft YaHei"/>
              </a:defRPr>
            </a:pPr>
            <a:r>
              <a:t>Training Algorithm</a:t>
            </a:r>
          </a:p>
        </p:txBody>
      </p:sp>
      <p:sp>
        <p:nvSpPr>
          <p:cNvPr id="26" name="矩形 25">
            <a:extLst>
              <a:ext uri="{FF2B5EF4-FFF2-40B4-BE49-F238E27FC236}">
                <a16:creationId xmlns:a16="http://schemas.microsoft.com/office/drawing/2014/main" id="{03A8F51E-A9E6-4392-8771-8FBE21474ABC}"/>
              </a:ext>
            </a:extLst>
          </p:cNvPr>
          <p:cNvSpPr>
            <a:spLocks noGrp="1"/>
          </p:cNvSpPr>
          <p:nvPr/>
        </p:nvSpPr>
        <p:spPr>
          <a:xfrm>
            <a:off x="4972050" y="5295900"/>
            <a:ext cx="1962150" cy="247650"/>
          </a:xfrm>
          <a:prstGeom prst="rect">
            <a:avLst/>
          </a:prstGeom>
        </p:spPr>
        <p:txBody>
          <a:bodyPr wrap="square" lIns="0" tIns="0" rIns="0" bIns="0" anchor="t">
            <a:normAutofit fontScale="85991"/>
          </a:bodyPr>
          <a:lstStyle/>
          <a:p>
            <a:pPr algn="ctr">
              <a:defRPr sz="1200" b="0">
                <a:solidFill>
                  <a:srgbClr val="17232D"/>
                </a:solidFill>
                <a:latin typeface="Microsoft YaHei"/>
                <a:ea typeface="Microsoft YaHei"/>
                <a:cs typeface="Microsoft YaHei"/>
              </a:defRPr>
            </a:pPr>
            <a:r>
              <a:t>PPO / Maskable PPO / 后续算法</a:t>
            </a:r>
          </a:p>
        </p:txBody>
      </p:sp>
      <p:sp>
        <p:nvSpPr>
          <p:cNvPr id="27" name="矩形: 圆角 26">
            <a:extLst>
              <a:ext uri="{FF2B5EF4-FFF2-40B4-BE49-F238E27FC236}">
                <a16:creationId xmlns:a16="http://schemas.microsoft.com/office/drawing/2014/main" id="{ACD52BF4-2561-4D25-847E-318168BA48AD}"/>
              </a:ext>
            </a:extLst>
          </p:cNvPr>
          <p:cNvSpPr>
            <a:spLocks noGrp="1"/>
          </p:cNvSpPr>
          <p:nvPr/>
        </p:nvSpPr>
        <p:spPr>
          <a:xfrm>
            <a:off x="7848600" y="4686300"/>
            <a:ext cx="2286000" cy="1066800"/>
          </a:xfrm>
          <a:prstGeom prst="roundRect">
            <a:avLst>
              <a:gd name="adj" fmla="val 7143"/>
            </a:avLst>
          </a:prstGeom>
          <a:solidFill>
            <a:srgbClr val="F4F6F7"/>
          </a:solidFill>
          <a:ln w="9525">
            <a:solidFill>
              <a:srgbClr val="D8DFE4"/>
            </a:solidFill>
            <a:prstDash val="solid"/>
          </a:ln>
        </p:spPr>
      </p:sp>
      <p:sp>
        <p:nvSpPr>
          <p:cNvPr id="28" name="矩形 27">
            <a:extLst>
              <a:ext uri="{FF2B5EF4-FFF2-40B4-BE49-F238E27FC236}">
                <a16:creationId xmlns:a16="http://schemas.microsoft.com/office/drawing/2014/main" id="{ED32EFCA-7046-4301-948C-CC2ADF1997B2}"/>
              </a:ext>
            </a:extLst>
          </p:cNvPr>
          <p:cNvSpPr>
            <a:spLocks noGrp="1"/>
          </p:cNvSpPr>
          <p:nvPr/>
        </p:nvSpPr>
        <p:spPr>
          <a:xfrm>
            <a:off x="8039100" y="4895850"/>
            <a:ext cx="1905000" cy="285750"/>
          </a:xfrm>
          <a:prstGeom prst="rect">
            <a:avLst/>
          </a:prstGeom>
        </p:spPr>
        <p:txBody>
          <a:bodyPr wrap="square" lIns="0" tIns="0" rIns="0" bIns="0" anchor="t">
            <a:normAutofit fontScale="92502"/>
          </a:bodyPr>
          <a:lstStyle/>
          <a:p>
            <a:pPr algn="ctr">
              <a:defRPr sz="1575" b="1">
                <a:solidFill>
                  <a:srgbClr val="17232D"/>
                </a:solidFill>
                <a:latin typeface="Microsoft YaHei"/>
                <a:ea typeface="Microsoft YaHei"/>
                <a:cs typeface="Microsoft YaHei"/>
              </a:defRPr>
            </a:pPr>
            <a:r>
              <a:t>Policy / Value Model</a:t>
            </a:r>
          </a:p>
        </p:txBody>
      </p:sp>
      <p:sp>
        <p:nvSpPr>
          <p:cNvPr id="29" name="矩形 28">
            <a:extLst>
              <a:ext uri="{FF2B5EF4-FFF2-40B4-BE49-F238E27FC236}">
                <a16:creationId xmlns:a16="http://schemas.microsoft.com/office/drawing/2014/main" id="{4CCBE99A-7EBC-4A43-9C83-93DA960E9080}"/>
              </a:ext>
            </a:extLst>
          </p:cNvPr>
          <p:cNvSpPr>
            <a:spLocks noGrp="1"/>
          </p:cNvSpPr>
          <p:nvPr/>
        </p:nvSpPr>
        <p:spPr>
          <a:xfrm>
            <a:off x="8039100" y="5295900"/>
            <a:ext cx="1905000" cy="247650"/>
          </a:xfrm>
          <a:prstGeom prst="rect">
            <a:avLst/>
          </a:prstGeom>
        </p:spPr>
        <p:txBody>
          <a:bodyPr wrap="square" lIns="0" tIns="0" rIns="0" bIns="0" anchor="t">
            <a:normAutofit/>
          </a:bodyPr>
          <a:lstStyle/>
          <a:p>
            <a:pPr algn="ctr">
              <a:defRPr sz="1200" b="0">
                <a:solidFill>
                  <a:srgbClr val="5D6A74"/>
                </a:solidFill>
                <a:latin typeface="Microsoft YaHei"/>
                <a:ea typeface="Microsoft YaHei"/>
                <a:cs typeface="Microsoft YaHei"/>
              </a:defRPr>
            </a:pPr>
            <a:r>
              <a:t>参数更新后供 Agent 决策</a:t>
            </a:r>
          </a:p>
        </p:txBody>
      </p:sp>
      <p:sp>
        <p:nvSpPr>
          <p:cNvPr id="30" name="矩形 29">
            <a:extLst>
              <a:ext uri="{FF2B5EF4-FFF2-40B4-BE49-F238E27FC236}">
                <a16:creationId xmlns:a16="http://schemas.microsoft.com/office/drawing/2014/main" id="{41ACD44A-0481-424B-8C6C-B6D2A7F10D4F}"/>
              </a:ext>
            </a:extLst>
          </p:cNvPr>
          <p:cNvSpPr>
            <a:spLocks noGrp="1"/>
          </p:cNvSpPr>
          <p:nvPr/>
        </p:nvSpPr>
        <p:spPr>
          <a:xfrm>
            <a:off x="457200" y="6096000"/>
            <a:ext cx="10287000" cy="266700"/>
          </a:xfrm>
          <a:prstGeom prst="rect">
            <a:avLst/>
          </a:prstGeom>
        </p:spPr>
        <p:txBody>
          <a:bodyPr wrap="square" lIns="0" tIns="0" rIns="0" bIns="0" anchor="t">
            <a:normAutofit/>
          </a:bodyPr>
          <a:lstStyle/>
          <a:p>
            <a:pPr algn="l">
              <a:defRPr sz="1350" b="0">
                <a:solidFill>
                  <a:srgbClr val="5D6A74"/>
                </a:solidFill>
                <a:latin typeface="Microsoft YaHei"/>
                <a:ea typeface="Microsoft YaHei"/>
                <a:cs typeface="Microsoft YaHei"/>
              </a:defRPr>
            </a:pPr>
            <a:r>
              <a:t>环境、Agent、模型接口相互独立；训练算法通过交互数据更新模型。</a:t>
            </a:r>
          </a:p>
        </p:txBody>
      </p:sp>
    </p:spTree>
    <p:extLst>
      <p:ext uri="{BB962C8B-B14F-4D97-AF65-F5344CB8AC3E}">
        <p14:creationId xmlns:p14="http://schemas.microsoft.com/office/powerpoint/2010/main" val="1725343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EC606A5-CDA2-4413-B3EF-8868B3FE77FC}"/>
              </a:ext>
            </a:extLst>
          </p:cNvPr>
          <p:cNvSpPr>
            <a:spLocks noGrp="1"/>
          </p:cNvSpPr>
          <p:nvPr/>
        </p:nvSpPr>
        <p:spPr>
          <a:xfrm>
            <a:off x="457200" y="285750"/>
            <a:ext cx="3143250" cy="209550"/>
          </a:xfrm>
          <a:prstGeom prst="rect">
            <a:avLst/>
          </a:prstGeom>
        </p:spPr>
        <p:txBody>
          <a:bodyPr wrap="square" lIns="0" tIns="0" rIns="0" bIns="0" anchor="t">
            <a:normAutofit/>
          </a:bodyPr>
          <a:lstStyle/>
          <a:p>
            <a:pPr algn="l">
              <a:defRPr sz="1125" b="1">
                <a:solidFill>
                  <a:srgbClr val="1E5AA8"/>
                </a:solidFill>
                <a:latin typeface="Microsoft YaHei"/>
                <a:ea typeface="Microsoft YaHei"/>
                <a:cs typeface="Microsoft YaHei"/>
              </a:defRPr>
            </a:pPr>
            <a:r>
              <a:t>PROGRESS</a:t>
            </a:r>
          </a:p>
        </p:txBody>
      </p:sp>
      <p:sp>
        <p:nvSpPr>
          <p:cNvPr id="2" name="矩形 1">
            <a:extLst>
              <a:ext uri="{FF2B5EF4-FFF2-40B4-BE49-F238E27FC236}">
                <a16:creationId xmlns:a16="http://schemas.microsoft.com/office/drawing/2014/main" id="{8EB2363B-AD1A-42B2-B4F1-CDF422CF37EC}"/>
              </a:ext>
            </a:extLst>
          </p:cNvPr>
          <p:cNvSpPr>
            <a:spLocks noGrp="1"/>
          </p:cNvSpPr>
          <p:nvPr/>
        </p:nvSpPr>
        <p:spPr>
          <a:xfrm>
            <a:off x="457200" y="552450"/>
            <a:ext cx="11049000" cy="571500"/>
          </a:xfrm>
          <a:prstGeom prst="rect">
            <a:avLst/>
          </a:prstGeom>
        </p:spPr>
        <p:txBody>
          <a:bodyPr wrap="square" lIns="0" tIns="0" rIns="0" bIns="0" anchor="t">
            <a:normAutofit/>
          </a:bodyPr>
          <a:lstStyle/>
          <a:p>
            <a:pPr algn="l">
              <a:defRPr sz="3450" b="1">
                <a:solidFill>
                  <a:srgbClr val="17232D"/>
                </a:solidFill>
                <a:latin typeface="Microsoft YaHei"/>
                <a:ea typeface="Microsoft YaHei"/>
                <a:cs typeface="Microsoft YaHei"/>
              </a:defRPr>
            </a:pPr>
            <a:r>
              <a:t>当前已建立可训练、可比较、可重复的研究基准</a:t>
            </a:r>
          </a:p>
        </p:txBody>
      </p:sp>
      <p:cxnSp>
        <p:nvCxnSpPr>
          <p:cNvPr id="28" name="直接箭头连接符 27"/>
          <p:cNvCxnSpPr/>
          <p:nvPr/>
        </p:nvCxnSpPr>
        <p:spPr>
          <a:xfrm>
            <a:off x="457200" y="1200150"/>
            <a:ext cx="11277600" cy="95"/>
          </a:xfrm>
          <a:prstGeom prst="straightConnector1">
            <a:avLst/>
          </a:prstGeom>
          <a:ln w="9525">
            <a:solidFill>
              <a:srgbClr val="D8DFE4"/>
            </a:solidFill>
            <a:prstDash val="solid"/>
          </a:ln>
        </p:spPr>
      </p:cxnSp>
      <p:sp>
        <p:nvSpPr>
          <p:cNvPr id="4" name="矩形 3">
            <a:extLst>
              <a:ext uri="{FF2B5EF4-FFF2-40B4-BE49-F238E27FC236}">
                <a16:creationId xmlns:a16="http://schemas.microsoft.com/office/drawing/2014/main" id="{9D487CE8-AB26-4922-87FA-0F7CF0AEE24C}"/>
              </a:ext>
            </a:extLst>
          </p:cNvPr>
          <p:cNvSpPr>
            <a:spLocks noGrp="1"/>
          </p:cNvSpPr>
          <p:nvPr/>
        </p:nvSpPr>
        <p:spPr>
          <a:xfrm>
            <a:off x="11239500" y="6448425"/>
            <a:ext cx="495300" cy="171450"/>
          </a:xfrm>
          <a:prstGeom prst="rect">
            <a:avLst/>
          </a:prstGeom>
        </p:spPr>
        <p:txBody>
          <a:bodyPr wrap="square" lIns="0" tIns="0" rIns="0" bIns="0" anchor="t">
            <a:normAutofit/>
          </a:bodyPr>
          <a:lstStyle/>
          <a:p>
            <a:pPr algn="r">
              <a:defRPr sz="975" b="0">
                <a:solidFill>
                  <a:srgbClr val="8A959D"/>
                </a:solidFill>
                <a:latin typeface="Microsoft YaHei"/>
                <a:ea typeface="Microsoft YaHei"/>
                <a:cs typeface="Microsoft YaHei"/>
              </a:defRPr>
            </a:pPr>
            <a:r>
              <a:t>06</a:t>
            </a:r>
          </a:p>
        </p:txBody>
      </p:sp>
      <p:cxnSp>
        <p:nvCxnSpPr>
          <p:cNvPr id="30" name="直接箭头连接符 29"/>
          <p:cNvCxnSpPr/>
          <p:nvPr/>
        </p:nvCxnSpPr>
        <p:spPr>
          <a:xfrm>
            <a:off x="933450" y="3257550"/>
            <a:ext cx="9906000" cy="95"/>
          </a:xfrm>
          <a:prstGeom prst="straightConnector1">
            <a:avLst/>
          </a:prstGeom>
          <a:ln w="19050">
            <a:solidFill>
              <a:srgbClr val="D8DFE4"/>
            </a:solidFill>
            <a:prstDash val="solid"/>
          </a:ln>
        </p:spPr>
      </p:cxnSp>
      <p:sp>
        <p:nvSpPr>
          <p:cNvPr id="6" name="椭圆 5">
            <a:extLst>
              <a:ext uri="{FF2B5EF4-FFF2-40B4-BE49-F238E27FC236}">
                <a16:creationId xmlns:a16="http://schemas.microsoft.com/office/drawing/2014/main" id="{3C89EE54-2D21-45BF-A792-FEC1A21B7E0F}"/>
              </a:ext>
            </a:extLst>
          </p:cNvPr>
          <p:cNvSpPr>
            <a:spLocks noGrp="1"/>
          </p:cNvSpPr>
          <p:nvPr/>
        </p:nvSpPr>
        <p:spPr>
          <a:xfrm>
            <a:off x="952500" y="3162300"/>
            <a:ext cx="190500" cy="190500"/>
          </a:xfrm>
          <a:prstGeom prst="ellipse">
            <a:avLst/>
          </a:prstGeom>
          <a:solidFill>
            <a:srgbClr val="17232D"/>
          </a:solidFill>
          <a:ln w="9525">
            <a:solidFill>
              <a:srgbClr val="17232D"/>
            </a:solidFill>
            <a:prstDash val="solid"/>
          </a:ln>
        </p:spPr>
      </p:sp>
      <p:sp>
        <p:nvSpPr>
          <p:cNvPr id="7" name="矩形 6">
            <a:extLst>
              <a:ext uri="{FF2B5EF4-FFF2-40B4-BE49-F238E27FC236}">
                <a16:creationId xmlns:a16="http://schemas.microsoft.com/office/drawing/2014/main" id="{0400B282-54A2-4F41-B7CF-DAAB6D1F20D3}"/>
              </a:ext>
            </a:extLst>
          </p:cNvPr>
          <p:cNvSpPr>
            <a:spLocks noGrp="1"/>
          </p:cNvSpPr>
          <p:nvPr/>
        </p:nvSpPr>
        <p:spPr>
          <a:xfrm>
            <a:off x="609600" y="2343150"/>
            <a:ext cx="876300" cy="247650"/>
          </a:xfrm>
          <a:prstGeom prst="rect">
            <a:avLst/>
          </a:prstGeom>
        </p:spPr>
        <p:txBody>
          <a:bodyPr wrap="square" lIns="0" tIns="0" rIns="0" bIns="0" anchor="t">
            <a:normAutofit/>
          </a:bodyPr>
          <a:lstStyle/>
          <a:p>
            <a:pPr algn="ctr">
              <a:defRPr sz="1200" b="1">
                <a:solidFill>
                  <a:srgbClr val="8A959D"/>
                </a:solidFill>
                <a:latin typeface="Microsoft YaHei"/>
                <a:ea typeface="Microsoft YaHei"/>
                <a:cs typeface="Microsoft YaHei"/>
              </a:defRPr>
            </a:pPr>
            <a:r>
              <a:t>01</a:t>
            </a:r>
          </a:p>
        </p:txBody>
      </p:sp>
      <p:sp>
        <p:nvSpPr>
          <p:cNvPr id="8" name="矩形 7">
            <a:extLst>
              <a:ext uri="{FF2B5EF4-FFF2-40B4-BE49-F238E27FC236}">
                <a16:creationId xmlns:a16="http://schemas.microsoft.com/office/drawing/2014/main" id="{DC6F492E-A9DE-4C39-9688-64FE72C915EF}"/>
              </a:ext>
            </a:extLst>
          </p:cNvPr>
          <p:cNvSpPr>
            <a:spLocks noGrp="1"/>
          </p:cNvSpPr>
          <p:nvPr/>
        </p:nvSpPr>
        <p:spPr>
          <a:xfrm>
            <a:off x="19050" y="2686050"/>
            <a:ext cx="2057400" cy="361950"/>
          </a:xfrm>
          <a:prstGeom prst="rect">
            <a:avLst/>
          </a:prstGeom>
        </p:spPr>
        <p:txBody>
          <a:bodyPr wrap="square" lIns="0" tIns="0" rIns="0" bIns="0" anchor="t">
            <a:normAutofit/>
          </a:bodyPr>
          <a:lstStyle/>
          <a:p>
            <a:pPr algn="ctr">
              <a:defRPr sz="1800" b="1">
                <a:solidFill>
                  <a:srgbClr val="17232D"/>
                </a:solidFill>
                <a:latin typeface="Microsoft YaHei"/>
                <a:ea typeface="Microsoft YaHei"/>
                <a:cs typeface="Microsoft YaHei"/>
              </a:defRPr>
            </a:pPr>
            <a:r>
              <a:t>通用链路</a:t>
            </a:r>
          </a:p>
        </p:txBody>
      </p:sp>
      <p:sp>
        <p:nvSpPr>
          <p:cNvPr id="9" name="矩形 8">
            <a:extLst>
              <a:ext uri="{FF2B5EF4-FFF2-40B4-BE49-F238E27FC236}">
                <a16:creationId xmlns:a16="http://schemas.microsoft.com/office/drawing/2014/main" id="{38396E8E-2406-4576-A83B-1B7AF2A767A3}"/>
              </a:ext>
            </a:extLst>
          </p:cNvPr>
          <p:cNvSpPr>
            <a:spLocks noGrp="1"/>
          </p:cNvSpPr>
          <p:nvPr/>
        </p:nvSpPr>
        <p:spPr>
          <a:xfrm>
            <a:off x="-76200" y="3638550"/>
            <a:ext cx="2247900" cy="704850"/>
          </a:xfrm>
          <a:prstGeom prst="rect">
            <a:avLst/>
          </a:prstGeom>
        </p:spPr>
        <p:txBody>
          <a:bodyPr wrap="square" lIns="0" tIns="0" rIns="0" bIns="0" anchor="t">
            <a:normAutofit/>
          </a:bodyPr>
          <a:lstStyle/>
          <a:p>
            <a:pPr algn="ctr">
              <a:defRPr sz="1350" b="0">
                <a:solidFill>
                  <a:srgbClr val="5D6A74"/>
                </a:solidFill>
                <a:latin typeface="Microsoft YaHei"/>
                <a:ea typeface="Microsoft YaHei"/>
                <a:cs typeface="Microsoft YaHei"/>
              </a:defRPr>
            </a:pPr>
            <a:r>
              <a:t>GridWorld
Q-learning / DQN / REINFORCE</a:t>
            </a:r>
          </a:p>
        </p:txBody>
      </p:sp>
      <p:sp>
        <p:nvSpPr>
          <p:cNvPr id="10" name="椭圆 9">
            <a:extLst>
              <a:ext uri="{FF2B5EF4-FFF2-40B4-BE49-F238E27FC236}">
                <a16:creationId xmlns:a16="http://schemas.microsoft.com/office/drawing/2014/main" id="{8EB09AB7-CC0C-49CD-AAB8-60AAF55FF9EE}"/>
              </a:ext>
            </a:extLst>
          </p:cNvPr>
          <p:cNvSpPr>
            <a:spLocks noGrp="1"/>
          </p:cNvSpPr>
          <p:nvPr/>
        </p:nvSpPr>
        <p:spPr>
          <a:xfrm>
            <a:off x="3905250" y="3162300"/>
            <a:ext cx="190500" cy="190500"/>
          </a:xfrm>
          <a:prstGeom prst="ellipse">
            <a:avLst/>
          </a:prstGeom>
          <a:solidFill>
            <a:srgbClr val="17232D"/>
          </a:solidFill>
          <a:ln w="9525">
            <a:solidFill>
              <a:srgbClr val="17232D"/>
            </a:solidFill>
            <a:prstDash val="solid"/>
          </a:ln>
        </p:spPr>
      </p:sp>
      <p:sp>
        <p:nvSpPr>
          <p:cNvPr id="11" name="矩形 10">
            <a:extLst>
              <a:ext uri="{FF2B5EF4-FFF2-40B4-BE49-F238E27FC236}">
                <a16:creationId xmlns:a16="http://schemas.microsoft.com/office/drawing/2014/main" id="{5D18AA82-F34C-49AB-BA54-31FE04B0AD41}"/>
              </a:ext>
            </a:extLst>
          </p:cNvPr>
          <p:cNvSpPr>
            <a:spLocks noGrp="1"/>
          </p:cNvSpPr>
          <p:nvPr/>
        </p:nvSpPr>
        <p:spPr>
          <a:xfrm>
            <a:off x="3562350" y="2343150"/>
            <a:ext cx="876300" cy="247650"/>
          </a:xfrm>
          <a:prstGeom prst="rect">
            <a:avLst/>
          </a:prstGeom>
        </p:spPr>
        <p:txBody>
          <a:bodyPr wrap="square" lIns="0" tIns="0" rIns="0" bIns="0" anchor="t">
            <a:normAutofit/>
          </a:bodyPr>
          <a:lstStyle/>
          <a:p>
            <a:pPr algn="ctr">
              <a:defRPr sz="1200" b="1">
                <a:solidFill>
                  <a:srgbClr val="8A959D"/>
                </a:solidFill>
                <a:latin typeface="Microsoft YaHei"/>
                <a:ea typeface="Microsoft YaHei"/>
                <a:cs typeface="Microsoft YaHei"/>
              </a:defRPr>
            </a:pPr>
            <a:r>
              <a:t>02</a:t>
            </a:r>
          </a:p>
        </p:txBody>
      </p:sp>
      <p:sp>
        <p:nvSpPr>
          <p:cNvPr id="12" name="矩形 11">
            <a:extLst>
              <a:ext uri="{FF2B5EF4-FFF2-40B4-BE49-F238E27FC236}">
                <a16:creationId xmlns:a16="http://schemas.microsoft.com/office/drawing/2014/main" id="{295EF082-53B8-4C98-ADED-2783C956CB4C}"/>
              </a:ext>
            </a:extLst>
          </p:cNvPr>
          <p:cNvSpPr>
            <a:spLocks noGrp="1"/>
          </p:cNvSpPr>
          <p:nvPr/>
        </p:nvSpPr>
        <p:spPr>
          <a:xfrm>
            <a:off x="2971800" y="2686050"/>
            <a:ext cx="2057400" cy="361950"/>
          </a:xfrm>
          <a:prstGeom prst="rect">
            <a:avLst/>
          </a:prstGeom>
        </p:spPr>
        <p:txBody>
          <a:bodyPr wrap="square" lIns="0" tIns="0" rIns="0" bIns="0" anchor="t">
            <a:normAutofit/>
          </a:bodyPr>
          <a:lstStyle/>
          <a:p>
            <a:pPr algn="ctr">
              <a:defRPr sz="1800" b="1">
                <a:solidFill>
                  <a:srgbClr val="17232D"/>
                </a:solidFill>
                <a:latin typeface="Microsoft YaHei"/>
                <a:ea typeface="Microsoft YaHei"/>
                <a:cs typeface="Microsoft YaHei"/>
              </a:defRPr>
            </a:pPr>
            <a:r>
              <a:t>任务环境</a:t>
            </a:r>
          </a:p>
        </p:txBody>
      </p:sp>
      <p:sp>
        <p:nvSpPr>
          <p:cNvPr id="13" name="矩形 12">
            <a:extLst>
              <a:ext uri="{FF2B5EF4-FFF2-40B4-BE49-F238E27FC236}">
                <a16:creationId xmlns:a16="http://schemas.microsoft.com/office/drawing/2014/main" id="{0D57636A-9AF5-4120-BFAE-C9893C86D207}"/>
              </a:ext>
            </a:extLst>
          </p:cNvPr>
          <p:cNvSpPr>
            <a:spLocks noGrp="1"/>
          </p:cNvSpPr>
          <p:nvPr/>
        </p:nvSpPr>
        <p:spPr>
          <a:xfrm>
            <a:off x="2876550" y="3638550"/>
            <a:ext cx="2247900" cy="704850"/>
          </a:xfrm>
          <a:prstGeom prst="rect">
            <a:avLst/>
          </a:prstGeom>
        </p:spPr>
        <p:txBody>
          <a:bodyPr wrap="square" lIns="0" tIns="0" rIns="0" bIns="0" anchor="t">
            <a:normAutofit/>
          </a:bodyPr>
          <a:lstStyle/>
          <a:p>
            <a:pPr algn="ctr">
              <a:defRPr sz="1350" b="0">
                <a:solidFill>
                  <a:srgbClr val="5D6A74"/>
                </a:solidFill>
                <a:latin typeface="Microsoft YaHei"/>
                <a:ea typeface="Microsoft YaHei"/>
                <a:cs typeface="Microsoft YaHei"/>
              </a:defRPr>
            </a:pPr>
            <a:r>
              <a:t>AirDefense v0 → v1.0
统一 Gymnasium 接口</a:t>
            </a:r>
          </a:p>
        </p:txBody>
      </p:sp>
      <p:sp>
        <p:nvSpPr>
          <p:cNvPr id="14" name="椭圆 13">
            <a:extLst>
              <a:ext uri="{FF2B5EF4-FFF2-40B4-BE49-F238E27FC236}">
                <a16:creationId xmlns:a16="http://schemas.microsoft.com/office/drawing/2014/main" id="{A34C602D-D642-4BFB-A4E9-DEF549A20B27}"/>
              </a:ext>
            </a:extLst>
          </p:cNvPr>
          <p:cNvSpPr>
            <a:spLocks noGrp="1"/>
          </p:cNvSpPr>
          <p:nvPr/>
        </p:nvSpPr>
        <p:spPr>
          <a:xfrm>
            <a:off x="6858000" y="3162300"/>
            <a:ext cx="190500" cy="190500"/>
          </a:xfrm>
          <a:prstGeom prst="ellipse">
            <a:avLst/>
          </a:prstGeom>
          <a:solidFill>
            <a:srgbClr val="17232D"/>
          </a:solidFill>
          <a:ln w="9525">
            <a:solidFill>
              <a:srgbClr val="17232D"/>
            </a:solidFill>
            <a:prstDash val="solid"/>
          </a:ln>
        </p:spPr>
      </p:sp>
      <p:sp>
        <p:nvSpPr>
          <p:cNvPr id="15" name="矩形 14">
            <a:extLst>
              <a:ext uri="{FF2B5EF4-FFF2-40B4-BE49-F238E27FC236}">
                <a16:creationId xmlns:a16="http://schemas.microsoft.com/office/drawing/2014/main" id="{4C4B677C-02A4-452E-B3CF-495166A3631F}"/>
              </a:ext>
            </a:extLst>
          </p:cNvPr>
          <p:cNvSpPr>
            <a:spLocks noGrp="1"/>
          </p:cNvSpPr>
          <p:nvPr/>
        </p:nvSpPr>
        <p:spPr>
          <a:xfrm>
            <a:off x="6515100" y="2343150"/>
            <a:ext cx="876300" cy="247650"/>
          </a:xfrm>
          <a:prstGeom prst="rect">
            <a:avLst/>
          </a:prstGeom>
        </p:spPr>
        <p:txBody>
          <a:bodyPr wrap="square" lIns="0" tIns="0" rIns="0" bIns="0" anchor="t">
            <a:normAutofit/>
          </a:bodyPr>
          <a:lstStyle/>
          <a:p>
            <a:pPr algn="ctr">
              <a:defRPr sz="1200" b="1">
                <a:solidFill>
                  <a:srgbClr val="8A959D"/>
                </a:solidFill>
                <a:latin typeface="Microsoft YaHei"/>
                <a:ea typeface="Microsoft YaHei"/>
                <a:cs typeface="Microsoft YaHei"/>
              </a:defRPr>
            </a:pPr>
            <a:r>
              <a:t>03</a:t>
            </a:r>
          </a:p>
        </p:txBody>
      </p:sp>
      <p:sp>
        <p:nvSpPr>
          <p:cNvPr id="16" name="矩形 15">
            <a:extLst>
              <a:ext uri="{FF2B5EF4-FFF2-40B4-BE49-F238E27FC236}">
                <a16:creationId xmlns:a16="http://schemas.microsoft.com/office/drawing/2014/main" id="{CA6B8F16-FDED-4EF8-BBC6-EE20AF5E7EDF}"/>
              </a:ext>
            </a:extLst>
          </p:cNvPr>
          <p:cNvSpPr>
            <a:spLocks noGrp="1"/>
          </p:cNvSpPr>
          <p:nvPr/>
        </p:nvSpPr>
        <p:spPr>
          <a:xfrm>
            <a:off x="5924550" y="2686050"/>
            <a:ext cx="2057400" cy="361950"/>
          </a:xfrm>
          <a:prstGeom prst="rect">
            <a:avLst/>
          </a:prstGeom>
        </p:spPr>
        <p:txBody>
          <a:bodyPr wrap="square" lIns="0" tIns="0" rIns="0" bIns="0" anchor="t">
            <a:normAutofit/>
          </a:bodyPr>
          <a:lstStyle/>
          <a:p>
            <a:pPr algn="ctr">
              <a:defRPr sz="1800" b="1">
                <a:solidFill>
                  <a:srgbClr val="17232D"/>
                </a:solidFill>
                <a:latin typeface="Microsoft YaHei"/>
                <a:ea typeface="Microsoft YaHei"/>
                <a:cs typeface="Microsoft YaHei"/>
              </a:defRPr>
            </a:pPr>
            <a:r>
              <a:t>基线体系</a:t>
            </a:r>
          </a:p>
        </p:txBody>
      </p:sp>
      <p:sp>
        <p:nvSpPr>
          <p:cNvPr id="17" name="矩形 16">
            <a:extLst>
              <a:ext uri="{FF2B5EF4-FFF2-40B4-BE49-F238E27FC236}">
                <a16:creationId xmlns:a16="http://schemas.microsoft.com/office/drawing/2014/main" id="{18E09AE0-ABE9-4494-8BB8-A1526039C530}"/>
              </a:ext>
            </a:extLst>
          </p:cNvPr>
          <p:cNvSpPr>
            <a:spLocks noGrp="1"/>
          </p:cNvSpPr>
          <p:nvPr/>
        </p:nvSpPr>
        <p:spPr>
          <a:xfrm>
            <a:off x="5829300" y="3638550"/>
            <a:ext cx="2247900" cy="704850"/>
          </a:xfrm>
          <a:prstGeom prst="rect">
            <a:avLst/>
          </a:prstGeom>
        </p:spPr>
        <p:txBody>
          <a:bodyPr wrap="square" lIns="0" tIns="0" rIns="0" bIns="0" anchor="t">
            <a:normAutofit/>
          </a:bodyPr>
          <a:lstStyle/>
          <a:p>
            <a:pPr algn="ctr">
              <a:defRPr sz="1350" b="0">
                <a:solidFill>
                  <a:srgbClr val="5D6A74"/>
                </a:solidFill>
                <a:latin typeface="Microsoft YaHei"/>
                <a:ea typeface="Microsoft YaHei"/>
                <a:cs typeface="Microsoft YaHei"/>
              </a:defRPr>
            </a:pPr>
            <a:r>
              <a:t>5 种规则策略
PPO / Maskable PPO</a:t>
            </a:r>
          </a:p>
        </p:txBody>
      </p:sp>
      <p:sp>
        <p:nvSpPr>
          <p:cNvPr id="18" name="椭圆 17">
            <a:extLst>
              <a:ext uri="{FF2B5EF4-FFF2-40B4-BE49-F238E27FC236}">
                <a16:creationId xmlns:a16="http://schemas.microsoft.com/office/drawing/2014/main" id="{EDD44F6B-D6AA-495E-940A-6A8C6ED37F10}"/>
              </a:ext>
            </a:extLst>
          </p:cNvPr>
          <p:cNvSpPr>
            <a:spLocks noGrp="1"/>
          </p:cNvSpPr>
          <p:nvPr/>
        </p:nvSpPr>
        <p:spPr>
          <a:xfrm>
            <a:off x="9810750" y="3162300"/>
            <a:ext cx="190500" cy="190500"/>
          </a:xfrm>
          <a:prstGeom prst="ellipse">
            <a:avLst/>
          </a:prstGeom>
          <a:solidFill>
            <a:srgbClr val="1E5AA8"/>
          </a:solidFill>
          <a:ln w="9525">
            <a:solidFill>
              <a:srgbClr val="1E5AA8"/>
            </a:solidFill>
            <a:prstDash val="solid"/>
          </a:ln>
        </p:spPr>
      </p:sp>
      <p:sp>
        <p:nvSpPr>
          <p:cNvPr id="19" name="矩形 18">
            <a:extLst>
              <a:ext uri="{FF2B5EF4-FFF2-40B4-BE49-F238E27FC236}">
                <a16:creationId xmlns:a16="http://schemas.microsoft.com/office/drawing/2014/main" id="{CC7073A2-9B58-40DA-A951-41778BA213BE}"/>
              </a:ext>
            </a:extLst>
          </p:cNvPr>
          <p:cNvSpPr>
            <a:spLocks noGrp="1"/>
          </p:cNvSpPr>
          <p:nvPr/>
        </p:nvSpPr>
        <p:spPr>
          <a:xfrm>
            <a:off x="9467850" y="2343150"/>
            <a:ext cx="876300" cy="247650"/>
          </a:xfrm>
          <a:prstGeom prst="rect">
            <a:avLst/>
          </a:prstGeom>
        </p:spPr>
        <p:txBody>
          <a:bodyPr wrap="square" lIns="0" tIns="0" rIns="0" bIns="0" anchor="t">
            <a:normAutofit/>
          </a:bodyPr>
          <a:lstStyle/>
          <a:p>
            <a:pPr algn="ctr">
              <a:defRPr sz="1200" b="1">
                <a:solidFill>
                  <a:srgbClr val="8A959D"/>
                </a:solidFill>
                <a:latin typeface="Microsoft YaHei"/>
                <a:ea typeface="Microsoft YaHei"/>
                <a:cs typeface="Microsoft YaHei"/>
              </a:defRPr>
            </a:pPr>
            <a:r>
              <a:t>04</a:t>
            </a:r>
          </a:p>
        </p:txBody>
      </p:sp>
      <p:sp>
        <p:nvSpPr>
          <p:cNvPr id="20" name="矩形 19">
            <a:extLst>
              <a:ext uri="{FF2B5EF4-FFF2-40B4-BE49-F238E27FC236}">
                <a16:creationId xmlns:a16="http://schemas.microsoft.com/office/drawing/2014/main" id="{07DB4BB5-E5AE-488E-A53F-114CA9EF3B9D}"/>
              </a:ext>
            </a:extLst>
          </p:cNvPr>
          <p:cNvSpPr>
            <a:spLocks noGrp="1"/>
          </p:cNvSpPr>
          <p:nvPr/>
        </p:nvSpPr>
        <p:spPr>
          <a:xfrm>
            <a:off x="8877300" y="2686050"/>
            <a:ext cx="2057400" cy="361950"/>
          </a:xfrm>
          <a:prstGeom prst="rect">
            <a:avLst/>
          </a:prstGeom>
        </p:spPr>
        <p:txBody>
          <a:bodyPr wrap="square" lIns="0" tIns="0" rIns="0" bIns="0" anchor="t">
            <a:normAutofit/>
          </a:bodyPr>
          <a:lstStyle/>
          <a:p>
            <a:pPr algn="ctr">
              <a:defRPr sz="1800" b="1">
                <a:solidFill>
                  <a:srgbClr val="17232D"/>
                </a:solidFill>
                <a:latin typeface="Microsoft YaHei"/>
                <a:ea typeface="Microsoft YaHei"/>
                <a:cs typeface="Microsoft YaHei"/>
              </a:defRPr>
            </a:pPr>
            <a:r>
              <a:t>正式实验</a:t>
            </a:r>
          </a:p>
        </p:txBody>
      </p:sp>
      <p:sp>
        <p:nvSpPr>
          <p:cNvPr id="21" name="矩形 20">
            <a:extLst>
              <a:ext uri="{FF2B5EF4-FFF2-40B4-BE49-F238E27FC236}">
                <a16:creationId xmlns:a16="http://schemas.microsoft.com/office/drawing/2014/main" id="{E86C3E13-0A5A-4040-B0D8-F5D361AB3C89}"/>
              </a:ext>
            </a:extLst>
          </p:cNvPr>
          <p:cNvSpPr>
            <a:spLocks noGrp="1"/>
          </p:cNvSpPr>
          <p:nvPr/>
        </p:nvSpPr>
        <p:spPr>
          <a:xfrm>
            <a:off x="8782050" y="3638550"/>
            <a:ext cx="2247900" cy="704850"/>
          </a:xfrm>
          <a:prstGeom prst="rect">
            <a:avLst/>
          </a:prstGeom>
        </p:spPr>
        <p:txBody>
          <a:bodyPr wrap="square" lIns="0" tIns="0" rIns="0" bIns="0" anchor="t">
            <a:normAutofit/>
          </a:bodyPr>
          <a:lstStyle/>
          <a:p>
            <a:pPr algn="ctr">
              <a:defRPr sz="1350" b="0">
                <a:solidFill>
                  <a:srgbClr val="5D6A74"/>
                </a:solidFill>
                <a:latin typeface="Microsoft YaHei"/>
                <a:ea typeface="Microsoft YaHei"/>
                <a:cs typeface="Microsoft YaHei"/>
              </a:defRPr>
            </a:pPr>
            <a:r>
              <a:t>5 seeds + 95% CI
配置、模型与日志留档</a:t>
            </a:r>
          </a:p>
        </p:txBody>
      </p:sp>
      <p:sp>
        <p:nvSpPr>
          <p:cNvPr id="22" name="矩形: 圆角 21">
            <a:extLst>
              <a:ext uri="{FF2B5EF4-FFF2-40B4-BE49-F238E27FC236}">
                <a16:creationId xmlns:a16="http://schemas.microsoft.com/office/drawing/2014/main" id="{830CC7E4-15EB-40A3-9F22-E73160B80B79}"/>
              </a:ext>
            </a:extLst>
          </p:cNvPr>
          <p:cNvSpPr>
            <a:spLocks noGrp="1"/>
          </p:cNvSpPr>
          <p:nvPr/>
        </p:nvSpPr>
        <p:spPr>
          <a:xfrm>
            <a:off x="457200" y="4857750"/>
            <a:ext cx="11277600" cy="1066800"/>
          </a:xfrm>
          <a:prstGeom prst="roundRect">
            <a:avLst>
              <a:gd name="adj" fmla="val 7143"/>
            </a:avLst>
          </a:prstGeom>
          <a:solidFill>
            <a:srgbClr val="DFEAF6"/>
          </a:solidFill>
          <a:ln w="9525">
            <a:solidFill>
              <a:srgbClr val="DFEAF6"/>
            </a:solidFill>
            <a:prstDash val="solid"/>
          </a:ln>
        </p:spPr>
      </p:sp>
      <p:sp>
        <p:nvSpPr>
          <p:cNvPr id="23" name="矩形 22">
            <a:extLst>
              <a:ext uri="{FF2B5EF4-FFF2-40B4-BE49-F238E27FC236}">
                <a16:creationId xmlns:a16="http://schemas.microsoft.com/office/drawing/2014/main" id="{E058EF49-5B1F-4C8B-B2F5-51251B2DE886}"/>
              </a:ext>
            </a:extLst>
          </p:cNvPr>
          <p:cNvSpPr>
            <a:spLocks noGrp="1"/>
          </p:cNvSpPr>
          <p:nvPr/>
        </p:nvSpPr>
        <p:spPr>
          <a:xfrm>
            <a:off x="704850" y="5105400"/>
            <a:ext cx="2190750" cy="323850"/>
          </a:xfrm>
          <a:prstGeom prst="rect">
            <a:avLst/>
          </a:prstGeom>
        </p:spPr>
        <p:txBody>
          <a:bodyPr wrap="square" lIns="0" tIns="0" rIns="0" bIns="0" anchor="t">
            <a:normAutofit/>
          </a:bodyPr>
          <a:lstStyle/>
          <a:p>
            <a:pPr algn="l">
              <a:defRPr sz="1725" b="1">
                <a:solidFill>
                  <a:srgbClr val="1E5AA8"/>
                </a:solidFill>
                <a:latin typeface="Microsoft YaHei"/>
                <a:ea typeface="Microsoft YaHei"/>
                <a:cs typeface="Microsoft YaHei"/>
              </a:defRPr>
            </a:pPr>
            <a:r>
              <a:t>研究平台可复现性</a:t>
            </a:r>
          </a:p>
        </p:txBody>
      </p:sp>
      <p:sp>
        <p:nvSpPr>
          <p:cNvPr id="24" name="矩形 23">
            <a:extLst>
              <a:ext uri="{FF2B5EF4-FFF2-40B4-BE49-F238E27FC236}">
                <a16:creationId xmlns:a16="http://schemas.microsoft.com/office/drawing/2014/main" id="{185748CB-7ED9-49AE-AB31-858A2A179444}"/>
              </a:ext>
            </a:extLst>
          </p:cNvPr>
          <p:cNvSpPr>
            <a:spLocks noGrp="1"/>
          </p:cNvSpPr>
          <p:nvPr/>
        </p:nvSpPr>
        <p:spPr>
          <a:xfrm>
            <a:off x="3352800" y="5010150"/>
            <a:ext cx="1619250" cy="457200"/>
          </a:xfrm>
          <a:prstGeom prst="rect">
            <a:avLst/>
          </a:prstGeom>
        </p:spPr>
        <p:txBody>
          <a:bodyPr wrap="square" lIns="0" tIns="0" rIns="0" bIns="0" anchor="t">
            <a:normAutofit fontScale="94499"/>
          </a:bodyPr>
          <a:lstStyle/>
          <a:p>
            <a:pPr algn="l">
              <a:defRPr sz="2700" b="1">
                <a:solidFill>
                  <a:srgbClr val="17232D"/>
                </a:solidFill>
                <a:latin typeface="Microsoft YaHei"/>
                <a:ea typeface="Microsoft YaHei"/>
                <a:cs typeface="Microsoft YaHei"/>
              </a:defRPr>
            </a:pPr>
            <a:r>
              <a:t>54 passed</a:t>
            </a:r>
          </a:p>
        </p:txBody>
      </p:sp>
      <p:sp>
        <p:nvSpPr>
          <p:cNvPr id="25" name="矩形 24">
            <a:extLst>
              <a:ext uri="{FF2B5EF4-FFF2-40B4-BE49-F238E27FC236}">
                <a16:creationId xmlns:a16="http://schemas.microsoft.com/office/drawing/2014/main" id="{A2DB74BA-13B0-4208-8A28-265649612A33}"/>
              </a:ext>
            </a:extLst>
          </p:cNvPr>
          <p:cNvSpPr>
            <a:spLocks noGrp="1"/>
          </p:cNvSpPr>
          <p:nvPr/>
        </p:nvSpPr>
        <p:spPr>
          <a:xfrm>
            <a:off x="5257800" y="5143500"/>
            <a:ext cx="5905500" cy="323850"/>
          </a:xfrm>
          <a:prstGeom prst="rect">
            <a:avLst/>
          </a:prstGeom>
        </p:spPr>
        <p:txBody>
          <a:bodyPr wrap="square" lIns="0" tIns="0" rIns="0" bIns="0" anchor="t">
            <a:normAutofit fontScale="99687"/>
          </a:bodyPr>
          <a:lstStyle/>
          <a:p>
            <a:pPr algn="l">
              <a:defRPr sz="1500" b="0">
                <a:solidFill>
                  <a:srgbClr val="17232D"/>
                </a:solidFill>
                <a:latin typeface="Microsoft YaHei"/>
                <a:ea typeface="Microsoft YaHei"/>
                <a:cs typeface="Microsoft YaHei"/>
              </a:defRPr>
            </a:pPr>
            <a:r>
              <a:t>自动保存模型 · TensorBoard · 环境配置 · 软件版本 · 训练曲线 · 汇总表</a:t>
            </a:r>
          </a:p>
        </p:txBody>
      </p:sp>
    </p:spTree>
    <p:extLst>
      <p:ext uri="{BB962C8B-B14F-4D97-AF65-F5344CB8AC3E}">
        <p14:creationId xmlns:p14="http://schemas.microsoft.com/office/powerpoint/2010/main" val="1965067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322DB8D-CF55-4CBC-B701-5DA2365490C4}"/>
              </a:ext>
            </a:extLst>
          </p:cNvPr>
          <p:cNvSpPr>
            <a:spLocks noGrp="1"/>
          </p:cNvSpPr>
          <p:nvPr/>
        </p:nvSpPr>
        <p:spPr>
          <a:xfrm>
            <a:off x="457200" y="285750"/>
            <a:ext cx="3143250" cy="209550"/>
          </a:xfrm>
          <a:prstGeom prst="rect">
            <a:avLst/>
          </a:prstGeom>
        </p:spPr>
        <p:txBody>
          <a:bodyPr wrap="square" lIns="0" tIns="0" rIns="0" bIns="0" anchor="t">
            <a:normAutofit/>
          </a:bodyPr>
          <a:lstStyle/>
          <a:p>
            <a:pPr algn="l">
              <a:defRPr sz="1125" b="1">
                <a:solidFill>
                  <a:srgbClr val="1E5AA8"/>
                </a:solidFill>
                <a:latin typeface="Microsoft YaHei"/>
                <a:ea typeface="Microsoft YaHei"/>
                <a:cs typeface="Microsoft YaHei"/>
              </a:defRPr>
            </a:pPr>
            <a:r>
              <a:t>EXPERIMENT</a:t>
            </a:r>
          </a:p>
        </p:txBody>
      </p:sp>
      <p:sp>
        <p:nvSpPr>
          <p:cNvPr id="2" name="矩形 1">
            <a:extLst>
              <a:ext uri="{FF2B5EF4-FFF2-40B4-BE49-F238E27FC236}">
                <a16:creationId xmlns:a16="http://schemas.microsoft.com/office/drawing/2014/main" id="{FA65A25A-88FB-4056-8409-10ED6C6225AC}"/>
              </a:ext>
            </a:extLst>
          </p:cNvPr>
          <p:cNvSpPr>
            <a:spLocks noGrp="1"/>
          </p:cNvSpPr>
          <p:nvPr/>
        </p:nvSpPr>
        <p:spPr>
          <a:xfrm>
            <a:off x="457200" y="552450"/>
            <a:ext cx="11049000" cy="571500"/>
          </a:xfrm>
          <a:prstGeom prst="rect">
            <a:avLst/>
          </a:prstGeom>
        </p:spPr>
        <p:txBody>
          <a:bodyPr wrap="square" lIns="0" tIns="0" rIns="0" bIns="0" anchor="t">
            <a:normAutofit/>
          </a:bodyPr>
          <a:lstStyle/>
          <a:p>
            <a:pPr algn="l">
              <a:defRPr sz="3450" b="1">
                <a:solidFill>
                  <a:srgbClr val="17232D"/>
                </a:solidFill>
                <a:latin typeface="Microsoft YaHei"/>
                <a:ea typeface="Microsoft YaHei"/>
                <a:cs typeface="Microsoft YaHei"/>
              </a:defRPr>
            </a:pPr>
            <a:r>
              <a:t>正式实验协议：多种子、配对场景与置信区间</a:t>
            </a:r>
          </a:p>
        </p:txBody>
      </p:sp>
      <p:cxnSp>
        <p:nvCxnSpPr>
          <p:cNvPr id="34" name="直接箭头连接符 33"/>
          <p:cNvCxnSpPr/>
          <p:nvPr/>
        </p:nvCxnSpPr>
        <p:spPr>
          <a:xfrm>
            <a:off x="457200" y="1200150"/>
            <a:ext cx="11277600" cy="95"/>
          </a:xfrm>
          <a:prstGeom prst="straightConnector1">
            <a:avLst/>
          </a:prstGeom>
          <a:ln w="9525">
            <a:solidFill>
              <a:srgbClr val="D8DFE4"/>
            </a:solidFill>
            <a:prstDash val="solid"/>
          </a:ln>
        </p:spPr>
      </p:cxnSp>
      <p:sp>
        <p:nvSpPr>
          <p:cNvPr id="4" name="矩形 3">
            <a:extLst>
              <a:ext uri="{FF2B5EF4-FFF2-40B4-BE49-F238E27FC236}">
                <a16:creationId xmlns:a16="http://schemas.microsoft.com/office/drawing/2014/main" id="{73D1F9ED-09BA-46AB-B254-0A708331A61F}"/>
              </a:ext>
            </a:extLst>
          </p:cNvPr>
          <p:cNvSpPr>
            <a:spLocks noGrp="1"/>
          </p:cNvSpPr>
          <p:nvPr/>
        </p:nvSpPr>
        <p:spPr>
          <a:xfrm>
            <a:off x="11239500" y="6448425"/>
            <a:ext cx="495300" cy="171450"/>
          </a:xfrm>
          <a:prstGeom prst="rect">
            <a:avLst/>
          </a:prstGeom>
        </p:spPr>
        <p:txBody>
          <a:bodyPr wrap="square" lIns="0" tIns="0" rIns="0" bIns="0" anchor="t">
            <a:normAutofit/>
          </a:bodyPr>
          <a:lstStyle/>
          <a:p>
            <a:pPr algn="r">
              <a:defRPr sz="975" b="0">
                <a:solidFill>
                  <a:srgbClr val="8A959D"/>
                </a:solidFill>
                <a:latin typeface="Microsoft YaHei"/>
                <a:ea typeface="Microsoft YaHei"/>
                <a:cs typeface="Microsoft YaHei"/>
              </a:defRPr>
            </a:pPr>
            <a:r>
              <a:t>07</a:t>
            </a:r>
          </a:p>
        </p:txBody>
      </p:sp>
      <p:cxnSp>
        <p:nvCxnSpPr>
          <p:cNvPr id="36" name="直接箭头连接符 35"/>
          <p:cNvCxnSpPr/>
          <p:nvPr/>
        </p:nvCxnSpPr>
        <p:spPr>
          <a:xfrm>
            <a:off x="2762250" y="2667000"/>
            <a:ext cx="419100" cy="95"/>
          </a:xfrm>
          <a:prstGeom prst="straightConnector1">
            <a:avLst/>
          </a:prstGeom>
          <a:ln w="19050">
            <a:solidFill>
              <a:srgbClr val="D8DFE4"/>
            </a:solidFill>
            <a:prstDash val="solid"/>
          </a:ln>
        </p:spPr>
      </p:cxnSp>
      <p:sp>
        <p:nvSpPr>
          <p:cNvPr id="6" name="矩形 5">
            <a:extLst>
              <a:ext uri="{FF2B5EF4-FFF2-40B4-BE49-F238E27FC236}">
                <a16:creationId xmlns:a16="http://schemas.microsoft.com/office/drawing/2014/main" id="{6057CDF2-B96E-488F-B2CE-EAB35BBC6595}"/>
              </a:ext>
            </a:extLst>
          </p:cNvPr>
          <p:cNvSpPr>
            <a:spLocks noGrp="1"/>
          </p:cNvSpPr>
          <p:nvPr/>
        </p:nvSpPr>
        <p:spPr>
          <a:xfrm>
            <a:off x="457200" y="1619250"/>
            <a:ext cx="514350" cy="285750"/>
          </a:xfrm>
          <a:prstGeom prst="rect">
            <a:avLst/>
          </a:prstGeom>
        </p:spPr>
        <p:txBody>
          <a:bodyPr wrap="square" lIns="0" tIns="0" rIns="0" bIns="0" anchor="t">
            <a:normAutofit/>
          </a:bodyPr>
          <a:lstStyle/>
          <a:p>
            <a:pPr algn="l">
              <a:defRPr sz="1275" b="1">
                <a:solidFill>
                  <a:srgbClr val="1E5AA8"/>
                </a:solidFill>
                <a:latin typeface="Microsoft YaHei"/>
                <a:ea typeface="Microsoft YaHei"/>
                <a:cs typeface="Microsoft YaHei"/>
              </a:defRPr>
            </a:pPr>
            <a:r>
              <a:t>01</a:t>
            </a:r>
          </a:p>
        </p:txBody>
      </p:sp>
      <p:sp>
        <p:nvSpPr>
          <p:cNvPr id="7" name="矩形 6">
            <a:extLst>
              <a:ext uri="{FF2B5EF4-FFF2-40B4-BE49-F238E27FC236}">
                <a16:creationId xmlns:a16="http://schemas.microsoft.com/office/drawing/2014/main" id="{42EEACFE-8700-4007-8620-F69BA3571039}"/>
              </a:ext>
            </a:extLst>
          </p:cNvPr>
          <p:cNvSpPr>
            <a:spLocks noGrp="1"/>
          </p:cNvSpPr>
          <p:nvPr/>
        </p:nvSpPr>
        <p:spPr>
          <a:xfrm>
            <a:off x="457200" y="1981200"/>
            <a:ext cx="2190750" cy="381000"/>
          </a:xfrm>
          <a:prstGeom prst="rect">
            <a:avLst/>
          </a:prstGeom>
        </p:spPr>
        <p:txBody>
          <a:bodyPr wrap="square" lIns="0" tIns="0" rIns="0" bIns="0" anchor="t">
            <a:normAutofit/>
          </a:bodyPr>
          <a:lstStyle/>
          <a:p>
            <a:pPr algn="l">
              <a:defRPr sz="1950" b="1">
                <a:solidFill>
                  <a:srgbClr val="17232D"/>
                </a:solidFill>
                <a:latin typeface="Microsoft YaHei"/>
                <a:ea typeface="Microsoft YaHei"/>
                <a:cs typeface="Microsoft YaHei"/>
              </a:defRPr>
            </a:pPr>
            <a:r>
              <a:t>训练</a:t>
            </a:r>
          </a:p>
        </p:txBody>
      </p:sp>
      <p:cxnSp>
        <p:nvCxnSpPr>
          <p:cNvPr id="39" name="直接箭头连接符 38"/>
          <p:cNvCxnSpPr/>
          <p:nvPr/>
        </p:nvCxnSpPr>
        <p:spPr>
          <a:xfrm>
            <a:off x="457200" y="2514600"/>
            <a:ext cx="2190750" cy="95"/>
          </a:xfrm>
          <a:prstGeom prst="straightConnector1">
            <a:avLst/>
          </a:prstGeom>
          <a:ln w="38100">
            <a:solidFill>
              <a:srgbClr val="1E5AA8"/>
            </a:solidFill>
            <a:prstDash val="solid"/>
          </a:ln>
        </p:spPr>
      </p:cxnSp>
      <p:sp>
        <p:nvSpPr>
          <p:cNvPr id="9" name="矩形 8">
            <a:extLst>
              <a:ext uri="{FF2B5EF4-FFF2-40B4-BE49-F238E27FC236}">
                <a16:creationId xmlns:a16="http://schemas.microsoft.com/office/drawing/2014/main" id="{69208243-EFE4-41B3-919D-75906FD24B9A}"/>
              </a:ext>
            </a:extLst>
          </p:cNvPr>
          <p:cNvSpPr>
            <a:spLocks noGrp="1"/>
          </p:cNvSpPr>
          <p:nvPr/>
        </p:nvSpPr>
        <p:spPr>
          <a:xfrm>
            <a:off x="457200" y="2781300"/>
            <a:ext cx="2190750" cy="685800"/>
          </a:xfrm>
          <a:prstGeom prst="rect">
            <a:avLst/>
          </a:prstGeom>
        </p:spPr>
        <p:txBody>
          <a:bodyPr wrap="square" lIns="0" tIns="0" rIns="0" bIns="0" anchor="t">
            <a:normAutofit/>
          </a:bodyPr>
          <a:lstStyle/>
          <a:p>
            <a:pPr algn="l">
              <a:defRPr sz="1425" b="0">
                <a:solidFill>
                  <a:srgbClr val="5D6A74"/>
                </a:solidFill>
                <a:latin typeface="Microsoft YaHei"/>
                <a:ea typeface="Microsoft YaHei"/>
                <a:cs typeface="Microsoft YaHei"/>
              </a:defRPr>
            </a:pPr>
            <a:r>
              <a:t>5 个随机种子
100,000 步 / 模型</a:t>
            </a:r>
          </a:p>
        </p:txBody>
      </p:sp>
      <p:cxnSp>
        <p:nvCxnSpPr>
          <p:cNvPr id="41" name="直接箭头连接符 40"/>
          <p:cNvCxnSpPr/>
          <p:nvPr/>
        </p:nvCxnSpPr>
        <p:spPr>
          <a:xfrm>
            <a:off x="5562600" y="2667000"/>
            <a:ext cx="419100" cy="95"/>
          </a:xfrm>
          <a:prstGeom prst="straightConnector1">
            <a:avLst/>
          </a:prstGeom>
          <a:ln w="19050">
            <a:solidFill>
              <a:srgbClr val="D8DFE4"/>
            </a:solidFill>
            <a:prstDash val="solid"/>
          </a:ln>
        </p:spPr>
      </p:cxnSp>
      <p:sp>
        <p:nvSpPr>
          <p:cNvPr id="11" name="矩形 10">
            <a:extLst>
              <a:ext uri="{FF2B5EF4-FFF2-40B4-BE49-F238E27FC236}">
                <a16:creationId xmlns:a16="http://schemas.microsoft.com/office/drawing/2014/main" id="{6A0C9563-C8AB-40DA-AFFE-EF03122420CE}"/>
              </a:ext>
            </a:extLst>
          </p:cNvPr>
          <p:cNvSpPr>
            <a:spLocks noGrp="1"/>
          </p:cNvSpPr>
          <p:nvPr/>
        </p:nvSpPr>
        <p:spPr>
          <a:xfrm>
            <a:off x="3257550" y="1619250"/>
            <a:ext cx="514350" cy="285750"/>
          </a:xfrm>
          <a:prstGeom prst="rect">
            <a:avLst/>
          </a:prstGeom>
        </p:spPr>
        <p:txBody>
          <a:bodyPr wrap="square" lIns="0" tIns="0" rIns="0" bIns="0" anchor="t">
            <a:normAutofit/>
          </a:bodyPr>
          <a:lstStyle/>
          <a:p>
            <a:pPr algn="l">
              <a:defRPr sz="1275" b="1">
                <a:solidFill>
                  <a:srgbClr val="1E5AA8"/>
                </a:solidFill>
                <a:latin typeface="Microsoft YaHei"/>
                <a:ea typeface="Microsoft YaHei"/>
                <a:cs typeface="Microsoft YaHei"/>
              </a:defRPr>
            </a:pPr>
            <a:r>
              <a:t>02</a:t>
            </a:r>
          </a:p>
        </p:txBody>
      </p:sp>
      <p:sp>
        <p:nvSpPr>
          <p:cNvPr id="12" name="矩形 11">
            <a:extLst>
              <a:ext uri="{FF2B5EF4-FFF2-40B4-BE49-F238E27FC236}">
                <a16:creationId xmlns:a16="http://schemas.microsoft.com/office/drawing/2014/main" id="{B282D05E-3F3B-4E6D-9CE0-9D02365B6806}"/>
              </a:ext>
            </a:extLst>
          </p:cNvPr>
          <p:cNvSpPr>
            <a:spLocks noGrp="1"/>
          </p:cNvSpPr>
          <p:nvPr/>
        </p:nvSpPr>
        <p:spPr>
          <a:xfrm>
            <a:off x="3257550" y="1981200"/>
            <a:ext cx="2190750" cy="381000"/>
          </a:xfrm>
          <a:prstGeom prst="rect">
            <a:avLst/>
          </a:prstGeom>
        </p:spPr>
        <p:txBody>
          <a:bodyPr wrap="square" lIns="0" tIns="0" rIns="0" bIns="0" anchor="t">
            <a:normAutofit/>
          </a:bodyPr>
          <a:lstStyle/>
          <a:p>
            <a:pPr algn="l">
              <a:defRPr sz="1950" b="1">
                <a:solidFill>
                  <a:srgbClr val="17232D"/>
                </a:solidFill>
                <a:latin typeface="Microsoft YaHei"/>
                <a:ea typeface="Microsoft YaHei"/>
                <a:cs typeface="Microsoft YaHei"/>
              </a:defRPr>
            </a:pPr>
            <a:r>
              <a:t>曲线评估</a:t>
            </a:r>
          </a:p>
        </p:txBody>
      </p:sp>
      <p:cxnSp>
        <p:nvCxnSpPr>
          <p:cNvPr id="44" name="直接箭头连接符 43"/>
          <p:cNvCxnSpPr/>
          <p:nvPr/>
        </p:nvCxnSpPr>
        <p:spPr>
          <a:xfrm>
            <a:off x="3257550" y="2514600"/>
            <a:ext cx="2190750" cy="95"/>
          </a:xfrm>
          <a:prstGeom prst="straightConnector1">
            <a:avLst/>
          </a:prstGeom>
          <a:ln w="19050">
            <a:solidFill>
              <a:srgbClr val="D8DFE4"/>
            </a:solidFill>
            <a:prstDash val="solid"/>
          </a:ln>
        </p:spPr>
      </p:cxnSp>
      <p:sp>
        <p:nvSpPr>
          <p:cNvPr id="14" name="矩形 13">
            <a:extLst>
              <a:ext uri="{FF2B5EF4-FFF2-40B4-BE49-F238E27FC236}">
                <a16:creationId xmlns:a16="http://schemas.microsoft.com/office/drawing/2014/main" id="{ECF5B542-0532-4946-B22F-11EEBA83752C}"/>
              </a:ext>
            </a:extLst>
          </p:cNvPr>
          <p:cNvSpPr>
            <a:spLocks noGrp="1"/>
          </p:cNvSpPr>
          <p:nvPr/>
        </p:nvSpPr>
        <p:spPr>
          <a:xfrm>
            <a:off x="3257550" y="2781300"/>
            <a:ext cx="2190750" cy="685800"/>
          </a:xfrm>
          <a:prstGeom prst="rect">
            <a:avLst/>
          </a:prstGeom>
        </p:spPr>
        <p:txBody>
          <a:bodyPr wrap="square" lIns="0" tIns="0" rIns="0" bIns="0" anchor="t">
            <a:normAutofit/>
          </a:bodyPr>
          <a:lstStyle/>
          <a:p>
            <a:pPr algn="l">
              <a:defRPr sz="1425" b="0">
                <a:solidFill>
                  <a:srgbClr val="5D6A74"/>
                </a:solidFill>
                <a:latin typeface="Microsoft YaHei"/>
                <a:ea typeface="Microsoft YaHei"/>
                <a:cs typeface="Microsoft YaHei"/>
              </a:defRPr>
            </a:pPr>
            <a:r>
              <a:t>每 5,000 步
20 回合 / 检查点</a:t>
            </a:r>
          </a:p>
        </p:txBody>
      </p:sp>
      <p:cxnSp>
        <p:nvCxnSpPr>
          <p:cNvPr id="46" name="直接箭头连接符 45"/>
          <p:cNvCxnSpPr/>
          <p:nvPr/>
        </p:nvCxnSpPr>
        <p:spPr>
          <a:xfrm>
            <a:off x="8362950" y="2667000"/>
            <a:ext cx="419100" cy="95"/>
          </a:xfrm>
          <a:prstGeom prst="straightConnector1">
            <a:avLst/>
          </a:prstGeom>
          <a:ln w="19050">
            <a:solidFill>
              <a:srgbClr val="D8DFE4"/>
            </a:solidFill>
            <a:prstDash val="solid"/>
          </a:ln>
        </p:spPr>
      </p:cxnSp>
      <p:sp>
        <p:nvSpPr>
          <p:cNvPr id="16" name="矩形 15">
            <a:extLst>
              <a:ext uri="{FF2B5EF4-FFF2-40B4-BE49-F238E27FC236}">
                <a16:creationId xmlns:a16="http://schemas.microsoft.com/office/drawing/2014/main" id="{DBCB6E59-FF64-4DCF-B5A9-DC19E9560A8A}"/>
              </a:ext>
            </a:extLst>
          </p:cNvPr>
          <p:cNvSpPr>
            <a:spLocks noGrp="1"/>
          </p:cNvSpPr>
          <p:nvPr/>
        </p:nvSpPr>
        <p:spPr>
          <a:xfrm>
            <a:off x="6057900" y="1619250"/>
            <a:ext cx="514350" cy="285750"/>
          </a:xfrm>
          <a:prstGeom prst="rect">
            <a:avLst/>
          </a:prstGeom>
        </p:spPr>
        <p:txBody>
          <a:bodyPr wrap="square" lIns="0" tIns="0" rIns="0" bIns="0" anchor="t">
            <a:normAutofit/>
          </a:bodyPr>
          <a:lstStyle/>
          <a:p>
            <a:pPr algn="l">
              <a:defRPr sz="1275" b="1">
                <a:solidFill>
                  <a:srgbClr val="1E5AA8"/>
                </a:solidFill>
                <a:latin typeface="Microsoft YaHei"/>
                <a:ea typeface="Microsoft YaHei"/>
                <a:cs typeface="Microsoft YaHei"/>
              </a:defRPr>
            </a:pPr>
            <a:r>
              <a:t>03</a:t>
            </a:r>
          </a:p>
        </p:txBody>
      </p:sp>
      <p:sp>
        <p:nvSpPr>
          <p:cNvPr id="17" name="矩形 16">
            <a:extLst>
              <a:ext uri="{FF2B5EF4-FFF2-40B4-BE49-F238E27FC236}">
                <a16:creationId xmlns:a16="http://schemas.microsoft.com/office/drawing/2014/main" id="{1CB5FD94-D248-445D-A2BA-87E3F6235CF4}"/>
              </a:ext>
            </a:extLst>
          </p:cNvPr>
          <p:cNvSpPr>
            <a:spLocks noGrp="1"/>
          </p:cNvSpPr>
          <p:nvPr/>
        </p:nvSpPr>
        <p:spPr>
          <a:xfrm>
            <a:off x="6057900" y="1981200"/>
            <a:ext cx="2190750" cy="381000"/>
          </a:xfrm>
          <a:prstGeom prst="rect">
            <a:avLst/>
          </a:prstGeom>
        </p:spPr>
        <p:txBody>
          <a:bodyPr wrap="square" lIns="0" tIns="0" rIns="0" bIns="0" anchor="t">
            <a:normAutofit/>
          </a:bodyPr>
          <a:lstStyle/>
          <a:p>
            <a:pPr algn="l">
              <a:defRPr sz="1950" b="1">
                <a:solidFill>
                  <a:srgbClr val="17232D"/>
                </a:solidFill>
                <a:latin typeface="Microsoft YaHei"/>
                <a:ea typeface="Microsoft YaHei"/>
                <a:cs typeface="Microsoft YaHei"/>
              </a:defRPr>
            </a:pPr>
            <a:r>
              <a:t>最终评估</a:t>
            </a:r>
          </a:p>
        </p:txBody>
      </p:sp>
      <p:cxnSp>
        <p:nvCxnSpPr>
          <p:cNvPr id="49" name="直接箭头连接符 48"/>
          <p:cNvCxnSpPr/>
          <p:nvPr/>
        </p:nvCxnSpPr>
        <p:spPr>
          <a:xfrm>
            <a:off x="6057900" y="2514600"/>
            <a:ext cx="2190750" cy="95"/>
          </a:xfrm>
          <a:prstGeom prst="straightConnector1">
            <a:avLst/>
          </a:prstGeom>
          <a:ln w="19050">
            <a:solidFill>
              <a:srgbClr val="D8DFE4"/>
            </a:solidFill>
            <a:prstDash val="solid"/>
          </a:ln>
        </p:spPr>
      </p:cxnSp>
      <p:sp>
        <p:nvSpPr>
          <p:cNvPr id="19" name="矩形 18">
            <a:extLst>
              <a:ext uri="{FF2B5EF4-FFF2-40B4-BE49-F238E27FC236}">
                <a16:creationId xmlns:a16="http://schemas.microsoft.com/office/drawing/2014/main" id="{A7E21D28-4B69-463E-9D9C-D34E301BB346}"/>
              </a:ext>
            </a:extLst>
          </p:cNvPr>
          <p:cNvSpPr>
            <a:spLocks noGrp="1"/>
          </p:cNvSpPr>
          <p:nvPr/>
        </p:nvSpPr>
        <p:spPr>
          <a:xfrm>
            <a:off x="6057900" y="2781300"/>
            <a:ext cx="2190750" cy="685800"/>
          </a:xfrm>
          <a:prstGeom prst="rect">
            <a:avLst/>
          </a:prstGeom>
        </p:spPr>
        <p:txBody>
          <a:bodyPr wrap="square" lIns="0" tIns="0" rIns="0" bIns="0" anchor="t">
            <a:normAutofit/>
          </a:bodyPr>
          <a:lstStyle/>
          <a:p>
            <a:pPr algn="l">
              <a:defRPr sz="1425" b="0">
                <a:solidFill>
                  <a:srgbClr val="5D6A74"/>
                </a:solidFill>
                <a:latin typeface="Microsoft YaHei"/>
                <a:ea typeface="Microsoft YaHei"/>
                <a:cs typeface="Microsoft YaHei"/>
              </a:defRPr>
            </a:pPr>
            <a:r>
              <a:t>100 回合 / 场景块
500 回合 / 方法</a:t>
            </a:r>
          </a:p>
        </p:txBody>
      </p:sp>
      <p:sp>
        <p:nvSpPr>
          <p:cNvPr id="20" name="矩形 19">
            <a:extLst>
              <a:ext uri="{FF2B5EF4-FFF2-40B4-BE49-F238E27FC236}">
                <a16:creationId xmlns:a16="http://schemas.microsoft.com/office/drawing/2014/main" id="{CA14AD39-F443-47E6-8213-F40A116D2166}"/>
              </a:ext>
            </a:extLst>
          </p:cNvPr>
          <p:cNvSpPr>
            <a:spLocks noGrp="1"/>
          </p:cNvSpPr>
          <p:nvPr/>
        </p:nvSpPr>
        <p:spPr>
          <a:xfrm>
            <a:off x="8858250" y="1619250"/>
            <a:ext cx="514350" cy="285750"/>
          </a:xfrm>
          <a:prstGeom prst="rect">
            <a:avLst/>
          </a:prstGeom>
        </p:spPr>
        <p:txBody>
          <a:bodyPr wrap="square" lIns="0" tIns="0" rIns="0" bIns="0" anchor="t">
            <a:normAutofit/>
          </a:bodyPr>
          <a:lstStyle/>
          <a:p>
            <a:pPr algn="l">
              <a:defRPr sz="1275" b="1">
                <a:solidFill>
                  <a:srgbClr val="1E5AA8"/>
                </a:solidFill>
                <a:latin typeface="Microsoft YaHei"/>
                <a:ea typeface="Microsoft YaHei"/>
                <a:cs typeface="Microsoft YaHei"/>
              </a:defRPr>
            </a:pPr>
            <a:r>
              <a:t>04</a:t>
            </a:r>
          </a:p>
        </p:txBody>
      </p:sp>
      <p:sp>
        <p:nvSpPr>
          <p:cNvPr id="21" name="矩形 20">
            <a:extLst>
              <a:ext uri="{FF2B5EF4-FFF2-40B4-BE49-F238E27FC236}">
                <a16:creationId xmlns:a16="http://schemas.microsoft.com/office/drawing/2014/main" id="{8699DE7D-CFAA-4E0A-B7A8-DAB72C9EDEDD}"/>
              </a:ext>
            </a:extLst>
          </p:cNvPr>
          <p:cNvSpPr>
            <a:spLocks noGrp="1"/>
          </p:cNvSpPr>
          <p:nvPr/>
        </p:nvSpPr>
        <p:spPr>
          <a:xfrm>
            <a:off x="8858250" y="1981200"/>
            <a:ext cx="2190750" cy="381000"/>
          </a:xfrm>
          <a:prstGeom prst="rect">
            <a:avLst/>
          </a:prstGeom>
        </p:spPr>
        <p:txBody>
          <a:bodyPr wrap="square" lIns="0" tIns="0" rIns="0" bIns="0" anchor="t">
            <a:normAutofit/>
          </a:bodyPr>
          <a:lstStyle/>
          <a:p>
            <a:pPr algn="l">
              <a:defRPr sz="1950" b="1">
                <a:solidFill>
                  <a:srgbClr val="17232D"/>
                </a:solidFill>
                <a:latin typeface="Microsoft YaHei"/>
                <a:ea typeface="Microsoft YaHei"/>
                <a:cs typeface="Microsoft YaHei"/>
              </a:defRPr>
            </a:pPr>
            <a:r>
              <a:t>统计</a:t>
            </a:r>
          </a:p>
        </p:txBody>
      </p:sp>
      <p:cxnSp>
        <p:nvCxnSpPr>
          <p:cNvPr id="53" name="直接箭头连接符 52"/>
          <p:cNvCxnSpPr/>
          <p:nvPr/>
        </p:nvCxnSpPr>
        <p:spPr>
          <a:xfrm>
            <a:off x="8858250" y="2514600"/>
            <a:ext cx="2190750" cy="95"/>
          </a:xfrm>
          <a:prstGeom prst="straightConnector1">
            <a:avLst/>
          </a:prstGeom>
          <a:ln w="19050">
            <a:solidFill>
              <a:srgbClr val="D8DFE4"/>
            </a:solidFill>
            <a:prstDash val="solid"/>
          </a:ln>
        </p:spPr>
      </p:cxnSp>
      <p:sp>
        <p:nvSpPr>
          <p:cNvPr id="23" name="矩形 22">
            <a:extLst>
              <a:ext uri="{FF2B5EF4-FFF2-40B4-BE49-F238E27FC236}">
                <a16:creationId xmlns:a16="http://schemas.microsoft.com/office/drawing/2014/main" id="{13701D8C-97E7-49CE-AAEC-72D3E9880877}"/>
              </a:ext>
            </a:extLst>
          </p:cNvPr>
          <p:cNvSpPr>
            <a:spLocks noGrp="1"/>
          </p:cNvSpPr>
          <p:nvPr/>
        </p:nvSpPr>
        <p:spPr>
          <a:xfrm>
            <a:off x="8858250" y="2781300"/>
            <a:ext cx="2190750" cy="685800"/>
          </a:xfrm>
          <a:prstGeom prst="rect">
            <a:avLst/>
          </a:prstGeom>
        </p:spPr>
        <p:txBody>
          <a:bodyPr wrap="square" lIns="0" tIns="0" rIns="0" bIns="0" anchor="t">
            <a:normAutofit/>
          </a:bodyPr>
          <a:lstStyle/>
          <a:p>
            <a:pPr algn="l">
              <a:defRPr sz="1425" b="0">
                <a:solidFill>
                  <a:srgbClr val="5D6A74"/>
                </a:solidFill>
                <a:latin typeface="Microsoft YaHei"/>
                <a:ea typeface="Microsoft YaHei"/>
                <a:cs typeface="Microsoft YaHei"/>
              </a:defRPr>
            </a:pPr>
            <a:r>
              <a:t>配对场景
Student-t 95% CI</a:t>
            </a:r>
          </a:p>
        </p:txBody>
      </p:sp>
      <p:sp>
        <p:nvSpPr>
          <p:cNvPr id="24" name="矩形 23">
            <a:extLst>
              <a:ext uri="{FF2B5EF4-FFF2-40B4-BE49-F238E27FC236}">
                <a16:creationId xmlns:a16="http://schemas.microsoft.com/office/drawing/2014/main" id="{E54B4E65-E7A2-4C3C-A71C-39DD94FBC4B5}"/>
              </a:ext>
            </a:extLst>
          </p:cNvPr>
          <p:cNvSpPr>
            <a:spLocks noGrp="1"/>
          </p:cNvSpPr>
          <p:nvPr/>
        </p:nvSpPr>
        <p:spPr>
          <a:xfrm>
            <a:off x="457200" y="4095750"/>
            <a:ext cx="1524000" cy="285750"/>
          </a:xfrm>
          <a:prstGeom prst="rect">
            <a:avLst/>
          </a:prstGeom>
        </p:spPr>
        <p:txBody>
          <a:bodyPr wrap="square" lIns="0" tIns="0" rIns="0" bIns="0" anchor="t">
            <a:normAutofit/>
          </a:bodyPr>
          <a:lstStyle/>
          <a:p>
            <a:pPr algn="l">
              <a:defRPr sz="1500" b="1">
                <a:solidFill>
                  <a:srgbClr val="B84A55"/>
                </a:solidFill>
                <a:latin typeface="Microsoft YaHei"/>
                <a:ea typeface="Microsoft YaHei"/>
                <a:cs typeface="Microsoft YaHei"/>
              </a:defRPr>
            </a:pPr>
            <a:r>
              <a:t>比较方法</a:t>
            </a:r>
          </a:p>
        </p:txBody>
      </p:sp>
      <p:sp>
        <p:nvSpPr>
          <p:cNvPr id="25" name="矩形: 圆角 24">
            <a:extLst>
              <a:ext uri="{FF2B5EF4-FFF2-40B4-BE49-F238E27FC236}">
                <a16:creationId xmlns:a16="http://schemas.microsoft.com/office/drawing/2014/main" id="{50DDBF1F-738D-4241-9957-11ABDDB3FC66}"/>
              </a:ext>
            </a:extLst>
          </p:cNvPr>
          <p:cNvSpPr>
            <a:spLocks noGrp="1"/>
          </p:cNvSpPr>
          <p:nvPr/>
        </p:nvSpPr>
        <p:spPr>
          <a:xfrm>
            <a:off x="457200" y="4514850"/>
            <a:ext cx="6896100" cy="1104900"/>
          </a:xfrm>
          <a:prstGeom prst="roundRect">
            <a:avLst>
              <a:gd name="adj" fmla="val 6897"/>
            </a:avLst>
          </a:prstGeom>
          <a:solidFill>
            <a:srgbClr val="F4F6F7"/>
          </a:solidFill>
          <a:ln w="9525">
            <a:solidFill>
              <a:srgbClr val="D8DFE4"/>
            </a:solidFill>
            <a:prstDash val="solid"/>
          </a:ln>
        </p:spPr>
      </p:sp>
      <p:sp>
        <p:nvSpPr>
          <p:cNvPr id="26" name="矩形 25">
            <a:extLst>
              <a:ext uri="{FF2B5EF4-FFF2-40B4-BE49-F238E27FC236}">
                <a16:creationId xmlns:a16="http://schemas.microsoft.com/office/drawing/2014/main" id="{1914F184-E34E-4456-9226-0C0ECCBEC20A}"/>
              </a:ext>
            </a:extLst>
          </p:cNvPr>
          <p:cNvSpPr>
            <a:spLocks noGrp="1"/>
          </p:cNvSpPr>
          <p:nvPr/>
        </p:nvSpPr>
        <p:spPr>
          <a:xfrm>
            <a:off x="685800" y="4705350"/>
            <a:ext cx="1238250" cy="266700"/>
          </a:xfrm>
          <a:prstGeom prst="rect">
            <a:avLst/>
          </a:prstGeom>
        </p:spPr>
        <p:txBody>
          <a:bodyPr wrap="square" lIns="0" tIns="0" rIns="0" bIns="0" anchor="t">
            <a:normAutofit/>
          </a:bodyPr>
          <a:lstStyle/>
          <a:p>
            <a:pPr algn="l">
              <a:defRPr sz="1350" b="1">
                <a:solidFill>
                  <a:srgbClr val="5D6A74"/>
                </a:solidFill>
                <a:latin typeface="Microsoft YaHei"/>
                <a:ea typeface="Microsoft YaHei"/>
                <a:cs typeface="Microsoft YaHei"/>
              </a:defRPr>
            </a:pPr>
            <a:r>
              <a:t>规则基线</a:t>
            </a:r>
          </a:p>
        </p:txBody>
      </p:sp>
      <p:sp>
        <p:nvSpPr>
          <p:cNvPr id="27" name="矩形 26">
            <a:extLst>
              <a:ext uri="{FF2B5EF4-FFF2-40B4-BE49-F238E27FC236}">
                <a16:creationId xmlns:a16="http://schemas.microsoft.com/office/drawing/2014/main" id="{434D21AD-2F7F-4937-8CC2-A944C9B4CBB5}"/>
              </a:ext>
            </a:extLst>
          </p:cNvPr>
          <p:cNvSpPr>
            <a:spLocks noGrp="1"/>
          </p:cNvSpPr>
          <p:nvPr/>
        </p:nvSpPr>
        <p:spPr>
          <a:xfrm>
            <a:off x="2095500" y="4705350"/>
            <a:ext cx="4953000" cy="590550"/>
          </a:xfrm>
          <a:prstGeom prst="rect">
            <a:avLst/>
          </a:prstGeom>
        </p:spPr>
        <p:txBody>
          <a:bodyPr wrap="square" lIns="0" tIns="0" rIns="0" bIns="0" anchor="t">
            <a:normAutofit/>
          </a:bodyPr>
          <a:lstStyle/>
          <a:p>
            <a:pPr algn="l">
              <a:defRPr sz="1500" b="0">
                <a:solidFill>
                  <a:srgbClr val="17232D"/>
                </a:solidFill>
                <a:latin typeface="Microsoft YaHei"/>
                <a:ea typeface="Microsoft YaHei"/>
                <a:cs typeface="Microsoft YaHei"/>
              </a:defRPr>
            </a:pPr>
            <a:r>
              <a:t>random_joint  ·  nearest_joint  ·  highest_threat
time_to_impact  ·  greedy_damage</a:t>
            </a:r>
          </a:p>
        </p:txBody>
      </p:sp>
      <p:sp>
        <p:nvSpPr>
          <p:cNvPr id="28" name="矩形: 圆角 27">
            <a:extLst>
              <a:ext uri="{FF2B5EF4-FFF2-40B4-BE49-F238E27FC236}">
                <a16:creationId xmlns:a16="http://schemas.microsoft.com/office/drawing/2014/main" id="{8F4D9200-92A9-44A3-992F-2212050D2712}"/>
              </a:ext>
            </a:extLst>
          </p:cNvPr>
          <p:cNvSpPr>
            <a:spLocks noGrp="1"/>
          </p:cNvSpPr>
          <p:nvPr/>
        </p:nvSpPr>
        <p:spPr>
          <a:xfrm>
            <a:off x="7677150" y="4514850"/>
            <a:ext cx="4057650" cy="1104900"/>
          </a:xfrm>
          <a:prstGeom prst="roundRect">
            <a:avLst>
              <a:gd name="adj" fmla="val 6897"/>
            </a:avLst>
          </a:prstGeom>
          <a:solidFill>
            <a:srgbClr val="DFEAF6"/>
          </a:solidFill>
          <a:ln w="9525">
            <a:solidFill>
              <a:srgbClr val="1E5AA8"/>
            </a:solidFill>
            <a:prstDash val="solid"/>
          </a:ln>
        </p:spPr>
      </p:sp>
      <p:sp>
        <p:nvSpPr>
          <p:cNvPr id="29" name="矩形 28">
            <a:extLst>
              <a:ext uri="{FF2B5EF4-FFF2-40B4-BE49-F238E27FC236}">
                <a16:creationId xmlns:a16="http://schemas.microsoft.com/office/drawing/2014/main" id="{C2A2D857-EAA6-43B3-9A67-230FF9779CFC}"/>
              </a:ext>
            </a:extLst>
          </p:cNvPr>
          <p:cNvSpPr>
            <a:spLocks noGrp="1"/>
          </p:cNvSpPr>
          <p:nvPr/>
        </p:nvSpPr>
        <p:spPr>
          <a:xfrm>
            <a:off x="7905750" y="4705350"/>
            <a:ext cx="1143000" cy="266700"/>
          </a:xfrm>
          <a:prstGeom prst="rect">
            <a:avLst/>
          </a:prstGeom>
        </p:spPr>
        <p:txBody>
          <a:bodyPr wrap="square" lIns="0" tIns="0" rIns="0" bIns="0" anchor="t">
            <a:normAutofit/>
          </a:bodyPr>
          <a:lstStyle/>
          <a:p>
            <a:pPr algn="l">
              <a:defRPr sz="1350" b="1">
                <a:solidFill>
                  <a:srgbClr val="1E5AA8"/>
                </a:solidFill>
                <a:latin typeface="Microsoft YaHei"/>
                <a:ea typeface="Microsoft YaHei"/>
                <a:cs typeface="Microsoft YaHei"/>
              </a:defRPr>
            </a:pPr>
            <a:r>
              <a:t>学习基线</a:t>
            </a:r>
          </a:p>
        </p:txBody>
      </p:sp>
      <p:sp>
        <p:nvSpPr>
          <p:cNvPr id="30" name="矩形 29">
            <a:extLst>
              <a:ext uri="{FF2B5EF4-FFF2-40B4-BE49-F238E27FC236}">
                <a16:creationId xmlns:a16="http://schemas.microsoft.com/office/drawing/2014/main" id="{5CE0C320-8713-4E92-997B-2942866DE4C3}"/>
              </a:ext>
            </a:extLst>
          </p:cNvPr>
          <p:cNvSpPr>
            <a:spLocks noGrp="1"/>
          </p:cNvSpPr>
          <p:nvPr/>
        </p:nvSpPr>
        <p:spPr>
          <a:xfrm>
            <a:off x="9239250" y="4686300"/>
            <a:ext cx="2095500" cy="590550"/>
          </a:xfrm>
          <a:prstGeom prst="rect">
            <a:avLst/>
          </a:prstGeom>
        </p:spPr>
        <p:txBody>
          <a:bodyPr wrap="square" lIns="0" tIns="0" rIns="0" bIns="0" anchor="t">
            <a:normAutofit/>
          </a:bodyPr>
          <a:lstStyle/>
          <a:p>
            <a:pPr algn="l">
              <a:defRPr sz="1650" b="1">
                <a:solidFill>
                  <a:srgbClr val="17232D"/>
                </a:solidFill>
                <a:latin typeface="Microsoft YaHei"/>
                <a:ea typeface="Microsoft YaHei"/>
                <a:cs typeface="Microsoft YaHei"/>
              </a:defRPr>
            </a:pPr>
            <a:r>
              <a:t>PPO
Maskable PPO</a:t>
            </a:r>
          </a:p>
        </p:txBody>
      </p:sp>
      <p:sp>
        <p:nvSpPr>
          <p:cNvPr id="31" name="矩形 30">
            <a:extLst>
              <a:ext uri="{FF2B5EF4-FFF2-40B4-BE49-F238E27FC236}">
                <a16:creationId xmlns:a16="http://schemas.microsoft.com/office/drawing/2014/main" id="{C47FDE37-97AF-407A-B841-E2845AB7450F}"/>
              </a:ext>
            </a:extLst>
          </p:cNvPr>
          <p:cNvSpPr>
            <a:spLocks noGrp="1"/>
          </p:cNvSpPr>
          <p:nvPr/>
        </p:nvSpPr>
        <p:spPr>
          <a:xfrm>
            <a:off x="457200" y="5943600"/>
            <a:ext cx="6858000" cy="266700"/>
          </a:xfrm>
          <a:prstGeom prst="rect">
            <a:avLst/>
          </a:prstGeom>
        </p:spPr>
        <p:txBody>
          <a:bodyPr wrap="square" lIns="0" tIns="0" rIns="0" bIns="0" anchor="t">
            <a:normAutofit/>
          </a:bodyPr>
          <a:lstStyle/>
          <a:p>
            <a:pPr algn="l">
              <a:defRPr sz="1350" b="0">
                <a:solidFill>
                  <a:srgbClr val="5D6A74"/>
                </a:solidFill>
                <a:latin typeface="Microsoft YaHei"/>
                <a:ea typeface="Microsoft YaHei"/>
                <a:cs typeface="Microsoft YaHei"/>
              </a:defRPr>
            </a:pPr>
            <a:r>
              <a:t>公平性：所有方法使用相同的配对评估场景块</a:t>
            </a:r>
          </a:p>
        </p:txBody>
      </p:sp>
    </p:spTree>
    <p:extLst>
      <p:ext uri="{BB962C8B-B14F-4D97-AF65-F5344CB8AC3E}">
        <p14:creationId xmlns:p14="http://schemas.microsoft.com/office/powerpoint/2010/main" val="797135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6B87E59-977E-4A28-9BC9-E13FCED66143}"/>
              </a:ext>
            </a:extLst>
          </p:cNvPr>
          <p:cNvSpPr>
            <a:spLocks noGrp="1"/>
          </p:cNvSpPr>
          <p:nvPr/>
        </p:nvSpPr>
        <p:spPr>
          <a:xfrm>
            <a:off x="457200" y="285750"/>
            <a:ext cx="3143250" cy="209550"/>
          </a:xfrm>
          <a:prstGeom prst="rect">
            <a:avLst/>
          </a:prstGeom>
        </p:spPr>
        <p:txBody>
          <a:bodyPr wrap="square" lIns="0" tIns="0" rIns="0" bIns="0" anchor="t">
            <a:normAutofit/>
          </a:bodyPr>
          <a:lstStyle/>
          <a:p>
            <a:pPr algn="l">
              <a:defRPr sz="1125" b="1">
                <a:solidFill>
                  <a:srgbClr val="1E5AA8"/>
                </a:solidFill>
                <a:latin typeface="Microsoft YaHei"/>
                <a:ea typeface="Microsoft YaHei"/>
                <a:cs typeface="Microsoft YaHei"/>
              </a:defRPr>
            </a:pPr>
            <a:r>
              <a:t>RESULTS</a:t>
            </a:r>
          </a:p>
        </p:txBody>
      </p:sp>
      <p:sp>
        <p:nvSpPr>
          <p:cNvPr id="2" name="矩形 1">
            <a:extLst>
              <a:ext uri="{FF2B5EF4-FFF2-40B4-BE49-F238E27FC236}">
                <a16:creationId xmlns:a16="http://schemas.microsoft.com/office/drawing/2014/main" id="{ED34356D-709C-4E06-9D13-745638880896}"/>
              </a:ext>
            </a:extLst>
          </p:cNvPr>
          <p:cNvSpPr>
            <a:spLocks noGrp="1"/>
          </p:cNvSpPr>
          <p:nvPr/>
        </p:nvSpPr>
        <p:spPr>
          <a:xfrm>
            <a:off x="457200" y="552450"/>
            <a:ext cx="11049000" cy="571500"/>
          </a:xfrm>
          <a:prstGeom prst="rect">
            <a:avLst/>
          </a:prstGeom>
        </p:spPr>
        <p:txBody>
          <a:bodyPr wrap="square" lIns="0" tIns="0" rIns="0" bIns="0" anchor="t">
            <a:normAutofit/>
          </a:bodyPr>
          <a:lstStyle/>
          <a:p>
            <a:pPr algn="l">
              <a:defRPr sz="3450" b="1">
                <a:solidFill>
                  <a:srgbClr val="17232D"/>
                </a:solidFill>
                <a:latin typeface="Microsoft YaHei"/>
                <a:ea typeface="Microsoft YaHei"/>
                <a:cs typeface="Microsoft YaHei"/>
              </a:defRPr>
            </a:pPr>
            <a:r>
              <a:t>核心结果：约束感知策略修复了普通 PPO 的主要失效</a:t>
            </a:r>
          </a:p>
        </p:txBody>
      </p:sp>
      <p:cxnSp>
        <p:nvCxnSpPr>
          <p:cNvPr id="56" name="直接箭头连接符 55"/>
          <p:cNvCxnSpPr/>
          <p:nvPr/>
        </p:nvCxnSpPr>
        <p:spPr>
          <a:xfrm>
            <a:off x="457200" y="1200150"/>
            <a:ext cx="11277600" cy="95"/>
          </a:xfrm>
          <a:prstGeom prst="straightConnector1">
            <a:avLst/>
          </a:prstGeom>
          <a:ln w="9525">
            <a:solidFill>
              <a:srgbClr val="D8DFE4"/>
            </a:solidFill>
            <a:prstDash val="solid"/>
          </a:ln>
        </p:spPr>
      </p:cxnSp>
      <p:sp>
        <p:nvSpPr>
          <p:cNvPr id="4" name="矩形 3">
            <a:extLst>
              <a:ext uri="{FF2B5EF4-FFF2-40B4-BE49-F238E27FC236}">
                <a16:creationId xmlns:a16="http://schemas.microsoft.com/office/drawing/2014/main" id="{051142D9-3B9D-49C8-812B-EEAA38F6C929}"/>
              </a:ext>
            </a:extLst>
          </p:cNvPr>
          <p:cNvSpPr>
            <a:spLocks noGrp="1"/>
          </p:cNvSpPr>
          <p:nvPr/>
        </p:nvSpPr>
        <p:spPr>
          <a:xfrm>
            <a:off x="11239500" y="6448425"/>
            <a:ext cx="495300" cy="171450"/>
          </a:xfrm>
          <a:prstGeom prst="rect">
            <a:avLst/>
          </a:prstGeom>
        </p:spPr>
        <p:txBody>
          <a:bodyPr wrap="square" lIns="0" tIns="0" rIns="0" bIns="0" anchor="t">
            <a:normAutofit/>
          </a:bodyPr>
          <a:lstStyle/>
          <a:p>
            <a:pPr algn="r">
              <a:defRPr sz="975" b="0">
                <a:solidFill>
                  <a:srgbClr val="8A959D"/>
                </a:solidFill>
                <a:latin typeface="Microsoft YaHei"/>
                <a:ea typeface="Microsoft YaHei"/>
                <a:cs typeface="Microsoft YaHei"/>
              </a:defRPr>
            </a:pPr>
            <a:r>
              <a:t>08</a:t>
            </a:r>
          </a:p>
        </p:txBody>
      </p:sp>
      <p:sp>
        <p:nvSpPr>
          <p:cNvPr id="5" name="矩形 4">
            <a:extLst>
              <a:ext uri="{FF2B5EF4-FFF2-40B4-BE49-F238E27FC236}">
                <a16:creationId xmlns:a16="http://schemas.microsoft.com/office/drawing/2014/main" id="{0AF27C98-8EC8-45F5-9704-F9AB77C4C042}"/>
              </a:ext>
            </a:extLst>
          </p:cNvPr>
          <p:cNvSpPr>
            <a:spLocks noGrp="1"/>
          </p:cNvSpPr>
          <p:nvPr/>
        </p:nvSpPr>
        <p:spPr>
          <a:xfrm>
            <a:off x="457200" y="1524000"/>
            <a:ext cx="4953000" cy="285750"/>
          </a:xfrm>
          <a:prstGeom prst="rect">
            <a:avLst/>
          </a:prstGeom>
        </p:spPr>
        <p:txBody>
          <a:bodyPr wrap="square" lIns="0" tIns="0" rIns="0" bIns="0" anchor="t">
            <a:normAutofit/>
          </a:bodyPr>
          <a:lstStyle/>
          <a:p>
            <a:pPr algn="l">
              <a:defRPr sz="1500" b="1">
                <a:solidFill>
                  <a:srgbClr val="5D6A74"/>
                </a:solidFill>
                <a:latin typeface="Microsoft YaHei"/>
                <a:ea typeface="Microsoft YaHei"/>
                <a:cs typeface="Microsoft YaHei"/>
              </a:defRPr>
            </a:pPr>
            <a:r>
              <a:t>平均奖励（越靠右越好）</a:t>
            </a:r>
          </a:p>
        </p:txBody>
      </p:sp>
      <p:cxnSp>
        <p:nvCxnSpPr>
          <p:cNvPr id="59" name="直接箭头连接符 58"/>
          <p:cNvCxnSpPr/>
          <p:nvPr/>
        </p:nvCxnSpPr>
        <p:spPr>
          <a:xfrm>
            <a:off x="1695450" y="2324100"/>
            <a:ext cx="4762500" cy="95"/>
          </a:xfrm>
          <a:prstGeom prst="straightConnector1">
            <a:avLst/>
          </a:prstGeom>
          <a:ln w="19050">
            <a:solidFill>
              <a:srgbClr val="17232D"/>
            </a:solidFill>
            <a:prstDash val="solid"/>
          </a:ln>
        </p:spPr>
      </p:cxnSp>
      <p:cxnSp>
        <p:nvCxnSpPr>
          <p:cNvPr id="60" name="直接箭头连接符 59"/>
          <p:cNvCxnSpPr/>
          <p:nvPr/>
        </p:nvCxnSpPr>
        <p:spPr>
          <a:xfrm>
            <a:off x="1695450" y="2266950"/>
            <a:ext cx="95" cy="171450"/>
          </a:xfrm>
          <a:prstGeom prst="straightConnector1">
            <a:avLst/>
          </a:prstGeom>
          <a:ln w="9525">
            <a:solidFill>
              <a:srgbClr val="D8DFE4"/>
            </a:solidFill>
            <a:prstDash val="solid"/>
          </a:ln>
        </p:spPr>
      </p:cxnSp>
      <p:sp>
        <p:nvSpPr>
          <p:cNvPr id="8" name="矩形 7">
            <a:extLst>
              <a:ext uri="{FF2B5EF4-FFF2-40B4-BE49-F238E27FC236}">
                <a16:creationId xmlns:a16="http://schemas.microsoft.com/office/drawing/2014/main" id="{84510B5D-C564-43CB-BBF2-6E063E9D8789}"/>
              </a:ext>
            </a:extLst>
          </p:cNvPr>
          <p:cNvSpPr>
            <a:spLocks noGrp="1"/>
          </p:cNvSpPr>
          <p:nvPr/>
        </p:nvSpPr>
        <p:spPr>
          <a:xfrm>
            <a:off x="1466850" y="2495550"/>
            <a:ext cx="457200" cy="209550"/>
          </a:xfrm>
          <a:prstGeom prst="rect">
            <a:avLst/>
          </a:prstGeom>
        </p:spPr>
        <p:txBody>
          <a:bodyPr wrap="square" lIns="0" tIns="0" rIns="0" bIns="0" anchor="t">
            <a:normAutofit/>
          </a:bodyPr>
          <a:lstStyle/>
          <a:p>
            <a:pPr algn="ctr">
              <a:defRPr sz="1125" b="0">
                <a:solidFill>
                  <a:srgbClr val="8A959D"/>
                </a:solidFill>
                <a:latin typeface="Microsoft YaHei"/>
                <a:ea typeface="Microsoft YaHei"/>
                <a:cs typeface="Microsoft YaHei"/>
              </a:defRPr>
            </a:pPr>
            <a:r>
              <a:t>-100</a:t>
            </a:r>
          </a:p>
        </p:txBody>
      </p:sp>
      <p:cxnSp>
        <p:nvCxnSpPr>
          <p:cNvPr id="62" name="直接箭头连接符 61"/>
          <p:cNvCxnSpPr/>
          <p:nvPr/>
        </p:nvCxnSpPr>
        <p:spPr>
          <a:xfrm>
            <a:off x="2886075" y="2266950"/>
            <a:ext cx="95" cy="171450"/>
          </a:xfrm>
          <a:prstGeom prst="straightConnector1">
            <a:avLst/>
          </a:prstGeom>
          <a:ln w="9525">
            <a:solidFill>
              <a:srgbClr val="D8DFE4"/>
            </a:solidFill>
            <a:prstDash val="solid"/>
          </a:ln>
        </p:spPr>
      </p:cxnSp>
      <p:sp>
        <p:nvSpPr>
          <p:cNvPr id="10" name="矩形 9">
            <a:extLst>
              <a:ext uri="{FF2B5EF4-FFF2-40B4-BE49-F238E27FC236}">
                <a16:creationId xmlns:a16="http://schemas.microsoft.com/office/drawing/2014/main" id="{82DF2CCB-0FA7-4F04-87A2-88A47935A7CB}"/>
              </a:ext>
            </a:extLst>
          </p:cNvPr>
          <p:cNvSpPr>
            <a:spLocks noGrp="1"/>
          </p:cNvSpPr>
          <p:nvPr/>
        </p:nvSpPr>
        <p:spPr>
          <a:xfrm>
            <a:off x="2657475" y="2495550"/>
            <a:ext cx="457200" cy="209550"/>
          </a:xfrm>
          <a:prstGeom prst="rect">
            <a:avLst/>
          </a:prstGeom>
        </p:spPr>
        <p:txBody>
          <a:bodyPr wrap="square" lIns="0" tIns="0" rIns="0" bIns="0" anchor="t">
            <a:normAutofit/>
          </a:bodyPr>
          <a:lstStyle/>
          <a:p>
            <a:pPr algn="ctr">
              <a:defRPr sz="1125" b="0">
                <a:solidFill>
                  <a:srgbClr val="8A959D"/>
                </a:solidFill>
                <a:latin typeface="Microsoft YaHei"/>
                <a:ea typeface="Microsoft YaHei"/>
                <a:cs typeface="Microsoft YaHei"/>
              </a:defRPr>
            </a:pPr>
            <a:r>
              <a:t>-75</a:t>
            </a:r>
          </a:p>
        </p:txBody>
      </p:sp>
      <p:cxnSp>
        <p:nvCxnSpPr>
          <p:cNvPr id="64" name="直接箭头连接符 63"/>
          <p:cNvCxnSpPr/>
          <p:nvPr/>
        </p:nvCxnSpPr>
        <p:spPr>
          <a:xfrm>
            <a:off x="4076700" y="2266950"/>
            <a:ext cx="95" cy="171450"/>
          </a:xfrm>
          <a:prstGeom prst="straightConnector1">
            <a:avLst/>
          </a:prstGeom>
          <a:ln w="9525">
            <a:solidFill>
              <a:srgbClr val="D8DFE4"/>
            </a:solidFill>
            <a:prstDash val="solid"/>
          </a:ln>
        </p:spPr>
      </p:cxnSp>
      <p:sp>
        <p:nvSpPr>
          <p:cNvPr id="12" name="矩形 11">
            <a:extLst>
              <a:ext uri="{FF2B5EF4-FFF2-40B4-BE49-F238E27FC236}">
                <a16:creationId xmlns:a16="http://schemas.microsoft.com/office/drawing/2014/main" id="{89EB46B0-891B-45AE-8346-72D24A33B1A7}"/>
              </a:ext>
            </a:extLst>
          </p:cNvPr>
          <p:cNvSpPr>
            <a:spLocks noGrp="1"/>
          </p:cNvSpPr>
          <p:nvPr/>
        </p:nvSpPr>
        <p:spPr>
          <a:xfrm>
            <a:off x="3848100" y="2495550"/>
            <a:ext cx="457200" cy="209550"/>
          </a:xfrm>
          <a:prstGeom prst="rect">
            <a:avLst/>
          </a:prstGeom>
        </p:spPr>
        <p:txBody>
          <a:bodyPr wrap="square" lIns="0" tIns="0" rIns="0" bIns="0" anchor="t">
            <a:normAutofit/>
          </a:bodyPr>
          <a:lstStyle/>
          <a:p>
            <a:pPr algn="ctr">
              <a:defRPr sz="1125" b="0">
                <a:solidFill>
                  <a:srgbClr val="8A959D"/>
                </a:solidFill>
                <a:latin typeface="Microsoft YaHei"/>
                <a:ea typeface="Microsoft YaHei"/>
                <a:cs typeface="Microsoft YaHei"/>
              </a:defRPr>
            </a:pPr>
            <a:r>
              <a:t>-50</a:t>
            </a:r>
          </a:p>
        </p:txBody>
      </p:sp>
      <p:cxnSp>
        <p:nvCxnSpPr>
          <p:cNvPr id="66" name="直接箭头连接符 65"/>
          <p:cNvCxnSpPr/>
          <p:nvPr/>
        </p:nvCxnSpPr>
        <p:spPr>
          <a:xfrm>
            <a:off x="5267325" y="2266950"/>
            <a:ext cx="95" cy="171450"/>
          </a:xfrm>
          <a:prstGeom prst="straightConnector1">
            <a:avLst/>
          </a:prstGeom>
          <a:ln w="9525">
            <a:solidFill>
              <a:srgbClr val="D8DFE4"/>
            </a:solidFill>
            <a:prstDash val="solid"/>
          </a:ln>
        </p:spPr>
      </p:cxnSp>
      <p:sp>
        <p:nvSpPr>
          <p:cNvPr id="14" name="矩形 13">
            <a:extLst>
              <a:ext uri="{FF2B5EF4-FFF2-40B4-BE49-F238E27FC236}">
                <a16:creationId xmlns:a16="http://schemas.microsoft.com/office/drawing/2014/main" id="{8E9419E1-9997-4721-905F-3E945E865265}"/>
              </a:ext>
            </a:extLst>
          </p:cNvPr>
          <p:cNvSpPr>
            <a:spLocks noGrp="1"/>
          </p:cNvSpPr>
          <p:nvPr/>
        </p:nvSpPr>
        <p:spPr>
          <a:xfrm>
            <a:off x="5038725" y="2495550"/>
            <a:ext cx="457200" cy="209550"/>
          </a:xfrm>
          <a:prstGeom prst="rect">
            <a:avLst/>
          </a:prstGeom>
        </p:spPr>
        <p:txBody>
          <a:bodyPr wrap="square" lIns="0" tIns="0" rIns="0" bIns="0" anchor="t">
            <a:normAutofit/>
          </a:bodyPr>
          <a:lstStyle/>
          <a:p>
            <a:pPr algn="ctr">
              <a:defRPr sz="1125" b="0">
                <a:solidFill>
                  <a:srgbClr val="8A959D"/>
                </a:solidFill>
                <a:latin typeface="Microsoft YaHei"/>
                <a:ea typeface="Microsoft YaHei"/>
                <a:cs typeface="Microsoft YaHei"/>
              </a:defRPr>
            </a:pPr>
            <a:r>
              <a:t>-25</a:t>
            </a:r>
          </a:p>
        </p:txBody>
      </p:sp>
      <p:cxnSp>
        <p:nvCxnSpPr>
          <p:cNvPr id="68" name="直接箭头连接符 67"/>
          <p:cNvCxnSpPr/>
          <p:nvPr/>
        </p:nvCxnSpPr>
        <p:spPr>
          <a:xfrm>
            <a:off x="6457950" y="2266950"/>
            <a:ext cx="95" cy="171450"/>
          </a:xfrm>
          <a:prstGeom prst="straightConnector1">
            <a:avLst/>
          </a:prstGeom>
          <a:ln w="9525">
            <a:solidFill>
              <a:srgbClr val="D8DFE4"/>
            </a:solidFill>
            <a:prstDash val="solid"/>
          </a:ln>
        </p:spPr>
      </p:cxnSp>
      <p:sp>
        <p:nvSpPr>
          <p:cNvPr id="16" name="矩形 15">
            <a:extLst>
              <a:ext uri="{FF2B5EF4-FFF2-40B4-BE49-F238E27FC236}">
                <a16:creationId xmlns:a16="http://schemas.microsoft.com/office/drawing/2014/main" id="{1A4DB4C5-8F23-40FE-B471-76CEF4877C8B}"/>
              </a:ext>
            </a:extLst>
          </p:cNvPr>
          <p:cNvSpPr>
            <a:spLocks noGrp="1"/>
          </p:cNvSpPr>
          <p:nvPr/>
        </p:nvSpPr>
        <p:spPr>
          <a:xfrm>
            <a:off x="6229350" y="2495550"/>
            <a:ext cx="457200" cy="209550"/>
          </a:xfrm>
          <a:prstGeom prst="rect">
            <a:avLst/>
          </a:prstGeom>
        </p:spPr>
        <p:txBody>
          <a:bodyPr wrap="square" lIns="0" tIns="0" rIns="0" bIns="0" anchor="t">
            <a:normAutofit/>
          </a:bodyPr>
          <a:lstStyle/>
          <a:p>
            <a:pPr algn="ctr">
              <a:defRPr sz="1125" b="0">
                <a:solidFill>
                  <a:srgbClr val="8A959D"/>
                </a:solidFill>
                <a:latin typeface="Microsoft YaHei"/>
                <a:ea typeface="Microsoft YaHei"/>
                <a:cs typeface="Microsoft YaHei"/>
              </a:defRPr>
            </a:pPr>
            <a:r>
              <a:t>0</a:t>
            </a:r>
          </a:p>
        </p:txBody>
      </p:sp>
      <p:sp>
        <p:nvSpPr>
          <p:cNvPr id="17" name="矩形 16">
            <a:extLst>
              <a:ext uri="{FF2B5EF4-FFF2-40B4-BE49-F238E27FC236}">
                <a16:creationId xmlns:a16="http://schemas.microsoft.com/office/drawing/2014/main" id="{38F284A2-C7E4-4FFB-BD87-15B7A03C151E}"/>
              </a:ext>
            </a:extLst>
          </p:cNvPr>
          <p:cNvSpPr>
            <a:spLocks noGrp="1"/>
          </p:cNvSpPr>
          <p:nvPr/>
        </p:nvSpPr>
        <p:spPr>
          <a:xfrm>
            <a:off x="361950" y="2971800"/>
            <a:ext cx="1238250" cy="361950"/>
          </a:xfrm>
          <a:prstGeom prst="rect">
            <a:avLst/>
          </a:prstGeom>
        </p:spPr>
        <p:txBody>
          <a:bodyPr wrap="square" lIns="0" tIns="0" rIns="0" bIns="0" anchor="t">
            <a:normAutofit fontScale="99642"/>
          </a:bodyPr>
          <a:lstStyle/>
          <a:p>
            <a:pPr algn="r">
              <a:defRPr sz="1350" b="1">
                <a:solidFill>
                  <a:srgbClr val="17232D"/>
                </a:solidFill>
                <a:latin typeface="Microsoft YaHei"/>
                <a:ea typeface="Microsoft YaHei"/>
                <a:cs typeface="Microsoft YaHei"/>
              </a:defRPr>
            </a:pPr>
            <a:r>
              <a:t>Maskable PPO</a:t>
            </a:r>
          </a:p>
        </p:txBody>
      </p:sp>
      <p:cxnSp>
        <p:nvCxnSpPr>
          <p:cNvPr id="71" name="直接箭头连接符 70"/>
          <p:cNvCxnSpPr/>
          <p:nvPr/>
        </p:nvCxnSpPr>
        <p:spPr>
          <a:xfrm>
            <a:off x="1695450" y="3143250"/>
            <a:ext cx="4762500" cy="95"/>
          </a:xfrm>
          <a:prstGeom prst="straightConnector1">
            <a:avLst/>
          </a:prstGeom>
          <a:ln w="9525">
            <a:solidFill>
              <a:srgbClr val="D8DFE4"/>
            </a:solidFill>
            <a:prstDash val="solid"/>
          </a:ln>
        </p:spPr>
      </p:cxnSp>
      <p:sp>
        <p:nvSpPr>
          <p:cNvPr id="19" name="椭圆 18">
            <a:extLst>
              <a:ext uri="{FF2B5EF4-FFF2-40B4-BE49-F238E27FC236}">
                <a16:creationId xmlns:a16="http://schemas.microsoft.com/office/drawing/2014/main" id="{A5392586-1874-4D77-BB7F-C9F409F7F89D}"/>
              </a:ext>
            </a:extLst>
          </p:cNvPr>
          <p:cNvSpPr>
            <a:spLocks noGrp="1"/>
          </p:cNvSpPr>
          <p:nvPr/>
        </p:nvSpPr>
        <p:spPr>
          <a:xfrm>
            <a:off x="4651534" y="3048000"/>
            <a:ext cx="190500" cy="190500"/>
          </a:xfrm>
          <a:prstGeom prst="ellipse">
            <a:avLst/>
          </a:prstGeom>
          <a:solidFill>
            <a:srgbClr val="1E5AA8"/>
          </a:solidFill>
          <a:ln w="9525">
            <a:solidFill>
              <a:srgbClr val="1E5AA8"/>
            </a:solidFill>
            <a:prstDash val="solid"/>
          </a:ln>
        </p:spPr>
      </p:sp>
      <p:sp>
        <p:nvSpPr>
          <p:cNvPr id="20" name="矩形 19">
            <a:extLst>
              <a:ext uri="{FF2B5EF4-FFF2-40B4-BE49-F238E27FC236}">
                <a16:creationId xmlns:a16="http://schemas.microsoft.com/office/drawing/2014/main" id="{F8212007-1421-47C9-802D-B3581487D463}"/>
              </a:ext>
            </a:extLst>
          </p:cNvPr>
          <p:cNvSpPr>
            <a:spLocks noGrp="1"/>
          </p:cNvSpPr>
          <p:nvPr/>
        </p:nvSpPr>
        <p:spPr>
          <a:xfrm>
            <a:off x="4918234" y="2971800"/>
            <a:ext cx="857250" cy="323850"/>
          </a:xfrm>
          <a:prstGeom prst="rect">
            <a:avLst/>
          </a:prstGeom>
        </p:spPr>
        <p:txBody>
          <a:bodyPr wrap="square" lIns="0" tIns="0" rIns="0" bIns="0" anchor="t">
            <a:normAutofit/>
          </a:bodyPr>
          <a:lstStyle/>
          <a:p>
            <a:pPr algn="l">
              <a:defRPr sz="1575" b="1">
                <a:solidFill>
                  <a:srgbClr val="1E5AA8"/>
                </a:solidFill>
                <a:latin typeface="Microsoft YaHei"/>
                <a:ea typeface="Microsoft YaHei"/>
                <a:cs typeface="Microsoft YaHei"/>
              </a:defRPr>
            </a:pPr>
            <a:r>
              <a:t>-35.93</a:t>
            </a:r>
          </a:p>
        </p:txBody>
      </p:sp>
      <p:sp>
        <p:nvSpPr>
          <p:cNvPr id="21" name="矩形 20">
            <a:extLst>
              <a:ext uri="{FF2B5EF4-FFF2-40B4-BE49-F238E27FC236}">
                <a16:creationId xmlns:a16="http://schemas.microsoft.com/office/drawing/2014/main" id="{BA332A84-EAB3-4765-AB27-19455FDBC74F}"/>
              </a:ext>
            </a:extLst>
          </p:cNvPr>
          <p:cNvSpPr>
            <a:spLocks noGrp="1"/>
          </p:cNvSpPr>
          <p:nvPr/>
        </p:nvSpPr>
        <p:spPr>
          <a:xfrm>
            <a:off x="361950" y="3848100"/>
            <a:ext cx="1238250" cy="361950"/>
          </a:xfrm>
          <a:prstGeom prst="rect">
            <a:avLst/>
          </a:prstGeom>
        </p:spPr>
        <p:txBody>
          <a:bodyPr wrap="square" lIns="0" tIns="0" rIns="0" bIns="0" anchor="t">
            <a:normAutofit/>
          </a:bodyPr>
          <a:lstStyle/>
          <a:p>
            <a:pPr algn="r">
              <a:defRPr sz="1200" b="1">
                <a:solidFill>
                  <a:srgbClr val="17232D"/>
                </a:solidFill>
                <a:latin typeface="Microsoft YaHei"/>
                <a:ea typeface="Microsoft YaHei"/>
                <a:cs typeface="Microsoft YaHei"/>
              </a:defRPr>
            </a:pPr>
            <a:r>
              <a:t>greedy_damage</a:t>
            </a:r>
          </a:p>
        </p:txBody>
      </p:sp>
      <p:cxnSp>
        <p:nvCxnSpPr>
          <p:cNvPr id="75" name="直接箭头连接符 74"/>
          <p:cNvCxnSpPr/>
          <p:nvPr/>
        </p:nvCxnSpPr>
        <p:spPr>
          <a:xfrm>
            <a:off x="1695450" y="4019550"/>
            <a:ext cx="4762500" cy="95"/>
          </a:xfrm>
          <a:prstGeom prst="straightConnector1">
            <a:avLst/>
          </a:prstGeom>
          <a:ln w="9525">
            <a:solidFill>
              <a:srgbClr val="D8DFE4"/>
            </a:solidFill>
            <a:prstDash val="solid"/>
          </a:ln>
        </p:spPr>
      </p:cxnSp>
      <p:sp>
        <p:nvSpPr>
          <p:cNvPr id="23" name="椭圆 22">
            <a:extLst>
              <a:ext uri="{FF2B5EF4-FFF2-40B4-BE49-F238E27FC236}">
                <a16:creationId xmlns:a16="http://schemas.microsoft.com/office/drawing/2014/main" id="{A15A799B-770A-4124-8966-FD5EF4E51C67}"/>
              </a:ext>
            </a:extLst>
          </p:cNvPr>
          <p:cNvSpPr>
            <a:spLocks noGrp="1"/>
          </p:cNvSpPr>
          <p:nvPr/>
        </p:nvSpPr>
        <p:spPr>
          <a:xfrm>
            <a:off x="4517231" y="3924300"/>
            <a:ext cx="190500" cy="190500"/>
          </a:xfrm>
          <a:prstGeom prst="ellipse">
            <a:avLst/>
          </a:prstGeom>
          <a:solidFill>
            <a:srgbClr val="2E7D68"/>
          </a:solidFill>
          <a:ln w="9525">
            <a:solidFill>
              <a:srgbClr val="2E7D68"/>
            </a:solidFill>
            <a:prstDash val="solid"/>
          </a:ln>
        </p:spPr>
      </p:sp>
      <p:sp>
        <p:nvSpPr>
          <p:cNvPr id="24" name="矩形 23">
            <a:extLst>
              <a:ext uri="{FF2B5EF4-FFF2-40B4-BE49-F238E27FC236}">
                <a16:creationId xmlns:a16="http://schemas.microsoft.com/office/drawing/2014/main" id="{2D3AC8E4-2CBB-49DF-B206-E1BB0CCDB351}"/>
              </a:ext>
            </a:extLst>
          </p:cNvPr>
          <p:cNvSpPr>
            <a:spLocks noGrp="1"/>
          </p:cNvSpPr>
          <p:nvPr/>
        </p:nvSpPr>
        <p:spPr>
          <a:xfrm>
            <a:off x="4783931" y="3848100"/>
            <a:ext cx="857250" cy="323850"/>
          </a:xfrm>
          <a:prstGeom prst="rect">
            <a:avLst/>
          </a:prstGeom>
        </p:spPr>
        <p:txBody>
          <a:bodyPr wrap="square" lIns="0" tIns="0" rIns="0" bIns="0" anchor="t">
            <a:normAutofit/>
          </a:bodyPr>
          <a:lstStyle/>
          <a:p>
            <a:pPr algn="l">
              <a:defRPr sz="1575" b="1">
                <a:solidFill>
                  <a:srgbClr val="2E7D68"/>
                </a:solidFill>
                <a:latin typeface="Microsoft YaHei"/>
                <a:ea typeface="Microsoft YaHei"/>
                <a:cs typeface="Microsoft YaHei"/>
              </a:defRPr>
            </a:pPr>
            <a:r>
              <a:t>-38.75</a:t>
            </a:r>
          </a:p>
        </p:txBody>
      </p:sp>
      <p:sp>
        <p:nvSpPr>
          <p:cNvPr id="25" name="矩形 24">
            <a:extLst>
              <a:ext uri="{FF2B5EF4-FFF2-40B4-BE49-F238E27FC236}">
                <a16:creationId xmlns:a16="http://schemas.microsoft.com/office/drawing/2014/main" id="{4E77751D-5F12-4C77-A0B8-5CF58590AD46}"/>
              </a:ext>
            </a:extLst>
          </p:cNvPr>
          <p:cNvSpPr>
            <a:spLocks noGrp="1"/>
          </p:cNvSpPr>
          <p:nvPr/>
        </p:nvSpPr>
        <p:spPr>
          <a:xfrm>
            <a:off x="361950" y="4724400"/>
            <a:ext cx="1238250" cy="361950"/>
          </a:xfrm>
          <a:prstGeom prst="rect">
            <a:avLst/>
          </a:prstGeom>
        </p:spPr>
        <p:txBody>
          <a:bodyPr wrap="square" lIns="0" tIns="0" rIns="0" bIns="0" anchor="t">
            <a:normAutofit/>
          </a:bodyPr>
          <a:lstStyle/>
          <a:p>
            <a:pPr algn="r">
              <a:defRPr sz="1350" b="1">
                <a:solidFill>
                  <a:srgbClr val="17232D"/>
                </a:solidFill>
                <a:latin typeface="Microsoft YaHei"/>
                <a:ea typeface="Microsoft YaHei"/>
                <a:cs typeface="Microsoft YaHei"/>
              </a:defRPr>
            </a:pPr>
            <a:r>
              <a:t>PPO</a:t>
            </a:r>
          </a:p>
        </p:txBody>
      </p:sp>
      <p:cxnSp>
        <p:nvCxnSpPr>
          <p:cNvPr id="79" name="直接箭头连接符 78"/>
          <p:cNvCxnSpPr/>
          <p:nvPr/>
        </p:nvCxnSpPr>
        <p:spPr>
          <a:xfrm>
            <a:off x="1695450" y="4895850"/>
            <a:ext cx="4762500" cy="95"/>
          </a:xfrm>
          <a:prstGeom prst="straightConnector1">
            <a:avLst/>
          </a:prstGeom>
          <a:ln w="9525">
            <a:solidFill>
              <a:srgbClr val="D8DFE4"/>
            </a:solidFill>
            <a:prstDash val="solid"/>
          </a:ln>
        </p:spPr>
      </p:cxnSp>
      <p:sp>
        <p:nvSpPr>
          <p:cNvPr id="27" name="椭圆 26">
            <a:extLst>
              <a:ext uri="{FF2B5EF4-FFF2-40B4-BE49-F238E27FC236}">
                <a16:creationId xmlns:a16="http://schemas.microsoft.com/office/drawing/2014/main" id="{25C33272-2903-462B-8548-153F28C9E9D1}"/>
              </a:ext>
            </a:extLst>
          </p:cNvPr>
          <p:cNvSpPr>
            <a:spLocks noGrp="1"/>
          </p:cNvSpPr>
          <p:nvPr/>
        </p:nvSpPr>
        <p:spPr>
          <a:xfrm>
            <a:off x="2242185" y="4800600"/>
            <a:ext cx="190500" cy="190500"/>
          </a:xfrm>
          <a:prstGeom prst="ellipse">
            <a:avLst/>
          </a:prstGeom>
          <a:solidFill>
            <a:srgbClr val="7C858C"/>
          </a:solidFill>
          <a:ln w="9525">
            <a:solidFill>
              <a:srgbClr val="7C858C"/>
            </a:solidFill>
            <a:prstDash val="solid"/>
          </a:ln>
        </p:spPr>
      </p:sp>
      <p:sp>
        <p:nvSpPr>
          <p:cNvPr id="28" name="矩形 27">
            <a:extLst>
              <a:ext uri="{FF2B5EF4-FFF2-40B4-BE49-F238E27FC236}">
                <a16:creationId xmlns:a16="http://schemas.microsoft.com/office/drawing/2014/main" id="{6AFB24BC-AD09-4844-B159-FE44228C5D5E}"/>
              </a:ext>
            </a:extLst>
          </p:cNvPr>
          <p:cNvSpPr>
            <a:spLocks noGrp="1"/>
          </p:cNvSpPr>
          <p:nvPr/>
        </p:nvSpPr>
        <p:spPr>
          <a:xfrm>
            <a:off x="2508885" y="4724400"/>
            <a:ext cx="857250" cy="323850"/>
          </a:xfrm>
          <a:prstGeom prst="rect">
            <a:avLst/>
          </a:prstGeom>
        </p:spPr>
        <p:txBody>
          <a:bodyPr wrap="square" lIns="0" tIns="0" rIns="0" bIns="0" anchor="t">
            <a:normAutofit/>
          </a:bodyPr>
          <a:lstStyle/>
          <a:p>
            <a:pPr algn="l">
              <a:defRPr sz="1575" b="1">
                <a:solidFill>
                  <a:srgbClr val="7C858C"/>
                </a:solidFill>
                <a:latin typeface="Microsoft YaHei"/>
                <a:ea typeface="Microsoft YaHei"/>
                <a:cs typeface="Microsoft YaHei"/>
              </a:defRPr>
            </a:pPr>
            <a:r>
              <a:t>-86.52</a:t>
            </a:r>
          </a:p>
        </p:txBody>
      </p:sp>
      <p:sp>
        <p:nvSpPr>
          <p:cNvPr id="29" name="矩形 28">
            <a:extLst>
              <a:ext uri="{FF2B5EF4-FFF2-40B4-BE49-F238E27FC236}">
                <a16:creationId xmlns:a16="http://schemas.microsoft.com/office/drawing/2014/main" id="{4351A62E-D5BF-49CB-B016-C680AB771DC1}"/>
              </a:ext>
            </a:extLst>
          </p:cNvPr>
          <p:cNvSpPr>
            <a:spLocks noGrp="1"/>
          </p:cNvSpPr>
          <p:nvPr/>
        </p:nvSpPr>
        <p:spPr>
          <a:xfrm>
            <a:off x="7219950" y="1524000"/>
            <a:ext cx="4095750" cy="285750"/>
          </a:xfrm>
          <a:prstGeom prst="rect">
            <a:avLst/>
          </a:prstGeom>
        </p:spPr>
        <p:txBody>
          <a:bodyPr wrap="square" lIns="0" tIns="0" rIns="0" bIns="0" anchor="t">
            <a:normAutofit/>
          </a:bodyPr>
          <a:lstStyle/>
          <a:p>
            <a:pPr algn="l">
              <a:defRPr sz="1500" b="1">
                <a:solidFill>
                  <a:srgbClr val="5D6A74"/>
                </a:solidFill>
                <a:latin typeface="Microsoft YaHei"/>
                <a:ea typeface="Microsoft YaHei"/>
                <a:cs typeface="Microsoft YaHei"/>
              </a:defRPr>
            </a:pPr>
            <a:r>
              <a:t>关键任务指标</a:t>
            </a:r>
          </a:p>
        </p:txBody>
      </p:sp>
      <p:sp>
        <p:nvSpPr>
          <p:cNvPr id="30" name="矩形 29">
            <a:extLst>
              <a:ext uri="{FF2B5EF4-FFF2-40B4-BE49-F238E27FC236}">
                <a16:creationId xmlns:a16="http://schemas.microsoft.com/office/drawing/2014/main" id="{88B5F68B-A03E-4178-B1AD-0BA519BE31EE}"/>
              </a:ext>
            </a:extLst>
          </p:cNvPr>
          <p:cNvSpPr>
            <a:spLocks noGrp="1"/>
          </p:cNvSpPr>
          <p:nvPr/>
        </p:nvSpPr>
        <p:spPr>
          <a:xfrm>
            <a:off x="7219950" y="2095500"/>
            <a:ext cx="1333500" cy="266700"/>
          </a:xfrm>
          <a:prstGeom prst="rect">
            <a:avLst/>
          </a:prstGeom>
        </p:spPr>
        <p:txBody>
          <a:bodyPr wrap="square" lIns="0" tIns="0" rIns="0" bIns="0" anchor="t">
            <a:normAutofit/>
          </a:bodyPr>
          <a:lstStyle/>
          <a:p>
            <a:pPr algn="l">
              <a:defRPr sz="1200" b="1">
                <a:solidFill>
                  <a:srgbClr val="8A959D"/>
                </a:solidFill>
                <a:latin typeface="Microsoft YaHei"/>
                <a:ea typeface="Microsoft YaHei"/>
                <a:cs typeface="Microsoft YaHei"/>
              </a:defRPr>
            </a:pPr>
            <a:r>
              <a:t>方法</a:t>
            </a:r>
          </a:p>
        </p:txBody>
      </p:sp>
      <p:sp>
        <p:nvSpPr>
          <p:cNvPr id="31" name="矩形 30">
            <a:extLst>
              <a:ext uri="{FF2B5EF4-FFF2-40B4-BE49-F238E27FC236}">
                <a16:creationId xmlns:a16="http://schemas.microsoft.com/office/drawing/2014/main" id="{7CA855C6-DF27-484C-A897-F648B7EED7BF}"/>
              </a:ext>
            </a:extLst>
          </p:cNvPr>
          <p:cNvSpPr>
            <a:spLocks noGrp="1"/>
          </p:cNvSpPr>
          <p:nvPr/>
        </p:nvSpPr>
        <p:spPr>
          <a:xfrm>
            <a:off x="8667750" y="2095500"/>
            <a:ext cx="952500" cy="266700"/>
          </a:xfrm>
          <a:prstGeom prst="rect">
            <a:avLst/>
          </a:prstGeom>
        </p:spPr>
        <p:txBody>
          <a:bodyPr wrap="square" lIns="0" tIns="0" rIns="0" bIns="0" anchor="t">
            <a:normAutofit/>
          </a:bodyPr>
          <a:lstStyle/>
          <a:p>
            <a:pPr algn="ctr">
              <a:defRPr sz="1200" b="1">
                <a:solidFill>
                  <a:srgbClr val="8A959D"/>
                </a:solidFill>
                <a:latin typeface="Microsoft YaHei"/>
                <a:ea typeface="Microsoft YaHei"/>
                <a:cs typeface="Microsoft YaHei"/>
              </a:defRPr>
            </a:pPr>
            <a:r>
              <a:t>成功率</a:t>
            </a:r>
          </a:p>
        </p:txBody>
      </p:sp>
      <p:sp>
        <p:nvSpPr>
          <p:cNvPr id="32" name="矩形 31">
            <a:extLst>
              <a:ext uri="{FF2B5EF4-FFF2-40B4-BE49-F238E27FC236}">
                <a16:creationId xmlns:a16="http://schemas.microsoft.com/office/drawing/2014/main" id="{83AD5ECA-1607-4419-BF59-105980904FED}"/>
              </a:ext>
            </a:extLst>
          </p:cNvPr>
          <p:cNvSpPr>
            <a:spLocks noGrp="1"/>
          </p:cNvSpPr>
          <p:nvPr/>
        </p:nvSpPr>
        <p:spPr>
          <a:xfrm>
            <a:off x="9601200" y="2095500"/>
            <a:ext cx="952500" cy="266700"/>
          </a:xfrm>
          <a:prstGeom prst="rect">
            <a:avLst/>
          </a:prstGeom>
        </p:spPr>
        <p:txBody>
          <a:bodyPr wrap="square" lIns="0" tIns="0" rIns="0" bIns="0" anchor="t">
            <a:normAutofit/>
          </a:bodyPr>
          <a:lstStyle/>
          <a:p>
            <a:pPr algn="ctr">
              <a:defRPr sz="1200" b="1">
                <a:solidFill>
                  <a:srgbClr val="8A959D"/>
                </a:solidFill>
                <a:latin typeface="Microsoft YaHei"/>
                <a:ea typeface="Microsoft YaHei"/>
                <a:cs typeface="Microsoft YaHei"/>
              </a:defRPr>
            </a:pPr>
            <a:r>
              <a:t>拦截率</a:t>
            </a:r>
          </a:p>
        </p:txBody>
      </p:sp>
      <p:sp>
        <p:nvSpPr>
          <p:cNvPr id="33" name="矩形 32">
            <a:extLst>
              <a:ext uri="{FF2B5EF4-FFF2-40B4-BE49-F238E27FC236}">
                <a16:creationId xmlns:a16="http://schemas.microsoft.com/office/drawing/2014/main" id="{F3937B98-396B-4BEE-B1F7-AAFCE1E923CF}"/>
              </a:ext>
            </a:extLst>
          </p:cNvPr>
          <p:cNvSpPr>
            <a:spLocks noGrp="1"/>
          </p:cNvSpPr>
          <p:nvPr/>
        </p:nvSpPr>
        <p:spPr>
          <a:xfrm>
            <a:off x="10477500" y="2095500"/>
            <a:ext cx="952500" cy="266700"/>
          </a:xfrm>
          <a:prstGeom prst="rect">
            <a:avLst/>
          </a:prstGeom>
        </p:spPr>
        <p:txBody>
          <a:bodyPr wrap="square" lIns="0" tIns="0" rIns="0" bIns="0" anchor="t">
            <a:normAutofit/>
          </a:bodyPr>
          <a:lstStyle/>
          <a:p>
            <a:pPr algn="ctr">
              <a:defRPr sz="1200" b="1">
                <a:solidFill>
                  <a:srgbClr val="8A959D"/>
                </a:solidFill>
                <a:latin typeface="Microsoft YaHei"/>
                <a:ea typeface="Microsoft YaHei"/>
                <a:cs typeface="Microsoft YaHei"/>
              </a:defRPr>
            </a:pPr>
            <a:r>
              <a:t>损伤 / 非法</a:t>
            </a:r>
          </a:p>
        </p:txBody>
      </p:sp>
      <p:cxnSp>
        <p:nvCxnSpPr>
          <p:cNvPr id="87" name="直接箭头连接符 86"/>
          <p:cNvCxnSpPr/>
          <p:nvPr/>
        </p:nvCxnSpPr>
        <p:spPr>
          <a:xfrm>
            <a:off x="7219950" y="2457450"/>
            <a:ext cx="4286250" cy="95"/>
          </a:xfrm>
          <a:prstGeom prst="straightConnector1">
            <a:avLst/>
          </a:prstGeom>
          <a:ln w="9525">
            <a:solidFill>
              <a:srgbClr val="D8DFE4"/>
            </a:solidFill>
            <a:prstDash val="solid"/>
          </a:ln>
        </p:spPr>
      </p:cxnSp>
      <p:sp>
        <p:nvSpPr>
          <p:cNvPr id="35" name="矩形: 圆角 34">
            <a:extLst>
              <a:ext uri="{FF2B5EF4-FFF2-40B4-BE49-F238E27FC236}">
                <a16:creationId xmlns:a16="http://schemas.microsoft.com/office/drawing/2014/main" id="{5B17C670-BC54-4039-AB93-8EF693BDF8AB}"/>
              </a:ext>
            </a:extLst>
          </p:cNvPr>
          <p:cNvSpPr>
            <a:spLocks noGrp="1"/>
          </p:cNvSpPr>
          <p:nvPr/>
        </p:nvSpPr>
        <p:spPr>
          <a:xfrm>
            <a:off x="7124700" y="2647950"/>
            <a:ext cx="4476750" cy="533400"/>
          </a:xfrm>
          <a:prstGeom prst="roundRect">
            <a:avLst>
              <a:gd name="adj" fmla="val 14286"/>
            </a:avLst>
          </a:prstGeom>
          <a:solidFill>
            <a:srgbClr val="DFEAF6"/>
          </a:solidFill>
          <a:ln w="9525">
            <a:solidFill>
              <a:srgbClr val="DFEAF6"/>
            </a:solidFill>
            <a:prstDash val="solid"/>
          </a:ln>
        </p:spPr>
      </p:sp>
      <p:sp>
        <p:nvSpPr>
          <p:cNvPr id="36" name="矩形 35">
            <a:extLst>
              <a:ext uri="{FF2B5EF4-FFF2-40B4-BE49-F238E27FC236}">
                <a16:creationId xmlns:a16="http://schemas.microsoft.com/office/drawing/2014/main" id="{3AD06329-1800-4C40-9CF0-7D9CB8BEC1F5}"/>
              </a:ext>
            </a:extLst>
          </p:cNvPr>
          <p:cNvSpPr>
            <a:spLocks noGrp="1"/>
          </p:cNvSpPr>
          <p:nvPr/>
        </p:nvSpPr>
        <p:spPr>
          <a:xfrm>
            <a:off x="7219950" y="2743200"/>
            <a:ext cx="1381125" cy="285750"/>
          </a:xfrm>
          <a:prstGeom prst="rect">
            <a:avLst/>
          </a:prstGeom>
        </p:spPr>
        <p:txBody>
          <a:bodyPr wrap="square" lIns="0" tIns="0" rIns="0" bIns="0" anchor="t">
            <a:normAutofit/>
          </a:bodyPr>
          <a:lstStyle/>
          <a:p>
            <a:pPr algn="l">
              <a:defRPr sz="1275" b="1">
                <a:solidFill>
                  <a:srgbClr val="1E5AA8"/>
                </a:solidFill>
                <a:latin typeface="Microsoft YaHei"/>
                <a:ea typeface="Microsoft YaHei"/>
                <a:cs typeface="Microsoft YaHei"/>
              </a:defRPr>
            </a:pPr>
            <a:r>
              <a:t>Maskable PPO</a:t>
            </a:r>
          </a:p>
        </p:txBody>
      </p:sp>
      <p:sp>
        <p:nvSpPr>
          <p:cNvPr id="37" name="矩形 36">
            <a:extLst>
              <a:ext uri="{FF2B5EF4-FFF2-40B4-BE49-F238E27FC236}">
                <a16:creationId xmlns:a16="http://schemas.microsoft.com/office/drawing/2014/main" id="{FDC73A87-1E81-4E0E-836D-D257003DB591}"/>
              </a:ext>
            </a:extLst>
          </p:cNvPr>
          <p:cNvSpPr>
            <a:spLocks noGrp="1"/>
          </p:cNvSpPr>
          <p:nvPr/>
        </p:nvSpPr>
        <p:spPr>
          <a:xfrm>
            <a:off x="8667750" y="2743200"/>
            <a:ext cx="857250" cy="285750"/>
          </a:xfrm>
          <a:prstGeom prst="rect">
            <a:avLst/>
          </a:prstGeom>
        </p:spPr>
        <p:txBody>
          <a:bodyPr wrap="square" lIns="0" tIns="0" rIns="0" bIns="0" anchor="t">
            <a:normAutofit/>
          </a:bodyPr>
          <a:lstStyle/>
          <a:p>
            <a:pPr algn="ctr">
              <a:defRPr sz="1275" b="0">
                <a:solidFill>
                  <a:srgbClr val="17232D"/>
                </a:solidFill>
                <a:latin typeface="Microsoft YaHei"/>
                <a:ea typeface="Microsoft YaHei"/>
                <a:cs typeface="Microsoft YaHei"/>
              </a:defRPr>
            </a:pPr>
            <a:r>
              <a:t>0.082</a:t>
            </a:r>
          </a:p>
        </p:txBody>
      </p:sp>
      <p:sp>
        <p:nvSpPr>
          <p:cNvPr id="38" name="矩形 37">
            <a:extLst>
              <a:ext uri="{FF2B5EF4-FFF2-40B4-BE49-F238E27FC236}">
                <a16:creationId xmlns:a16="http://schemas.microsoft.com/office/drawing/2014/main" id="{2EEC6782-1FB4-410A-80A0-3A6E5924429A}"/>
              </a:ext>
            </a:extLst>
          </p:cNvPr>
          <p:cNvSpPr>
            <a:spLocks noGrp="1"/>
          </p:cNvSpPr>
          <p:nvPr/>
        </p:nvSpPr>
        <p:spPr>
          <a:xfrm>
            <a:off x="9601200" y="2743200"/>
            <a:ext cx="857250" cy="285750"/>
          </a:xfrm>
          <a:prstGeom prst="rect">
            <a:avLst/>
          </a:prstGeom>
        </p:spPr>
        <p:txBody>
          <a:bodyPr wrap="square" lIns="0" tIns="0" rIns="0" bIns="0" anchor="t">
            <a:normAutofit/>
          </a:bodyPr>
          <a:lstStyle/>
          <a:p>
            <a:pPr algn="ctr">
              <a:defRPr sz="1275" b="0">
                <a:solidFill>
                  <a:srgbClr val="17232D"/>
                </a:solidFill>
                <a:latin typeface="Microsoft YaHei"/>
                <a:ea typeface="Microsoft YaHei"/>
                <a:cs typeface="Microsoft YaHei"/>
              </a:defRPr>
            </a:pPr>
            <a:r>
              <a:t>0.561</a:t>
            </a:r>
          </a:p>
        </p:txBody>
      </p:sp>
      <p:sp>
        <p:nvSpPr>
          <p:cNvPr id="39" name="矩形 38">
            <a:extLst>
              <a:ext uri="{FF2B5EF4-FFF2-40B4-BE49-F238E27FC236}">
                <a16:creationId xmlns:a16="http://schemas.microsoft.com/office/drawing/2014/main" id="{041F00C7-6851-4172-BA88-600623230CF0}"/>
              </a:ext>
            </a:extLst>
          </p:cNvPr>
          <p:cNvSpPr>
            <a:spLocks noGrp="1"/>
          </p:cNvSpPr>
          <p:nvPr/>
        </p:nvSpPr>
        <p:spPr>
          <a:xfrm>
            <a:off x="10306050" y="2743200"/>
            <a:ext cx="1200150" cy="285750"/>
          </a:xfrm>
          <a:prstGeom prst="rect">
            <a:avLst/>
          </a:prstGeom>
        </p:spPr>
        <p:txBody>
          <a:bodyPr wrap="square" lIns="0" tIns="0" rIns="0" bIns="0" anchor="t">
            <a:normAutofit/>
          </a:bodyPr>
          <a:lstStyle/>
          <a:p>
            <a:pPr algn="ctr">
              <a:defRPr sz="1275" b="0">
                <a:solidFill>
                  <a:srgbClr val="17232D"/>
                </a:solidFill>
                <a:latin typeface="Microsoft YaHei"/>
                <a:ea typeface="Microsoft YaHei"/>
                <a:cs typeface="Microsoft YaHei"/>
              </a:defRPr>
            </a:pPr>
            <a:r>
              <a:t>1.052 / 0</a:t>
            </a:r>
          </a:p>
        </p:txBody>
      </p:sp>
      <p:sp>
        <p:nvSpPr>
          <p:cNvPr id="40" name="矩形: 圆角 39">
            <a:extLst>
              <a:ext uri="{FF2B5EF4-FFF2-40B4-BE49-F238E27FC236}">
                <a16:creationId xmlns:a16="http://schemas.microsoft.com/office/drawing/2014/main" id="{6E97958D-2DD9-429C-A767-1E25858BAD0B}"/>
              </a:ext>
            </a:extLst>
          </p:cNvPr>
          <p:cNvSpPr>
            <a:spLocks noGrp="1"/>
          </p:cNvSpPr>
          <p:nvPr/>
        </p:nvSpPr>
        <p:spPr>
          <a:xfrm>
            <a:off x="7124700" y="3352800"/>
            <a:ext cx="4476750" cy="533400"/>
          </a:xfrm>
          <a:prstGeom prst="roundRect">
            <a:avLst>
              <a:gd name="adj" fmla="val 14286"/>
            </a:avLst>
          </a:prstGeom>
          <a:solidFill>
            <a:srgbClr val="FFFFFF"/>
          </a:solidFill>
          <a:ln w="9525">
            <a:solidFill>
              <a:srgbClr val="FFFFFF"/>
            </a:solidFill>
            <a:prstDash val="solid"/>
          </a:ln>
        </p:spPr>
      </p:sp>
      <p:sp>
        <p:nvSpPr>
          <p:cNvPr id="41" name="矩形 40">
            <a:extLst>
              <a:ext uri="{FF2B5EF4-FFF2-40B4-BE49-F238E27FC236}">
                <a16:creationId xmlns:a16="http://schemas.microsoft.com/office/drawing/2014/main" id="{30FFF66F-632C-4929-BED9-2DD3C7F91AD1}"/>
              </a:ext>
            </a:extLst>
          </p:cNvPr>
          <p:cNvSpPr>
            <a:spLocks noGrp="1"/>
          </p:cNvSpPr>
          <p:nvPr/>
        </p:nvSpPr>
        <p:spPr>
          <a:xfrm>
            <a:off x="7219950" y="3448050"/>
            <a:ext cx="1381125" cy="285750"/>
          </a:xfrm>
          <a:prstGeom prst="rect">
            <a:avLst/>
          </a:prstGeom>
        </p:spPr>
        <p:txBody>
          <a:bodyPr wrap="square" lIns="0" tIns="0" rIns="0" bIns="0" anchor="t">
            <a:normAutofit/>
          </a:bodyPr>
          <a:lstStyle/>
          <a:p>
            <a:pPr algn="l">
              <a:defRPr sz="1275" b="1">
                <a:solidFill>
                  <a:srgbClr val="2E7D68"/>
                </a:solidFill>
                <a:latin typeface="Microsoft YaHei"/>
                <a:ea typeface="Microsoft YaHei"/>
                <a:cs typeface="Microsoft YaHei"/>
              </a:defRPr>
            </a:pPr>
            <a:r>
              <a:t>greedy_damage</a:t>
            </a:r>
          </a:p>
        </p:txBody>
      </p:sp>
      <p:sp>
        <p:nvSpPr>
          <p:cNvPr id="42" name="矩形 41">
            <a:extLst>
              <a:ext uri="{FF2B5EF4-FFF2-40B4-BE49-F238E27FC236}">
                <a16:creationId xmlns:a16="http://schemas.microsoft.com/office/drawing/2014/main" id="{EC7CE902-A534-4F3D-B11B-E7448D1B3B15}"/>
              </a:ext>
            </a:extLst>
          </p:cNvPr>
          <p:cNvSpPr>
            <a:spLocks noGrp="1"/>
          </p:cNvSpPr>
          <p:nvPr/>
        </p:nvSpPr>
        <p:spPr>
          <a:xfrm>
            <a:off x="8667750" y="3448050"/>
            <a:ext cx="857250" cy="285750"/>
          </a:xfrm>
          <a:prstGeom prst="rect">
            <a:avLst/>
          </a:prstGeom>
        </p:spPr>
        <p:txBody>
          <a:bodyPr wrap="square" lIns="0" tIns="0" rIns="0" bIns="0" anchor="t">
            <a:normAutofit/>
          </a:bodyPr>
          <a:lstStyle/>
          <a:p>
            <a:pPr algn="ctr">
              <a:defRPr sz="1275" b="0">
                <a:solidFill>
                  <a:srgbClr val="17232D"/>
                </a:solidFill>
                <a:latin typeface="Microsoft YaHei"/>
                <a:ea typeface="Microsoft YaHei"/>
                <a:cs typeface="Microsoft YaHei"/>
              </a:defRPr>
            </a:pPr>
            <a:r>
              <a:t>0.074</a:t>
            </a:r>
          </a:p>
        </p:txBody>
      </p:sp>
      <p:sp>
        <p:nvSpPr>
          <p:cNvPr id="43" name="矩形 42">
            <a:extLst>
              <a:ext uri="{FF2B5EF4-FFF2-40B4-BE49-F238E27FC236}">
                <a16:creationId xmlns:a16="http://schemas.microsoft.com/office/drawing/2014/main" id="{043829AE-0034-42DB-9C8B-9AB99E79B4D3}"/>
              </a:ext>
            </a:extLst>
          </p:cNvPr>
          <p:cNvSpPr>
            <a:spLocks noGrp="1"/>
          </p:cNvSpPr>
          <p:nvPr/>
        </p:nvSpPr>
        <p:spPr>
          <a:xfrm>
            <a:off x="9601200" y="3448050"/>
            <a:ext cx="857250" cy="285750"/>
          </a:xfrm>
          <a:prstGeom prst="rect">
            <a:avLst/>
          </a:prstGeom>
        </p:spPr>
        <p:txBody>
          <a:bodyPr wrap="square" lIns="0" tIns="0" rIns="0" bIns="0" anchor="t">
            <a:normAutofit/>
          </a:bodyPr>
          <a:lstStyle/>
          <a:p>
            <a:pPr algn="ctr">
              <a:defRPr sz="1275" b="0">
                <a:solidFill>
                  <a:srgbClr val="17232D"/>
                </a:solidFill>
                <a:latin typeface="Microsoft YaHei"/>
                <a:ea typeface="Microsoft YaHei"/>
                <a:cs typeface="Microsoft YaHei"/>
              </a:defRPr>
            </a:pPr>
            <a:r>
              <a:t>0.517</a:t>
            </a:r>
          </a:p>
        </p:txBody>
      </p:sp>
      <p:sp>
        <p:nvSpPr>
          <p:cNvPr id="44" name="矩形 43">
            <a:extLst>
              <a:ext uri="{FF2B5EF4-FFF2-40B4-BE49-F238E27FC236}">
                <a16:creationId xmlns:a16="http://schemas.microsoft.com/office/drawing/2014/main" id="{49DFF13A-4A5C-4E85-977F-C18CD14DCE8A}"/>
              </a:ext>
            </a:extLst>
          </p:cNvPr>
          <p:cNvSpPr>
            <a:spLocks noGrp="1"/>
          </p:cNvSpPr>
          <p:nvPr/>
        </p:nvSpPr>
        <p:spPr>
          <a:xfrm>
            <a:off x="10306050" y="3448050"/>
            <a:ext cx="1200150" cy="285750"/>
          </a:xfrm>
          <a:prstGeom prst="rect">
            <a:avLst/>
          </a:prstGeom>
        </p:spPr>
        <p:txBody>
          <a:bodyPr wrap="square" lIns="0" tIns="0" rIns="0" bIns="0" anchor="t">
            <a:normAutofit/>
          </a:bodyPr>
          <a:lstStyle/>
          <a:p>
            <a:pPr algn="ctr">
              <a:defRPr sz="1275" b="0">
                <a:solidFill>
                  <a:srgbClr val="17232D"/>
                </a:solidFill>
                <a:latin typeface="Microsoft YaHei"/>
                <a:ea typeface="Microsoft YaHei"/>
                <a:cs typeface="Microsoft YaHei"/>
              </a:defRPr>
            </a:pPr>
            <a:r>
              <a:t>1.052 / 0</a:t>
            </a:r>
          </a:p>
        </p:txBody>
      </p:sp>
      <p:sp>
        <p:nvSpPr>
          <p:cNvPr id="45" name="矩形: 圆角 44">
            <a:extLst>
              <a:ext uri="{FF2B5EF4-FFF2-40B4-BE49-F238E27FC236}">
                <a16:creationId xmlns:a16="http://schemas.microsoft.com/office/drawing/2014/main" id="{16BC4844-8A62-4F10-A542-82B75163DA51}"/>
              </a:ext>
            </a:extLst>
          </p:cNvPr>
          <p:cNvSpPr>
            <a:spLocks noGrp="1"/>
          </p:cNvSpPr>
          <p:nvPr/>
        </p:nvSpPr>
        <p:spPr>
          <a:xfrm>
            <a:off x="7124700" y="4057650"/>
            <a:ext cx="4476750" cy="533400"/>
          </a:xfrm>
          <a:prstGeom prst="roundRect">
            <a:avLst>
              <a:gd name="adj" fmla="val 14286"/>
            </a:avLst>
          </a:prstGeom>
          <a:solidFill>
            <a:srgbClr val="FFFFFF"/>
          </a:solidFill>
          <a:ln w="9525">
            <a:solidFill>
              <a:srgbClr val="FFFFFF"/>
            </a:solidFill>
            <a:prstDash val="solid"/>
          </a:ln>
        </p:spPr>
      </p:sp>
      <p:sp>
        <p:nvSpPr>
          <p:cNvPr id="46" name="矩形 45">
            <a:extLst>
              <a:ext uri="{FF2B5EF4-FFF2-40B4-BE49-F238E27FC236}">
                <a16:creationId xmlns:a16="http://schemas.microsoft.com/office/drawing/2014/main" id="{927C1EAB-29F9-4ED1-B510-DB91BA2FD032}"/>
              </a:ext>
            </a:extLst>
          </p:cNvPr>
          <p:cNvSpPr>
            <a:spLocks noGrp="1"/>
          </p:cNvSpPr>
          <p:nvPr/>
        </p:nvSpPr>
        <p:spPr>
          <a:xfrm>
            <a:off x="7219950" y="4152900"/>
            <a:ext cx="1381125" cy="285750"/>
          </a:xfrm>
          <a:prstGeom prst="rect">
            <a:avLst/>
          </a:prstGeom>
        </p:spPr>
        <p:txBody>
          <a:bodyPr wrap="square" lIns="0" tIns="0" rIns="0" bIns="0" anchor="t">
            <a:normAutofit/>
          </a:bodyPr>
          <a:lstStyle/>
          <a:p>
            <a:pPr algn="l">
              <a:defRPr sz="1275" b="1">
                <a:solidFill>
                  <a:srgbClr val="7C858C"/>
                </a:solidFill>
                <a:latin typeface="Microsoft YaHei"/>
                <a:ea typeface="Microsoft YaHei"/>
                <a:cs typeface="Microsoft YaHei"/>
              </a:defRPr>
            </a:pPr>
            <a:r>
              <a:t>PPO</a:t>
            </a:r>
          </a:p>
        </p:txBody>
      </p:sp>
      <p:sp>
        <p:nvSpPr>
          <p:cNvPr id="47" name="矩形 46">
            <a:extLst>
              <a:ext uri="{FF2B5EF4-FFF2-40B4-BE49-F238E27FC236}">
                <a16:creationId xmlns:a16="http://schemas.microsoft.com/office/drawing/2014/main" id="{79392498-982A-4591-A5AE-F0F420C1692C}"/>
              </a:ext>
            </a:extLst>
          </p:cNvPr>
          <p:cNvSpPr>
            <a:spLocks noGrp="1"/>
          </p:cNvSpPr>
          <p:nvPr/>
        </p:nvSpPr>
        <p:spPr>
          <a:xfrm>
            <a:off x="8667750" y="4152900"/>
            <a:ext cx="857250" cy="285750"/>
          </a:xfrm>
          <a:prstGeom prst="rect">
            <a:avLst/>
          </a:prstGeom>
        </p:spPr>
        <p:txBody>
          <a:bodyPr wrap="square" lIns="0" tIns="0" rIns="0" bIns="0" anchor="t">
            <a:normAutofit/>
          </a:bodyPr>
          <a:lstStyle/>
          <a:p>
            <a:pPr algn="ctr">
              <a:defRPr sz="1275" b="0">
                <a:solidFill>
                  <a:srgbClr val="17232D"/>
                </a:solidFill>
                <a:latin typeface="Microsoft YaHei"/>
                <a:ea typeface="Microsoft YaHei"/>
                <a:cs typeface="Microsoft YaHei"/>
              </a:defRPr>
            </a:pPr>
            <a:r>
              <a:t>0.000</a:t>
            </a:r>
          </a:p>
        </p:txBody>
      </p:sp>
      <p:sp>
        <p:nvSpPr>
          <p:cNvPr id="48" name="矩形 47">
            <a:extLst>
              <a:ext uri="{FF2B5EF4-FFF2-40B4-BE49-F238E27FC236}">
                <a16:creationId xmlns:a16="http://schemas.microsoft.com/office/drawing/2014/main" id="{857DF114-EA63-48CE-A4D4-A995E9151F80}"/>
              </a:ext>
            </a:extLst>
          </p:cNvPr>
          <p:cNvSpPr>
            <a:spLocks noGrp="1"/>
          </p:cNvSpPr>
          <p:nvPr/>
        </p:nvSpPr>
        <p:spPr>
          <a:xfrm>
            <a:off x="9601200" y="4152900"/>
            <a:ext cx="857250" cy="285750"/>
          </a:xfrm>
          <a:prstGeom prst="rect">
            <a:avLst/>
          </a:prstGeom>
        </p:spPr>
        <p:txBody>
          <a:bodyPr wrap="square" lIns="0" tIns="0" rIns="0" bIns="0" anchor="t">
            <a:normAutofit/>
          </a:bodyPr>
          <a:lstStyle/>
          <a:p>
            <a:pPr algn="ctr">
              <a:defRPr sz="1275" b="0">
                <a:solidFill>
                  <a:srgbClr val="17232D"/>
                </a:solidFill>
                <a:latin typeface="Microsoft YaHei"/>
                <a:ea typeface="Microsoft YaHei"/>
                <a:cs typeface="Microsoft YaHei"/>
              </a:defRPr>
            </a:pPr>
            <a:r>
              <a:t>0.398</a:t>
            </a:r>
          </a:p>
        </p:txBody>
      </p:sp>
      <p:sp>
        <p:nvSpPr>
          <p:cNvPr id="49" name="矩形 48">
            <a:extLst>
              <a:ext uri="{FF2B5EF4-FFF2-40B4-BE49-F238E27FC236}">
                <a16:creationId xmlns:a16="http://schemas.microsoft.com/office/drawing/2014/main" id="{6819E162-6E68-4777-A7A7-63608916ECEB}"/>
              </a:ext>
            </a:extLst>
          </p:cNvPr>
          <p:cNvSpPr>
            <a:spLocks noGrp="1"/>
          </p:cNvSpPr>
          <p:nvPr/>
        </p:nvSpPr>
        <p:spPr>
          <a:xfrm>
            <a:off x="10306050" y="4152900"/>
            <a:ext cx="1200150" cy="285750"/>
          </a:xfrm>
          <a:prstGeom prst="rect">
            <a:avLst/>
          </a:prstGeom>
        </p:spPr>
        <p:txBody>
          <a:bodyPr wrap="square" lIns="0" tIns="0" rIns="0" bIns="0" anchor="t">
            <a:normAutofit/>
          </a:bodyPr>
          <a:lstStyle/>
          <a:p>
            <a:pPr algn="ctr">
              <a:defRPr sz="1275" b="0">
                <a:solidFill>
                  <a:srgbClr val="17232D"/>
                </a:solidFill>
                <a:latin typeface="Microsoft YaHei"/>
                <a:ea typeface="Microsoft YaHei"/>
                <a:cs typeface="Microsoft YaHei"/>
              </a:defRPr>
            </a:pPr>
            <a:r>
              <a:t>1.534 / 6.84</a:t>
            </a:r>
          </a:p>
        </p:txBody>
      </p:sp>
      <p:sp>
        <p:nvSpPr>
          <p:cNvPr id="50" name="矩形: 圆角 49">
            <a:extLst>
              <a:ext uri="{FF2B5EF4-FFF2-40B4-BE49-F238E27FC236}">
                <a16:creationId xmlns:a16="http://schemas.microsoft.com/office/drawing/2014/main" id="{C4C2EEAF-07A6-4A88-B485-C076D5DC861D}"/>
              </a:ext>
            </a:extLst>
          </p:cNvPr>
          <p:cNvSpPr>
            <a:spLocks noGrp="1"/>
          </p:cNvSpPr>
          <p:nvPr/>
        </p:nvSpPr>
        <p:spPr>
          <a:xfrm>
            <a:off x="7124700" y="5067300"/>
            <a:ext cx="4476750" cy="857250"/>
          </a:xfrm>
          <a:prstGeom prst="roundRect">
            <a:avLst>
              <a:gd name="adj" fmla="val 8889"/>
            </a:avLst>
          </a:prstGeom>
          <a:solidFill>
            <a:srgbClr val="E2F0EB"/>
          </a:solidFill>
          <a:ln w="9525">
            <a:solidFill>
              <a:srgbClr val="E2F0EB"/>
            </a:solidFill>
            <a:prstDash val="solid"/>
          </a:ln>
        </p:spPr>
      </p:sp>
      <p:sp>
        <p:nvSpPr>
          <p:cNvPr id="51" name="矩形 50">
            <a:extLst>
              <a:ext uri="{FF2B5EF4-FFF2-40B4-BE49-F238E27FC236}">
                <a16:creationId xmlns:a16="http://schemas.microsoft.com/office/drawing/2014/main" id="{BD23500D-0B2F-4AF3-BDEC-82B8AB9B0B99}"/>
              </a:ext>
            </a:extLst>
          </p:cNvPr>
          <p:cNvSpPr>
            <a:spLocks noGrp="1"/>
          </p:cNvSpPr>
          <p:nvPr/>
        </p:nvSpPr>
        <p:spPr>
          <a:xfrm>
            <a:off x="7353300" y="5238750"/>
            <a:ext cx="666750" cy="266700"/>
          </a:xfrm>
          <a:prstGeom prst="rect">
            <a:avLst/>
          </a:prstGeom>
        </p:spPr>
        <p:txBody>
          <a:bodyPr wrap="square" lIns="0" tIns="0" rIns="0" bIns="0" anchor="t">
            <a:normAutofit/>
          </a:bodyPr>
          <a:lstStyle/>
          <a:p>
            <a:pPr algn="l">
              <a:defRPr sz="1350" b="1">
                <a:solidFill>
                  <a:srgbClr val="2E7D68"/>
                </a:solidFill>
                <a:latin typeface="Microsoft YaHei"/>
                <a:ea typeface="Microsoft YaHei"/>
                <a:cs typeface="Microsoft YaHei"/>
              </a:defRPr>
            </a:pPr>
            <a:r>
              <a:t>结论</a:t>
            </a:r>
          </a:p>
        </p:txBody>
      </p:sp>
      <p:sp>
        <p:nvSpPr>
          <p:cNvPr id="52" name="矩形 51">
            <a:extLst>
              <a:ext uri="{FF2B5EF4-FFF2-40B4-BE49-F238E27FC236}">
                <a16:creationId xmlns:a16="http://schemas.microsoft.com/office/drawing/2014/main" id="{5A1EDC13-EF2F-435B-A908-BD02AA17C76D}"/>
              </a:ext>
            </a:extLst>
          </p:cNvPr>
          <p:cNvSpPr>
            <a:spLocks noGrp="1"/>
          </p:cNvSpPr>
          <p:nvPr/>
        </p:nvSpPr>
        <p:spPr>
          <a:xfrm>
            <a:off x="8096250" y="5200650"/>
            <a:ext cx="3238500" cy="552450"/>
          </a:xfrm>
          <a:prstGeom prst="rect">
            <a:avLst/>
          </a:prstGeom>
        </p:spPr>
        <p:txBody>
          <a:bodyPr wrap="square" lIns="0" tIns="0" rIns="0" bIns="0" anchor="t">
            <a:normAutofit fontScale="96707"/>
          </a:bodyPr>
          <a:lstStyle/>
          <a:p>
            <a:pPr algn="l">
              <a:defRPr sz="1500" b="1">
                <a:solidFill>
                  <a:srgbClr val="17232D"/>
                </a:solidFill>
                <a:latin typeface="Microsoft YaHei"/>
                <a:ea typeface="Microsoft YaHei"/>
                <a:cs typeface="Microsoft YaHei"/>
              </a:defRPr>
            </a:pPr>
            <a:r>
              <a:t>Maskable PPO 明显优于普通 PPO，
并达到强规则 greedy_damage 水平。</a:t>
            </a:r>
          </a:p>
        </p:txBody>
      </p:sp>
      <p:sp>
        <p:nvSpPr>
          <p:cNvPr id="53" name="矩形 52">
            <a:extLst>
              <a:ext uri="{FF2B5EF4-FFF2-40B4-BE49-F238E27FC236}">
                <a16:creationId xmlns:a16="http://schemas.microsoft.com/office/drawing/2014/main" id="{6247691D-BE73-45BE-92E3-BCC45BE1740B}"/>
              </a:ext>
            </a:extLst>
          </p:cNvPr>
          <p:cNvSpPr>
            <a:spLocks noGrp="1"/>
          </p:cNvSpPr>
          <p:nvPr/>
        </p:nvSpPr>
        <p:spPr>
          <a:xfrm>
            <a:off x="457200" y="6057900"/>
            <a:ext cx="5715000" cy="228600"/>
          </a:xfrm>
          <a:prstGeom prst="rect">
            <a:avLst/>
          </a:prstGeom>
        </p:spPr>
        <p:txBody>
          <a:bodyPr wrap="square" lIns="0" tIns="0" rIns="0" bIns="0" anchor="t">
            <a:normAutofit/>
          </a:bodyPr>
          <a:lstStyle/>
          <a:p>
            <a:pPr algn="l">
              <a:defRPr sz="1200" b="0">
                <a:solidFill>
                  <a:srgbClr val="8A959D"/>
                </a:solidFill>
                <a:latin typeface="Microsoft YaHei"/>
                <a:ea typeface="Microsoft YaHei"/>
                <a:cs typeface="Microsoft YaHei"/>
              </a:defRPr>
            </a:pPr>
            <a:r>
              <a:t>均值基于 5 个随机种子；正式评估共 500 回合 / 方法</a:t>
            </a:r>
          </a:p>
        </p:txBody>
      </p:sp>
    </p:spTree>
    <p:extLst>
      <p:ext uri="{BB962C8B-B14F-4D97-AF65-F5344CB8AC3E}">
        <p14:creationId xmlns:p14="http://schemas.microsoft.com/office/powerpoint/2010/main" val="1626993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632EBD6-6C5A-482F-B326-8FB4C59AD8A5}"/>
              </a:ext>
            </a:extLst>
          </p:cNvPr>
          <p:cNvSpPr>
            <a:spLocks noGrp="1"/>
          </p:cNvSpPr>
          <p:nvPr/>
        </p:nvSpPr>
        <p:spPr>
          <a:xfrm>
            <a:off x="457200" y="285750"/>
            <a:ext cx="3143250" cy="209550"/>
          </a:xfrm>
          <a:prstGeom prst="rect">
            <a:avLst/>
          </a:prstGeom>
        </p:spPr>
        <p:txBody>
          <a:bodyPr wrap="square" lIns="0" tIns="0" rIns="0" bIns="0" anchor="t">
            <a:normAutofit/>
          </a:bodyPr>
          <a:lstStyle/>
          <a:p>
            <a:pPr algn="l">
              <a:defRPr sz="1125" b="1">
                <a:solidFill>
                  <a:srgbClr val="1E5AA8"/>
                </a:solidFill>
                <a:latin typeface="Microsoft YaHei"/>
                <a:ea typeface="Microsoft YaHei"/>
                <a:cs typeface="Microsoft YaHei"/>
              </a:defRPr>
            </a:pPr>
            <a:r>
              <a:t>MECHANISM</a:t>
            </a:r>
          </a:p>
        </p:txBody>
      </p:sp>
      <p:sp>
        <p:nvSpPr>
          <p:cNvPr id="2" name="矩形 1">
            <a:extLst>
              <a:ext uri="{FF2B5EF4-FFF2-40B4-BE49-F238E27FC236}">
                <a16:creationId xmlns:a16="http://schemas.microsoft.com/office/drawing/2014/main" id="{A8D2B562-4C5B-40F3-85A9-624A2D6ADA19}"/>
              </a:ext>
            </a:extLst>
          </p:cNvPr>
          <p:cNvSpPr>
            <a:spLocks noGrp="1"/>
          </p:cNvSpPr>
          <p:nvPr/>
        </p:nvSpPr>
        <p:spPr>
          <a:xfrm>
            <a:off x="457200" y="552450"/>
            <a:ext cx="11049000" cy="571500"/>
          </a:xfrm>
          <a:prstGeom prst="rect">
            <a:avLst/>
          </a:prstGeom>
        </p:spPr>
        <p:txBody>
          <a:bodyPr wrap="square" lIns="0" tIns="0" rIns="0" bIns="0" anchor="t">
            <a:normAutofit/>
          </a:bodyPr>
          <a:lstStyle/>
          <a:p>
            <a:pPr algn="l">
              <a:defRPr sz="3450" b="1">
                <a:solidFill>
                  <a:srgbClr val="17232D"/>
                </a:solidFill>
                <a:latin typeface="Microsoft YaHei"/>
                <a:ea typeface="Microsoft YaHei"/>
                <a:cs typeface="Microsoft YaHei"/>
              </a:defRPr>
            </a:pPr>
            <a:r>
              <a:rPr dirty="0" err="1"/>
              <a:t>为什么动作掩码有效：先保证可行，再学习优劣</a:t>
            </a:r>
            <a:endParaRPr dirty="0"/>
          </a:p>
        </p:txBody>
      </p:sp>
      <p:cxnSp>
        <p:nvCxnSpPr>
          <p:cNvPr id="39" name="直接箭头连接符 38"/>
          <p:cNvCxnSpPr/>
          <p:nvPr/>
        </p:nvCxnSpPr>
        <p:spPr>
          <a:xfrm>
            <a:off x="457200" y="1200150"/>
            <a:ext cx="11277600" cy="95"/>
          </a:xfrm>
          <a:prstGeom prst="straightConnector1">
            <a:avLst/>
          </a:prstGeom>
          <a:ln w="9525">
            <a:solidFill>
              <a:srgbClr val="D8DFE4"/>
            </a:solidFill>
            <a:prstDash val="solid"/>
          </a:ln>
        </p:spPr>
      </p:cxnSp>
      <p:sp>
        <p:nvSpPr>
          <p:cNvPr id="4" name="矩形 3">
            <a:extLst>
              <a:ext uri="{FF2B5EF4-FFF2-40B4-BE49-F238E27FC236}">
                <a16:creationId xmlns:a16="http://schemas.microsoft.com/office/drawing/2014/main" id="{D8E03D77-F010-4F3E-AC74-7AE21D5D3484}"/>
              </a:ext>
            </a:extLst>
          </p:cNvPr>
          <p:cNvSpPr>
            <a:spLocks noGrp="1"/>
          </p:cNvSpPr>
          <p:nvPr/>
        </p:nvSpPr>
        <p:spPr>
          <a:xfrm>
            <a:off x="11239500" y="6448425"/>
            <a:ext cx="495300" cy="171450"/>
          </a:xfrm>
          <a:prstGeom prst="rect">
            <a:avLst/>
          </a:prstGeom>
        </p:spPr>
        <p:txBody>
          <a:bodyPr wrap="square" lIns="0" tIns="0" rIns="0" bIns="0" anchor="t">
            <a:normAutofit/>
          </a:bodyPr>
          <a:lstStyle/>
          <a:p>
            <a:pPr algn="r">
              <a:defRPr sz="975" b="0">
                <a:solidFill>
                  <a:srgbClr val="8A959D"/>
                </a:solidFill>
                <a:latin typeface="Microsoft YaHei"/>
                <a:ea typeface="Microsoft YaHei"/>
                <a:cs typeface="Microsoft YaHei"/>
              </a:defRPr>
            </a:pPr>
            <a:r>
              <a:t>09</a:t>
            </a:r>
          </a:p>
        </p:txBody>
      </p:sp>
      <p:cxnSp>
        <p:nvCxnSpPr>
          <p:cNvPr id="41" name="直接箭头连接符 40"/>
          <p:cNvCxnSpPr/>
          <p:nvPr/>
        </p:nvCxnSpPr>
        <p:spPr>
          <a:xfrm>
            <a:off x="2667000" y="2305050"/>
            <a:ext cx="552450" cy="95"/>
          </a:xfrm>
          <a:prstGeom prst="straightConnector1">
            <a:avLst/>
          </a:prstGeom>
          <a:ln w="19050">
            <a:solidFill>
              <a:srgbClr val="5D6A74"/>
            </a:solidFill>
            <a:prstDash val="solid"/>
          </a:ln>
        </p:spPr>
      </p:cxnSp>
      <p:cxnSp>
        <p:nvCxnSpPr>
          <p:cNvPr id="42" name="直接箭头连接符 41"/>
          <p:cNvCxnSpPr/>
          <p:nvPr/>
        </p:nvCxnSpPr>
        <p:spPr>
          <a:xfrm>
            <a:off x="5429250" y="2305050"/>
            <a:ext cx="552450" cy="95"/>
          </a:xfrm>
          <a:prstGeom prst="straightConnector1">
            <a:avLst/>
          </a:prstGeom>
          <a:ln w="19050">
            <a:solidFill>
              <a:srgbClr val="5D6A74"/>
            </a:solidFill>
            <a:prstDash val="solid"/>
          </a:ln>
        </p:spPr>
      </p:cxnSp>
      <p:sp>
        <p:nvSpPr>
          <p:cNvPr id="7" name="矩形: 圆角 6">
            <a:extLst>
              <a:ext uri="{FF2B5EF4-FFF2-40B4-BE49-F238E27FC236}">
                <a16:creationId xmlns:a16="http://schemas.microsoft.com/office/drawing/2014/main" id="{B7154295-B89A-4494-9C7E-A8B399B22990}"/>
              </a:ext>
            </a:extLst>
          </p:cNvPr>
          <p:cNvSpPr>
            <a:spLocks noGrp="1"/>
          </p:cNvSpPr>
          <p:nvPr/>
        </p:nvSpPr>
        <p:spPr>
          <a:xfrm>
            <a:off x="457200" y="1752600"/>
            <a:ext cx="2209800" cy="1104900"/>
          </a:xfrm>
          <a:prstGeom prst="roundRect">
            <a:avLst>
              <a:gd name="adj" fmla="val 6897"/>
            </a:avLst>
          </a:prstGeom>
          <a:solidFill>
            <a:srgbClr val="F4F6F7"/>
          </a:solidFill>
          <a:ln w="9525">
            <a:solidFill>
              <a:srgbClr val="17232D"/>
            </a:solidFill>
            <a:prstDash val="solid"/>
          </a:ln>
        </p:spPr>
      </p:sp>
      <p:sp>
        <p:nvSpPr>
          <p:cNvPr id="8" name="矩形 7">
            <a:extLst>
              <a:ext uri="{FF2B5EF4-FFF2-40B4-BE49-F238E27FC236}">
                <a16:creationId xmlns:a16="http://schemas.microsoft.com/office/drawing/2014/main" id="{8B39EBE5-D9DE-4559-973A-46A5B3A50A33}"/>
              </a:ext>
            </a:extLst>
          </p:cNvPr>
          <p:cNvSpPr>
            <a:spLocks noGrp="1"/>
          </p:cNvSpPr>
          <p:nvPr/>
        </p:nvSpPr>
        <p:spPr>
          <a:xfrm>
            <a:off x="628650" y="1924050"/>
            <a:ext cx="1866900" cy="285750"/>
          </a:xfrm>
          <a:prstGeom prst="rect">
            <a:avLst/>
          </a:prstGeom>
        </p:spPr>
        <p:txBody>
          <a:bodyPr wrap="square" lIns="0" tIns="0" rIns="0" bIns="0" anchor="t">
            <a:normAutofit/>
          </a:bodyPr>
          <a:lstStyle/>
          <a:p>
            <a:pPr algn="ctr">
              <a:defRPr sz="1575" b="1">
                <a:solidFill>
                  <a:srgbClr val="17232D"/>
                </a:solidFill>
                <a:latin typeface="Microsoft YaHei"/>
                <a:ea typeface="Microsoft YaHei"/>
                <a:cs typeface="Microsoft YaHei"/>
              </a:defRPr>
            </a:pPr>
            <a:r>
              <a:t>联合动作空间</a:t>
            </a:r>
          </a:p>
        </p:txBody>
      </p:sp>
      <p:sp>
        <p:nvSpPr>
          <p:cNvPr id="9" name="矩形 8">
            <a:extLst>
              <a:ext uri="{FF2B5EF4-FFF2-40B4-BE49-F238E27FC236}">
                <a16:creationId xmlns:a16="http://schemas.microsoft.com/office/drawing/2014/main" id="{6A3DF813-9967-4C02-8914-CE3B670C8F18}"/>
              </a:ext>
            </a:extLst>
          </p:cNvPr>
          <p:cNvSpPr>
            <a:spLocks noGrp="1"/>
          </p:cNvSpPr>
          <p:nvPr/>
        </p:nvSpPr>
        <p:spPr>
          <a:xfrm>
            <a:off x="628650" y="2324100"/>
            <a:ext cx="1866900" cy="361950"/>
          </a:xfrm>
          <a:prstGeom prst="rect">
            <a:avLst/>
          </a:prstGeom>
        </p:spPr>
        <p:txBody>
          <a:bodyPr wrap="square" lIns="0" tIns="0" rIns="0" bIns="0" anchor="t">
            <a:normAutofit/>
          </a:bodyPr>
          <a:lstStyle/>
          <a:p>
            <a:pPr algn="ctr">
              <a:defRPr sz="1200" b="0">
                <a:solidFill>
                  <a:srgbClr val="17232D"/>
                </a:solidFill>
                <a:latin typeface="Microsoft YaHei"/>
                <a:ea typeface="Microsoft YaHei"/>
                <a:cs typeface="Microsoft YaHei"/>
              </a:defRPr>
            </a:pPr>
            <a:r>
              <a:t>包含大量物理不可行动作</a:t>
            </a:r>
          </a:p>
        </p:txBody>
      </p:sp>
      <p:sp>
        <p:nvSpPr>
          <p:cNvPr id="10" name="矩形: 圆角 9">
            <a:extLst>
              <a:ext uri="{FF2B5EF4-FFF2-40B4-BE49-F238E27FC236}">
                <a16:creationId xmlns:a16="http://schemas.microsoft.com/office/drawing/2014/main" id="{8F055783-731E-4E69-B09B-A3D59A9467CF}"/>
              </a:ext>
            </a:extLst>
          </p:cNvPr>
          <p:cNvSpPr>
            <a:spLocks noGrp="1"/>
          </p:cNvSpPr>
          <p:nvPr/>
        </p:nvSpPr>
        <p:spPr>
          <a:xfrm>
            <a:off x="3219450" y="1752600"/>
            <a:ext cx="2209800" cy="1104900"/>
          </a:xfrm>
          <a:prstGeom prst="roundRect">
            <a:avLst>
              <a:gd name="adj" fmla="val 6897"/>
            </a:avLst>
          </a:prstGeom>
          <a:solidFill>
            <a:srgbClr val="DFEAF6"/>
          </a:solidFill>
          <a:ln w="9525">
            <a:solidFill>
              <a:srgbClr val="1E5AA8"/>
            </a:solidFill>
            <a:prstDash val="solid"/>
          </a:ln>
        </p:spPr>
      </p:sp>
      <p:sp>
        <p:nvSpPr>
          <p:cNvPr id="11" name="矩形 10">
            <a:extLst>
              <a:ext uri="{FF2B5EF4-FFF2-40B4-BE49-F238E27FC236}">
                <a16:creationId xmlns:a16="http://schemas.microsoft.com/office/drawing/2014/main" id="{CF9F4DCF-446D-4E5A-881E-E76F7E939BD3}"/>
              </a:ext>
            </a:extLst>
          </p:cNvPr>
          <p:cNvSpPr>
            <a:spLocks noGrp="1"/>
          </p:cNvSpPr>
          <p:nvPr/>
        </p:nvSpPr>
        <p:spPr>
          <a:xfrm>
            <a:off x="3390900" y="1924050"/>
            <a:ext cx="1866900" cy="285750"/>
          </a:xfrm>
          <a:prstGeom prst="rect">
            <a:avLst/>
          </a:prstGeom>
        </p:spPr>
        <p:txBody>
          <a:bodyPr wrap="square" lIns="0" tIns="0" rIns="0" bIns="0" anchor="t">
            <a:normAutofit/>
          </a:bodyPr>
          <a:lstStyle/>
          <a:p>
            <a:pPr algn="ctr">
              <a:defRPr sz="1575" b="1">
                <a:solidFill>
                  <a:srgbClr val="1E5AA8"/>
                </a:solidFill>
                <a:latin typeface="Microsoft YaHei"/>
                <a:ea typeface="Microsoft YaHei"/>
                <a:cs typeface="Microsoft YaHei"/>
              </a:defRPr>
            </a:pPr>
            <a:r>
              <a:t>动作掩码</a:t>
            </a:r>
          </a:p>
        </p:txBody>
      </p:sp>
      <p:sp>
        <p:nvSpPr>
          <p:cNvPr id="12" name="矩形 11">
            <a:extLst>
              <a:ext uri="{FF2B5EF4-FFF2-40B4-BE49-F238E27FC236}">
                <a16:creationId xmlns:a16="http://schemas.microsoft.com/office/drawing/2014/main" id="{7CF9C0D5-F514-4531-8399-0BFEF763F3B6}"/>
              </a:ext>
            </a:extLst>
          </p:cNvPr>
          <p:cNvSpPr>
            <a:spLocks noGrp="1"/>
          </p:cNvSpPr>
          <p:nvPr/>
        </p:nvSpPr>
        <p:spPr>
          <a:xfrm>
            <a:off x="3390900" y="2324100"/>
            <a:ext cx="1866900" cy="361950"/>
          </a:xfrm>
          <a:prstGeom prst="rect">
            <a:avLst/>
          </a:prstGeom>
        </p:spPr>
        <p:txBody>
          <a:bodyPr wrap="square" lIns="0" tIns="0" rIns="0" bIns="0" anchor="t">
            <a:normAutofit/>
          </a:bodyPr>
          <a:lstStyle/>
          <a:p>
            <a:pPr algn="ctr">
              <a:defRPr sz="1200" b="0">
                <a:solidFill>
                  <a:srgbClr val="17232D"/>
                </a:solidFill>
                <a:latin typeface="Microsoft YaHei"/>
                <a:ea typeface="Microsoft YaHei"/>
                <a:cs typeface="Microsoft YaHei"/>
              </a:defRPr>
            </a:pPr>
            <a:r>
              <a:t>在采样前删除不可行动作</a:t>
            </a:r>
          </a:p>
        </p:txBody>
      </p:sp>
      <p:sp>
        <p:nvSpPr>
          <p:cNvPr id="13" name="矩形: 圆角 12">
            <a:extLst>
              <a:ext uri="{FF2B5EF4-FFF2-40B4-BE49-F238E27FC236}">
                <a16:creationId xmlns:a16="http://schemas.microsoft.com/office/drawing/2014/main" id="{0F4F8D8D-DBCE-44B0-8D95-0C66AA6D424F}"/>
              </a:ext>
            </a:extLst>
          </p:cNvPr>
          <p:cNvSpPr>
            <a:spLocks noGrp="1"/>
          </p:cNvSpPr>
          <p:nvPr/>
        </p:nvSpPr>
        <p:spPr>
          <a:xfrm>
            <a:off x="5981700" y="1752600"/>
            <a:ext cx="2400300" cy="1104900"/>
          </a:xfrm>
          <a:prstGeom prst="roundRect">
            <a:avLst>
              <a:gd name="adj" fmla="val 6897"/>
            </a:avLst>
          </a:prstGeom>
          <a:solidFill>
            <a:srgbClr val="E2F0EB"/>
          </a:solidFill>
          <a:ln w="9525">
            <a:solidFill>
              <a:srgbClr val="2E7D68"/>
            </a:solidFill>
            <a:prstDash val="solid"/>
          </a:ln>
        </p:spPr>
      </p:sp>
      <p:sp>
        <p:nvSpPr>
          <p:cNvPr id="14" name="矩形 13">
            <a:extLst>
              <a:ext uri="{FF2B5EF4-FFF2-40B4-BE49-F238E27FC236}">
                <a16:creationId xmlns:a16="http://schemas.microsoft.com/office/drawing/2014/main" id="{147144B2-7E6A-49CB-B498-4045A1C1ED0D}"/>
              </a:ext>
            </a:extLst>
          </p:cNvPr>
          <p:cNvSpPr>
            <a:spLocks noGrp="1"/>
          </p:cNvSpPr>
          <p:nvPr/>
        </p:nvSpPr>
        <p:spPr>
          <a:xfrm>
            <a:off x="6153150" y="1924050"/>
            <a:ext cx="2057400" cy="285750"/>
          </a:xfrm>
          <a:prstGeom prst="rect">
            <a:avLst/>
          </a:prstGeom>
        </p:spPr>
        <p:txBody>
          <a:bodyPr wrap="square" lIns="0" tIns="0" rIns="0" bIns="0" anchor="t">
            <a:normAutofit/>
          </a:bodyPr>
          <a:lstStyle/>
          <a:p>
            <a:pPr algn="ctr">
              <a:defRPr sz="1575" b="1">
                <a:solidFill>
                  <a:srgbClr val="2E7D68"/>
                </a:solidFill>
                <a:latin typeface="Microsoft YaHei"/>
                <a:ea typeface="Microsoft YaHei"/>
                <a:cs typeface="Microsoft YaHei"/>
              </a:defRPr>
            </a:pPr>
            <a:r>
              <a:t>可行策略分布</a:t>
            </a:r>
          </a:p>
        </p:txBody>
      </p:sp>
      <p:sp>
        <p:nvSpPr>
          <p:cNvPr id="15" name="矩形 14">
            <a:extLst>
              <a:ext uri="{FF2B5EF4-FFF2-40B4-BE49-F238E27FC236}">
                <a16:creationId xmlns:a16="http://schemas.microsoft.com/office/drawing/2014/main" id="{11C23E9B-E46D-444E-B07C-27CE2B74B46E}"/>
              </a:ext>
            </a:extLst>
          </p:cNvPr>
          <p:cNvSpPr>
            <a:spLocks noGrp="1"/>
          </p:cNvSpPr>
          <p:nvPr/>
        </p:nvSpPr>
        <p:spPr>
          <a:xfrm>
            <a:off x="6153150" y="2324100"/>
            <a:ext cx="2057400" cy="361950"/>
          </a:xfrm>
          <a:prstGeom prst="rect">
            <a:avLst/>
          </a:prstGeom>
        </p:spPr>
        <p:txBody>
          <a:bodyPr wrap="square" lIns="0" tIns="0" rIns="0" bIns="0" anchor="t">
            <a:normAutofit/>
          </a:bodyPr>
          <a:lstStyle/>
          <a:p>
            <a:pPr algn="ctr">
              <a:defRPr sz="1200" b="0">
                <a:solidFill>
                  <a:srgbClr val="17232D"/>
                </a:solidFill>
                <a:latin typeface="Microsoft YaHei"/>
                <a:ea typeface="Microsoft YaHei"/>
                <a:cs typeface="Microsoft YaHei"/>
              </a:defRPr>
            </a:pPr>
            <a:r>
              <a:t>学习能力集中在有效分配</a:t>
            </a:r>
          </a:p>
        </p:txBody>
      </p:sp>
      <p:sp>
        <p:nvSpPr>
          <p:cNvPr id="16" name="矩形: 圆角 15">
            <a:extLst>
              <a:ext uri="{FF2B5EF4-FFF2-40B4-BE49-F238E27FC236}">
                <a16:creationId xmlns:a16="http://schemas.microsoft.com/office/drawing/2014/main" id="{B07B0E2D-C750-4D13-8662-DD8F5393047F}"/>
              </a:ext>
            </a:extLst>
          </p:cNvPr>
          <p:cNvSpPr>
            <a:spLocks noGrp="1"/>
          </p:cNvSpPr>
          <p:nvPr/>
        </p:nvSpPr>
        <p:spPr>
          <a:xfrm>
            <a:off x="8782050" y="1581150"/>
            <a:ext cx="2819400" cy="1447800"/>
          </a:xfrm>
          <a:prstGeom prst="roundRect">
            <a:avLst>
              <a:gd name="adj" fmla="val 5263"/>
            </a:avLst>
          </a:prstGeom>
          <a:solidFill>
            <a:srgbClr val="F6E5E7"/>
          </a:solidFill>
          <a:ln w="9525">
            <a:solidFill>
              <a:srgbClr val="B84A55"/>
            </a:solidFill>
            <a:prstDash val="solid"/>
          </a:ln>
        </p:spPr>
      </p:sp>
      <p:sp>
        <p:nvSpPr>
          <p:cNvPr id="17" name="矩形 16">
            <a:extLst>
              <a:ext uri="{FF2B5EF4-FFF2-40B4-BE49-F238E27FC236}">
                <a16:creationId xmlns:a16="http://schemas.microsoft.com/office/drawing/2014/main" id="{092959EC-497A-48E7-8F65-1E9DC211342C}"/>
              </a:ext>
            </a:extLst>
          </p:cNvPr>
          <p:cNvSpPr>
            <a:spLocks noGrp="1"/>
          </p:cNvSpPr>
          <p:nvPr/>
        </p:nvSpPr>
        <p:spPr>
          <a:xfrm>
            <a:off x="9010650" y="1790700"/>
            <a:ext cx="2362200" cy="247650"/>
          </a:xfrm>
          <a:prstGeom prst="rect">
            <a:avLst/>
          </a:prstGeom>
        </p:spPr>
        <p:txBody>
          <a:bodyPr wrap="square" lIns="0" tIns="0" rIns="0" bIns="0" anchor="t">
            <a:normAutofit/>
          </a:bodyPr>
          <a:lstStyle/>
          <a:p>
            <a:pPr algn="ctr">
              <a:defRPr sz="1350" b="1">
                <a:solidFill>
                  <a:srgbClr val="B84A55"/>
                </a:solidFill>
                <a:latin typeface="Microsoft YaHei"/>
                <a:ea typeface="Microsoft YaHei"/>
                <a:cs typeface="Microsoft YaHei"/>
              </a:defRPr>
            </a:pPr>
            <a:r>
              <a:t>非法动作 / 回合</a:t>
            </a:r>
          </a:p>
        </p:txBody>
      </p:sp>
      <p:sp>
        <p:nvSpPr>
          <p:cNvPr id="18" name="矩形 17">
            <a:extLst>
              <a:ext uri="{FF2B5EF4-FFF2-40B4-BE49-F238E27FC236}">
                <a16:creationId xmlns:a16="http://schemas.microsoft.com/office/drawing/2014/main" id="{02BE4484-C70A-4799-9F2B-B25C51D21D21}"/>
              </a:ext>
            </a:extLst>
          </p:cNvPr>
          <p:cNvSpPr>
            <a:spLocks noGrp="1"/>
          </p:cNvSpPr>
          <p:nvPr/>
        </p:nvSpPr>
        <p:spPr>
          <a:xfrm>
            <a:off x="9010650" y="2152650"/>
            <a:ext cx="2362200" cy="514350"/>
          </a:xfrm>
          <a:prstGeom prst="rect">
            <a:avLst/>
          </a:prstGeom>
        </p:spPr>
        <p:txBody>
          <a:bodyPr wrap="square" lIns="0" tIns="0" rIns="0" bIns="0" anchor="t">
            <a:normAutofit/>
          </a:bodyPr>
          <a:lstStyle/>
          <a:p>
            <a:pPr algn="ctr">
              <a:defRPr sz="2850" b="1">
                <a:solidFill>
                  <a:srgbClr val="17232D"/>
                </a:solidFill>
                <a:latin typeface="Microsoft YaHei"/>
                <a:ea typeface="Microsoft YaHei"/>
                <a:cs typeface="Microsoft YaHei"/>
              </a:defRPr>
            </a:pPr>
            <a:r>
              <a:t>6.84  →  0</a:t>
            </a:r>
          </a:p>
        </p:txBody>
      </p:sp>
      <p:sp>
        <p:nvSpPr>
          <p:cNvPr id="19" name="矩形 18">
            <a:extLst>
              <a:ext uri="{FF2B5EF4-FFF2-40B4-BE49-F238E27FC236}">
                <a16:creationId xmlns:a16="http://schemas.microsoft.com/office/drawing/2014/main" id="{9194D8FE-8880-4A24-A130-EFD5FF06EEA2}"/>
              </a:ext>
            </a:extLst>
          </p:cNvPr>
          <p:cNvSpPr>
            <a:spLocks noGrp="1"/>
          </p:cNvSpPr>
          <p:nvPr/>
        </p:nvSpPr>
        <p:spPr>
          <a:xfrm>
            <a:off x="457200" y="3619500"/>
            <a:ext cx="5905500" cy="304800"/>
          </a:xfrm>
          <a:prstGeom prst="rect">
            <a:avLst/>
          </a:prstGeom>
        </p:spPr>
        <p:txBody>
          <a:bodyPr wrap="square" lIns="0" tIns="0" rIns="0" bIns="0" anchor="t">
            <a:normAutofit/>
          </a:bodyPr>
          <a:lstStyle/>
          <a:p>
            <a:pPr algn="l">
              <a:defRPr sz="1575" b="1">
                <a:solidFill>
                  <a:srgbClr val="5D6A74"/>
                </a:solidFill>
                <a:latin typeface="Microsoft YaHei"/>
                <a:ea typeface="Microsoft YaHei"/>
                <a:cs typeface="Microsoft YaHei"/>
              </a:defRPr>
            </a:pPr>
            <a:r>
              <a:t>Maskable PPO − PPO（配对差异）</a:t>
            </a:r>
          </a:p>
        </p:txBody>
      </p:sp>
      <p:cxnSp>
        <p:nvCxnSpPr>
          <p:cNvPr id="56" name="直接箭头连接符 55"/>
          <p:cNvCxnSpPr/>
          <p:nvPr/>
        </p:nvCxnSpPr>
        <p:spPr>
          <a:xfrm>
            <a:off x="457200" y="4191000"/>
            <a:ext cx="2400300" cy="95"/>
          </a:xfrm>
          <a:prstGeom prst="straightConnector1">
            <a:avLst/>
          </a:prstGeom>
          <a:ln w="38100">
            <a:solidFill>
              <a:srgbClr val="1E5AA8"/>
            </a:solidFill>
            <a:prstDash val="solid"/>
          </a:ln>
        </p:spPr>
      </p:cxnSp>
      <p:sp>
        <p:nvSpPr>
          <p:cNvPr id="21" name="矩形 20">
            <a:extLst>
              <a:ext uri="{FF2B5EF4-FFF2-40B4-BE49-F238E27FC236}">
                <a16:creationId xmlns:a16="http://schemas.microsoft.com/office/drawing/2014/main" id="{ACA50961-94B1-4AD3-AF4E-FEBD82CAED7B}"/>
              </a:ext>
            </a:extLst>
          </p:cNvPr>
          <p:cNvSpPr>
            <a:spLocks noGrp="1"/>
          </p:cNvSpPr>
          <p:nvPr/>
        </p:nvSpPr>
        <p:spPr>
          <a:xfrm>
            <a:off x="457200" y="4381500"/>
            <a:ext cx="2400300" cy="266700"/>
          </a:xfrm>
          <a:prstGeom prst="rect">
            <a:avLst/>
          </a:prstGeom>
        </p:spPr>
        <p:txBody>
          <a:bodyPr wrap="square" lIns="0" tIns="0" rIns="0" bIns="0" anchor="t">
            <a:normAutofit/>
          </a:bodyPr>
          <a:lstStyle/>
          <a:p>
            <a:pPr algn="l">
              <a:defRPr sz="1350" b="1">
                <a:solidFill>
                  <a:srgbClr val="5D6A74"/>
                </a:solidFill>
                <a:latin typeface="Microsoft YaHei"/>
                <a:ea typeface="Microsoft YaHei"/>
                <a:cs typeface="Microsoft YaHei"/>
              </a:defRPr>
            </a:pPr>
            <a:r>
              <a:t>平均奖励</a:t>
            </a:r>
          </a:p>
        </p:txBody>
      </p:sp>
      <p:sp>
        <p:nvSpPr>
          <p:cNvPr id="22" name="矩形 21">
            <a:extLst>
              <a:ext uri="{FF2B5EF4-FFF2-40B4-BE49-F238E27FC236}">
                <a16:creationId xmlns:a16="http://schemas.microsoft.com/office/drawing/2014/main" id="{91FFEB7E-C2D2-49E5-ABDF-097CC040851C}"/>
              </a:ext>
            </a:extLst>
          </p:cNvPr>
          <p:cNvSpPr>
            <a:spLocks noGrp="1"/>
          </p:cNvSpPr>
          <p:nvPr/>
        </p:nvSpPr>
        <p:spPr>
          <a:xfrm>
            <a:off x="457200" y="4743450"/>
            <a:ext cx="2400300" cy="495300"/>
          </a:xfrm>
          <a:prstGeom prst="rect">
            <a:avLst/>
          </a:prstGeom>
        </p:spPr>
        <p:txBody>
          <a:bodyPr wrap="square" lIns="0" tIns="0" rIns="0" bIns="0" anchor="t">
            <a:normAutofit/>
          </a:bodyPr>
          <a:lstStyle/>
          <a:p>
            <a:pPr algn="l">
              <a:defRPr sz="2625" b="1">
                <a:solidFill>
                  <a:srgbClr val="1E5AA8"/>
                </a:solidFill>
                <a:latin typeface="Microsoft YaHei"/>
                <a:ea typeface="Microsoft YaHei"/>
                <a:cs typeface="Microsoft YaHei"/>
              </a:defRPr>
            </a:pPr>
            <a:r>
              <a:t>+50.60</a:t>
            </a:r>
          </a:p>
        </p:txBody>
      </p:sp>
      <p:sp>
        <p:nvSpPr>
          <p:cNvPr id="23" name="矩形 22">
            <a:extLst>
              <a:ext uri="{FF2B5EF4-FFF2-40B4-BE49-F238E27FC236}">
                <a16:creationId xmlns:a16="http://schemas.microsoft.com/office/drawing/2014/main" id="{3A4C78DE-8F3D-4CD2-8EBC-73A0BF65DBA9}"/>
              </a:ext>
            </a:extLst>
          </p:cNvPr>
          <p:cNvSpPr>
            <a:spLocks noGrp="1"/>
          </p:cNvSpPr>
          <p:nvPr/>
        </p:nvSpPr>
        <p:spPr>
          <a:xfrm>
            <a:off x="457200" y="5276850"/>
            <a:ext cx="2400300" cy="266700"/>
          </a:xfrm>
          <a:prstGeom prst="rect">
            <a:avLst/>
          </a:prstGeom>
        </p:spPr>
        <p:txBody>
          <a:bodyPr wrap="square" lIns="0" tIns="0" rIns="0" bIns="0" anchor="t">
            <a:normAutofit/>
          </a:bodyPr>
          <a:lstStyle/>
          <a:p>
            <a:pPr algn="l">
              <a:defRPr sz="1125" b="0">
                <a:solidFill>
                  <a:srgbClr val="8A959D"/>
                </a:solidFill>
                <a:latin typeface="Microsoft YaHei"/>
                <a:ea typeface="Microsoft YaHei"/>
                <a:cs typeface="Microsoft YaHei"/>
              </a:defRPr>
            </a:pPr>
            <a:r>
              <a:t>95% CI  [8.24, 92.95]</a:t>
            </a:r>
          </a:p>
        </p:txBody>
      </p:sp>
      <p:cxnSp>
        <p:nvCxnSpPr>
          <p:cNvPr id="60" name="直接箭头连接符 59"/>
          <p:cNvCxnSpPr/>
          <p:nvPr/>
        </p:nvCxnSpPr>
        <p:spPr>
          <a:xfrm>
            <a:off x="3276600" y="4191000"/>
            <a:ext cx="2400300" cy="95"/>
          </a:xfrm>
          <a:prstGeom prst="straightConnector1">
            <a:avLst/>
          </a:prstGeom>
          <a:ln w="38100">
            <a:solidFill>
              <a:srgbClr val="2E7D68"/>
            </a:solidFill>
            <a:prstDash val="solid"/>
          </a:ln>
        </p:spPr>
      </p:cxnSp>
      <p:sp>
        <p:nvSpPr>
          <p:cNvPr id="25" name="矩形 24">
            <a:extLst>
              <a:ext uri="{FF2B5EF4-FFF2-40B4-BE49-F238E27FC236}">
                <a16:creationId xmlns:a16="http://schemas.microsoft.com/office/drawing/2014/main" id="{130992A3-0E75-4A89-8EF7-86F0E009EEE5}"/>
              </a:ext>
            </a:extLst>
          </p:cNvPr>
          <p:cNvSpPr>
            <a:spLocks noGrp="1"/>
          </p:cNvSpPr>
          <p:nvPr/>
        </p:nvSpPr>
        <p:spPr>
          <a:xfrm>
            <a:off x="3276600" y="4381500"/>
            <a:ext cx="2400300" cy="266700"/>
          </a:xfrm>
          <a:prstGeom prst="rect">
            <a:avLst/>
          </a:prstGeom>
        </p:spPr>
        <p:txBody>
          <a:bodyPr wrap="square" lIns="0" tIns="0" rIns="0" bIns="0" anchor="t">
            <a:normAutofit/>
          </a:bodyPr>
          <a:lstStyle/>
          <a:p>
            <a:pPr algn="l">
              <a:defRPr sz="1350" b="1">
                <a:solidFill>
                  <a:srgbClr val="5D6A74"/>
                </a:solidFill>
                <a:latin typeface="Microsoft YaHei"/>
                <a:ea typeface="Microsoft YaHei"/>
                <a:cs typeface="Microsoft YaHei"/>
              </a:defRPr>
            </a:pPr>
            <a:r>
              <a:t>拦截率</a:t>
            </a:r>
          </a:p>
        </p:txBody>
      </p:sp>
      <p:sp>
        <p:nvSpPr>
          <p:cNvPr id="26" name="矩形 25">
            <a:extLst>
              <a:ext uri="{FF2B5EF4-FFF2-40B4-BE49-F238E27FC236}">
                <a16:creationId xmlns:a16="http://schemas.microsoft.com/office/drawing/2014/main" id="{491639C0-EA19-4331-9CFE-5D26066D8550}"/>
              </a:ext>
            </a:extLst>
          </p:cNvPr>
          <p:cNvSpPr>
            <a:spLocks noGrp="1"/>
          </p:cNvSpPr>
          <p:nvPr/>
        </p:nvSpPr>
        <p:spPr>
          <a:xfrm>
            <a:off x="3276600" y="4743450"/>
            <a:ext cx="2400300" cy="495300"/>
          </a:xfrm>
          <a:prstGeom prst="rect">
            <a:avLst/>
          </a:prstGeom>
        </p:spPr>
        <p:txBody>
          <a:bodyPr wrap="square" lIns="0" tIns="0" rIns="0" bIns="0" anchor="t">
            <a:normAutofit/>
          </a:bodyPr>
          <a:lstStyle/>
          <a:p>
            <a:pPr algn="l">
              <a:defRPr sz="2625" b="1">
                <a:solidFill>
                  <a:srgbClr val="2E7D68"/>
                </a:solidFill>
                <a:latin typeface="Microsoft YaHei"/>
                <a:ea typeface="Microsoft YaHei"/>
                <a:cs typeface="Microsoft YaHei"/>
              </a:defRPr>
            </a:pPr>
            <a:r>
              <a:t>+0.163</a:t>
            </a:r>
          </a:p>
        </p:txBody>
      </p:sp>
      <p:sp>
        <p:nvSpPr>
          <p:cNvPr id="27" name="矩形 26">
            <a:extLst>
              <a:ext uri="{FF2B5EF4-FFF2-40B4-BE49-F238E27FC236}">
                <a16:creationId xmlns:a16="http://schemas.microsoft.com/office/drawing/2014/main" id="{3788607C-ABA9-4C1C-BCF5-8DE7FF736853}"/>
              </a:ext>
            </a:extLst>
          </p:cNvPr>
          <p:cNvSpPr>
            <a:spLocks noGrp="1"/>
          </p:cNvSpPr>
          <p:nvPr/>
        </p:nvSpPr>
        <p:spPr>
          <a:xfrm>
            <a:off x="3276600" y="5276850"/>
            <a:ext cx="2400300" cy="266700"/>
          </a:xfrm>
          <a:prstGeom prst="rect">
            <a:avLst/>
          </a:prstGeom>
        </p:spPr>
        <p:txBody>
          <a:bodyPr wrap="square" lIns="0" tIns="0" rIns="0" bIns="0" anchor="t">
            <a:normAutofit/>
          </a:bodyPr>
          <a:lstStyle/>
          <a:p>
            <a:pPr algn="l">
              <a:defRPr sz="1125" b="0">
                <a:solidFill>
                  <a:srgbClr val="8A959D"/>
                </a:solidFill>
                <a:latin typeface="Microsoft YaHei"/>
                <a:ea typeface="Microsoft YaHei"/>
                <a:cs typeface="Microsoft YaHei"/>
              </a:defRPr>
            </a:pPr>
            <a:r>
              <a:t>95% CI  [0.112, 0.214]</a:t>
            </a:r>
          </a:p>
        </p:txBody>
      </p:sp>
      <p:cxnSp>
        <p:nvCxnSpPr>
          <p:cNvPr id="64" name="直接箭头连接符 63"/>
          <p:cNvCxnSpPr/>
          <p:nvPr/>
        </p:nvCxnSpPr>
        <p:spPr>
          <a:xfrm>
            <a:off x="6096000" y="4191000"/>
            <a:ext cx="2400300" cy="95"/>
          </a:xfrm>
          <a:prstGeom prst="straightConnector1">
            <a:avLst/>
          </a:prstGeom>
          <a:ln w="38100">
            <a:solidFill>
              <a:srgbClr val="B84A55"/>
            </a:solidFill>
            <a:prstDash val="solid"/>
          </a:ln>
        </p:spPr>
      </p:cxnSp>
      <p:sp>
        <p:nvSpPr>
          <p:cNvPr id="29" name="矩形 28">
            <a:extLst>
              <a:ext uri="{FF2B5EF4-FFF2-40B4-BE49-F238E27FC236}">
                <a16:creationId xmlns:a16="http://schemas.microsoft.com/office/drawing/2014/main" id="{95A13BAE-D50D-48AD-AB6B-BF37B27B3D0A}"/>
              </a:ext>
            </a:extLst>
          </p:cNvPr>
          <p:cNvSpPr>
            <a:spLocks noGrp="1"/>
          </p:cNvSpPr>
          <p:nvPr/>
        </p:nvSpPr>
        <p:spPr>
          <a:xfrm>
            <a:off x="6096000" y="4381500"/>
            <a:ext cx="2400300" cy="266700"/>
          </a:xfrm>
          <a:prstGeom prst="rect">
            <a:avLst/>
          </a:prstGeom>
        </p:spPr>
        <p:txBody>
          <a:bodyPr wrap="square" lIns="0" tIns="0" rIns="0" bIns="0" anchor="t">
            <a:normAutofit/>
          </a:bodyPr>
          <a:lstStyle/>
          <a:p>
            <a:pPr algn="l">
              <a:defRPr sz="1350" b="1">
                <a:solidFill>
                  <a:srgbClr val="5D6A74"/>
                </a:solidFill>
                <a:latin typeface="Microsoft YaHei"/>
                <a:ea typeface="Microsoft YaHei"/>
                <a:cs typeface="Microsoft YaHei"/>
              </a:defRPr>
            </a:pPr>
            <a:r>
              <a:t>突防率</a:t>
            </a:r>
          </a:p>
        </p:txBody>
      </p:sp>
      <p:sp>
        <p:nvSpPr>
          <p:cNvPr id="30" name="矩形 29">
            <a:extLst>
              <a:ext uri="{FF2B5EF4-FFF2-40B4-BE49-F238E27FC236}">
                <a16:creationId xmlns:a16="http://schemas.microsoft.com/office/drawing/2014/main" id="{F083000E-AE04-4ABB-B056-A9ADF80C9370}"/>
              </a:ext>
            </a:extLst>
          </p:cNvPr>
          <p:cNvSpPr>
            <a:spLocks noGrp="1"/>
          </p:cNvSpPr>
          <p:nvPr/>
        </p:nvSpPr>
        <p:spPr>
          <a:xfrm>
            <a:off x="6096000" y="4743450"/>
            <a:ext cx="2400300" cy="495300"/>
          </a:xfrm>
          <a:prstGeom prst="rect">
            <a:avLst/>
          </a:prstGeom>
        </p:spPr>
        <p:txBody>
          <a:bodyPr wrap="square" lIns="0" tIns="0" rIns="0" bIns="0" anchor="t">
            <a:normAutofit/>
          </a:bodyPr>
          <a:lstStyle/>
          <a:p>
            <a:pPr algn="l">
              <a:defRPr sz="2625" b="1">
                <a:solidFill>
                  <a:srgbClr val="B84A55"/>
                </a:solidFill>
                <a:latin typeface="Microsoft YaHei"/>
                <a:ea typeface="Microsoft YaHei"/>
                <a:cs typeface="Microsoft YaHei"/>
              </a:defRPr>
            </a:pPr>
            <a:r>
              <a:t>−0.142</a:t>
            </a:r>
          </a:p>
        </p:txBody>
      </p:sp>
      <p:sp>
        <p:nvSpPr>
          <p:cNvPr id="31" name="矩形 30">
            <a:extLst>
              <a:ext uri="{FF2B5EF4-FFF2-40B4-BE49-F238E27FC236}">
                <a16:creationId xmlns:a16="http://schemas.microsoft.com/office/drawing/2014/main" id="{8AA738B5-4B11-414D-B997-C7FE47BEBF83}"/>
              </a:ext>
            </a:extLst>
          </p:cNvPr>
          <p:cNvSpPr>
            <a:spLocks noGrp="1"/>
          </p:cNvSpPr>
          <p:nvPr/>
        </p:nvSpPr>
        <p:spPr>
          <a:xfrm>
            <a:off x="6096000" y="5276850"/>
            <a:ext cx="2400300" cy="266700"/>
          </a:xfrm>
          <a:prstGeom prst="rect">
            <a:avLst/>
          </a:prstGeom>
        </p:spPr>
        <p:txBody>
          <a:bodyPr wrap="square" lIns="0" tIns="0" rIns="0" bIns="0" anchor="t">
            <a:normAutofit/>
          </a:bodyPr>
          <a:lstStyle/>
          <a:p>
            <a:pPr algn="l">
              <a:defRPr sz="1125" b="0">
                <a:solidFill>
                  <a:srgbClr val="8A959D"/>
                </a:solidFill>
                <a:latin typeface="Microsoft YaHei"/>
                <a:ea typeface="Microsoft YaHei"/>
                <a:cs typeface="Microsoft YaHei"/>
              </a:defRPr>
            </a:pPr>
            <a:r>
              <a:t>95% CI  [−0.186, −0.097]</a:t>
            </a:r>
          </a:p>
        </p:txBody>
      </p:sp>
      <p:cxnSp>
        <p:nvCxnSpPr>
          <p:cNvPr id="68" name="直接箭头连接符 67"/>
          <p:cNvCxnSpPr/>
          <p:nvPr/>
        </p:nvCxnSpPr>
        <p:spPr>
          <a:xfrm>
            <a:off x="8915400" y="4191000"/>
            <a:ext cx="2400300" cy="95"/>
          </a:xfrm>
          <a:prstGeom prst="straightConnector1">
            <a:avLst/>
          </a:prstGeom>
          <a:ln w="38100">
            <a:solidFill>
              <a:srgbClr val="B84A55"/>
            </a:solidFill>
            <a:prstDash val="solid"/>
          </a:ln>
        </p:spPr>
      </p:cxnSp>
      <p:sp>
        <p:nvSpPr>
          <p:cNvPr id="33" name="矩形 32">
            <a:extLst>
              <a:ext uri="{FF2B5EF4-FFF2-40B4-BE49-F238E27FC236}">
                <a16:creationId xmlns:a16="http://schemas.microsoft.com/office/drawing/2014/main" id="{46E95B1D-617D-48F8-B505-C67421A584B1}"/>
              </a:ext>
            </a:extLst>
          </p:cNvPr>
          <p:cNvSpPr>
            <a:spLocks noGrp="1"/>
          </p:cNvSpPr>
          <p:nvPr/>
        </p:nvSpPr>
        <p:spPr>
          <a:xfrm>
            <a:off x="8915400" y="4381500"/>
            <a:ext cx="2400300" cy="266700"/>
          </a:xfrm>
          <a:prstGeom prst="rect">
            <a:avLst/>
          </a:prstGeom>
        </p:spPr>
        <p:txBody>
          <a:bodyPr wrap="square" lIns="0" tIns="0" rIns="0" bIns="0" anchor="t">
            <a:normAutofit/>
          </a:bodyPr>
          <a:lstStyle/>
          <a:p>
            <a:pPr algn="l">
              <a:defRPr sz="1350" b="1">
                <a:solidFill>
                  <a:srgbClr val="5D6A74"/>
                </a:solidFill>
                <a:latin typeface="Microsoft YaHei"/>
                <a:ea typeface="Microsoft YaHei"/>
                <a:cs typeface="Microsoft YaHei"/>
              </a:defRPr>
            </a:pPr>
            <a:r>
              <a:t>平均损伤</a:t>
            </a:r>
          </a:p>
        </p:txBody>
      </p:sp>
      <p:sp>
        <p:nvSpPr>
          <p:cNvPr id="34" name="矩形 33">
            <a:extLst>
              <a:ext uri="{FF2B5EF4-FFF2-40B4-BE49-F238E27FC236}">
                <a16:creationId xmlns:a16="http://schemas.microsoft.com/office/drawing/2014/main" id="{8AFF60DD-1C1F-46D0-A098-16D3479B521E}"/>
              </a:ext>
            </a:extLst>
          </p:cNvPr>
          <p:cNvSpPr>
            <a:spLocks noGrp="1"/>
          </p:cNvSpPr>
          <p:nvPr/>
        </p:nvSpPr>
        <p:spPr>
          <a:xfrm>
            <a:off x="8915400" y="4743450"/>
            <a:ext cx="2400300" cy="495300"/>
          </a:xfrm>
          <a:prstGeom prst="rect">
            <a:avLst/>
          </a:prstGeom>
        </p:spPr>
        <p:txBody>
          <a:bodyPr wrap="square" lIns="0" tIns="0" rIns="0" bIns="0" anchor="t">
            <a:normAutofit/>
          </a:bodyPr>
          <a:lstStyle/>
          <a:p>
            <a:pPr algn="l">
              <a:defRPr sz="2625" b="1">
                <a:solidFill>
                  <a:srgbClr val="B84A55"/>
                </a:solidFill>
                <a:latin typeface="Microsoft YaHei"/>
                <a:ea typeface="Microsoft YaHei"/>
                <a:cs typeface="Microsoft YaHei"/>
              </a:defRPr>
            </a:pPr>
            <a:r>
              <a:t>−0.482</a:t>
            </a:r>
          </a:p>
        </p:txBody>
      </p:sp>
      <p:sp>
        <p:nvSpPr>
          <p:cNvPr id="35" name="矩形 34">
            <a:extLst>
              <a:ext uri="{FF2B5EF4-FFF2-40B4-BE49-F238E27FC236}">
                <a16:creationId xmlns:a16="http://schemas.microsoft.com/office/drawing/2014/main" id="{1B087E78-35BC-486E-982D-E50DA4851040}"/>
              </a:ext>
            </a:extLst>
          </p:cNvPr>
          <p:cNvSpPr>
            <a:spLocks noGrp="1"/>
          </p:cNvSpPr>
          <p:nvPr/>
        </p:nvSpPr>
        <p:spPr>
          <a:xfrm>
            <a:off x="8915400" y="5276850"/>
            <a:ext cx="2400300" cy="266700"/>
          </a:xfrm>
          <a:prstGeom prst="rect">
            <a:avLst/>
          </a:prstGeom>
        </p:spPr>
        <p:txBody>
          <a:bodyPr wrap="square" lIns="0" tIns="0" rIns="0" bIns="0" anchor="t">
            <a:normAutofit/>
          </a:bodyPr>
          <a:lstStyle/>
          <a:p>
            <a:pPr algn="l">
              <a:defRPr sz="1125" b="0">
                <a:solidFill>
                  <a:srgbClr val="8A959D"/>
                </a:solidFill>
                <a:latin typeface="Microsoft YaHei"/>
                <a:ea typeface="Microsoft YaHei"/>
                <a:cs typeface="Microsoft YaHei"/>
              </a:defRPr>
            </a:pPr>
            <a:r>
              <a:t>95% CI  [−0.615, −0.349]</a:t>
            </a:r>
          </a:p>
        </p:txBody>
      </p:sp>
      <p:sp>
        <p:nvSpPr>
          <p:cNvPr id="36" name="矩形 35">
            <a:extLst>
              <a:ext uri="{FF2B5EF4-FFF2-40B4-BE49-F238E27FC236}">
                <a16:creationId xmlns:a16="http://schemas.microsoft.com/office/drawing/2014/main" id="{E6B3985F-13D4-475F-884B-213B9A23F66C}"/>
              </a:ext>
            </a:extLst>
          </p:cNvPr>
          <p:cNvSpPr>
            <a:spLocks noGrp="1"/>
          </p:cNvSpPr>
          <p:nvPr/>
        </p:nvSpPr>
        <p:spPr>
          <a:xfrm>
            <a:off x="457200" y="5962650"/>
            <a:ext cx="10668000" cy="285750"/>
          </a:xfrm>
          <a:prstGeom prst="rect">
            <a:avLst/>
          </a:prstGeom>
        </p:spPr>
        <p:txBody>
          <a:bodyPr wrap="square" lIns="0" tIns="0" rIns="0" bIns="0" anchor="t">
            <a:normAutofit/>
          </a:bodyPr>
          <a:lstStyle/>
          <a:p>
            <a:pPr algn="l">
              <a:defRPr sz="1425" b="1">
                <a:solidFill>
                  <a:srgbClr val="17232D"/>
                </a:solidFill>
                <a:latin typeface="Microsoft YaHei"/>
                <a:ea typeface="Microsoft YaHei"/>
                <a:cs typeface="Microsoft YaHei"/>
              </a:defRPr>
            </a:pPr>
            <a:r>
              <a:t>动作掩码是联合分配中的必要约束机制，但它是可靠 baseline，而非最终学术创新。</a:t>
            </a:r>
          </a:p>
        </p:txBody>
      </p:sp>
    </p:spTree>
    <p:extLst>
      <p:ext uri="{BB962C8B-B14F-4D97-AF65-F5344CB8AC3E}">
        <p14:creationId xmlns:p14="http://schemas.microsoft.com/office/powerpoint/2010/main" val="996950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B9DC023-7C32-4B99-A274-2C74989D796E}"/>
              </a:ext>
            </a:extLst>
          </p:cNvPr>
          <p:cNvSpPr>
            <a:spLocks noGrp="1"/>
          </p:cNvSpPr>
          <p:nvPr/>
        </p:nvSpPr>
        <p:spPr>
          <a:xfrm>
            <a:off x="457200" y="285750"/>
            <a:ext cx="3143250" cy="209550"/>
          </a:xfrm>
          <a:prstGeom prst="rect">
            <a:avLst/>
          </a:prstGeom>
        </p:spPr>
        <p:txBody>
          <a:bodyPr wrap="square" lIns="0" tIns="0" rIns="0" bIns="0" anchor="t">
            <a:normAutofit/>
          </a:bodyPr>
          <a:lstStyle/>
          <a:p>
            <a:pPr algn="l">
              <a:defRPr sz="1125" b="1">
                <a:solidFill>
                  <a:srgbClr val="1E5AA8"/>
                </a:solidFill>
                <a:latin typeface="Microsoft YaHei"/>
                <a:ea typeface="Microsoft YaHei"/>
                <a:cs typeface="Microsoft YaHei"/>
              </a:defRPr>
            </a:pPr>
            <a:r>
              <a:t>LEARNING CURVES</a:t>
            </a:r>
          </a:p>
        </p:txBody>
      </p:sp>
      <p:sp>
        <p:nvSpPr>
          <p:cNvPr id="2" name="矩形 1">
            <a:extLst>
              <a:ext uri="{FF2B5EF4-FFF2-40B4-BE49-F238E27FC236}">
                <a16:creationId xmlns:a16="http://schemas.microsoft.com/office/drawing/2014/main" id="{8B7872F4-0770-47F0-B6EA-571447776949}"/>
              </a:ext>
            </a:extLst>
          </p:cNvPr>
          <p:cNvSpPr>
            <a:spLocks noGrp="1"/>
          </p:cNvSpPr>
          <p:nvPr/>
        </p:nvSpPr>
        <p:spPr>
          <a:xfrm>
            <a:off x="457200" y="552450"/>
            <a:ext cx="11049000" cy="571500"/>
          </a:xfrm>
          <a:prstGeom prst="rect">
            <a:avLst/>
          </a:prstGeom>
        </p:spPr>
        <p:txBody>
          <a:bodyPr wrap="square" lIns="0" tIns="0" rIns="0" bIns="0" anchor="t">
            <a:normAutofit/>
          </a:bodyPr>
          <a:lstStyle/>
          <a:p>
            <a:pPr algn="l">
              <a:defRPr sz="3450" b="1">
                <a:solidFill>
                  <a:srgbClr val="17232D"/>
                </a:solidFill>
                <a:latin typeface="Microsoft YaHei"/>
                <a:ea typeface="Microsoft YaHei"/>
                <a:cs typeface="Microsoft YaHei"/>
              </a:defRPr>
            </a:pPr>
            <a:r>
              <a:t>学习过程：Maskable PPO 在中后期形成稳定优势</a:t>
            </a:r>
          </a:p>
        </p:txBody>
      </p:sp>
      <p:cxnSp>
        <p:nvCxnSpPr>
          <p:cNvPr id="18" name="直接箭头连接符 17"/>
          <p:cNvCxnSpPr/>
          <p:nvPr/>
        </p:nvCxnSpPr>
        <p:spPr>
          <a:xfrm>
            <a:off x="457200" y="1200150"/>
            <a:ext cx="11277600" cy="95"/>
          </a:xfrm>
          <a:prstGeom prst="straightConnector1">
            <a:avLst/>
          </a:prstGeom>
          <a:ln w="9525">
            <a:solidFill>
              <a:srgbClr val="D8DFE4"/>
            </a:solidFill>
            <a:prstDash val="solid"/>
          </a:ln>
        </p:spPr>
      </p:cxnSp>
      <p:sp>
        <p:nvSpPr>
          <p:cNvPr id="4" name="矩形 3">
            <a:extLst>
              <a:ext uri="{FF2B5EF4-FFF2-40B4-BE49-F238E27FC236}">
                <a16:creationId xmlns:a16="http://schemas.microsoft.com/office/drawing/2014/main" id="{5376E7EC-46E1-47CB-8D3B-EB0894668821}"/>
              </a:ext>
            </a:extLst>
          </p:cNvPr>
          <p:cNvSpPr>
            <a:spLocks noGrp="1"/>
          </p:cNvSpPr>
          <p:nvPr/>
        </p:nvSpPr>
        <p:spPr>
          <a:xfrm>
            <a:off x="11239500" y="6448425"/>
            <a:ext cx="495300" cy="171450"/>
          </a:xfrm>
          <a:prstGeom prst="rect">
            <a:avLst/>
          </a:prstGeom>
        </p:spPr>
        <p:txBody>
          <a:bodyPr wrap="square" lIns="0" tIns="0" rIns="0" bIns="0" anchor="t">
            <a:normAutofit/>
          </a:bodyPr>
          <a:lstStyle/>
          <a:p>
            <a:pPr algn="r">
              <a:defRPr sz="975" b="0">
                <a:solidFill>
                  <a:srgbClr val="8A959D"/>
                </a:solidFill>
                <a:latin typeface="Microsoft YaHei"/>
                <a:ea typeface="Microsoft YaHei"/>
                <a:cs typeface="Microsoft YaHei"/>
              </a:defRPr>
            </a:pPr>
            <a:r>
              <a:t>10</a:t>
            </a:r>
          </a:p>
        </p:txBody>
      </p:sp>
      <p:sp>
        <p:nvSpPr>
          <p:cNvPr id="5" name="矩形: 圆角 4">
            <a:extLst>
              <a:ext uri="{FF2B5EF4-FFF2-40B4-BE49-F238E27FC236}">
                <a16:creationId xmlns:a16="http://schemas.microsoft.com/office/drawing/2014/main" id="{5A276DDE-1BF6-4CA1-9339-FBB4F689B37B}"/>
              </a:ext>
            </a:extLst>
          </p:cNvPr>
          <p:cNvSpPr>
            <a:spLocks noGrp="1"/>
          </p:cNvSpPr>
          <p:nvPr/>
        </p:nvSpPr>
        <p:spPr>
          <a:xfrm>
            <a:off x="457200" y="1466850"/>
            <a:ext cx="8705850" cy="4876800"/>
          </a:xfrm>
          <a:prstGeom prst="roundRect">
            <a:avLst>
              <a:gd name="adj" fmla="val 1563"/>
            </a:avLst>
          </a:prstGeom>
          <a:solidFill>
            <a:srgbClr val="FFFFFF"/>
          </a:solidFill>
          <a:ln w="9525">
            <a:solidFill>
              <a:srgbClr val="D8DFE4"/>
            </a:solidFill>
            <a:prstDash val="solid"/>
          </a:ln>
        </p:spPr>
      </p:sp>
      <p:sp>
        <p:nvSpPr>
          <p:cNvPr id="6" name="矩形 5">
            <a:extLst>
              <a:ext uri="{FF2B5EF4-FFF2-40B4-BE49-F238E27FC236}">
                <a16:creationId xmlns:a16="http://schemas.microsoft.com/office/drawing/2014/main" id="{3D0DB164-909C-4D95-8491-ED5331E7931F}"/>
              </a:ext>
            </a:extLst>
          </p:cNvPr>
          <p:cNvSpPr>
            <a:spLocks noGrp="1"/>
          </p:cNvSpPr>
          <p:nvPr/>
        </p:nvSpPr>
        <p:spPr>
          <a:xfrm>
            <a:off x="9467850" y="1676400"/>
            <a:ext cx="2000250" cy="400050"/>
          </a:xfrm>
          <a:prstGeom prst="rect">
            <a:avLst/>
          </a:prstGeom>
        </p:spPr>
        <p:txBody>
          <a:bodyPr wrap="square" lIns="0" tIns="0" rIns="0" bIns="0" anchor="t">
            <a:normAutofit/>
          </a:bodyPr>
          <a:lstStyle/>
          <a:p>
            <a:pPr algn="l">
              <a:defRPr sz="2250" b="1">
                <a:solidFill>
                  <a:srgbClr val="1E5AA8"/>
                </a:solidFill>
                <a:latin typeface="Microsoft YaHei"/>
                <a:ea typeface="Microsoft YaHei"/>
                <a:cs typeface="Microsoft YaHei"/>
              </a:defRPr>
            </a:pPr>
            <a:r>
              <a:t>40k–80k</a:t>
            </a:r>
          </a:p>
        </p:txBody>
      </p:sp>
      <p:sp>
        <p:nvSpPr>
          <p:cNvPr id="7" name="矩形 6">
            <a:extLst>
              <a:ext uri="{FF2B5EF4-FFF2-40B4-BE49-F238E27FC236}">
                <a16:creationId xmlns:a16="http://schemas.microsoft.com/office/drawing/2014/main" id="{B0DF1046-C464-426A-990B-77064D383315}"/>
              </a:ext>
            </a:extLst>
          </p:cNvPr>
          <p:cNvSpPr>
            <a:spLocks noGrp="1"/>
          </p:cNvSpPr>
          <p:nvPr/>
        </p:nvSpPr>
        <p:spPr>
          <a:xfrm>
            <a:off x="9467850" y="2095500"/>
            <a:ext cx="2000250" cy="495300"/>
          </a:xfrm>
          <a:prstGeom prst="rect">
            <a:avLst/>
          </a:prstGeom>
        </p:spPr>
        <p:txBody>
          <a:bodyPr wrap="square" lIns="0" tIns="0" rIns="0" bIns="0" anchor="t">
            <a:normAutofit/>
          </a:bodyPr>
          <a:lstStyle/>
          <a:p>
            <a:pPr algn="l">
              <a:defRPr sz="1350" b="0">
                <a:solidFill>
                  <a:srgbClr val="5D6A74"/>
                </a:solidFill>
                <a:latin typeface="Microsoft YaHei"/>
                <a:ea typeface="Microsoft YaHei"/>
                <a:cs typeface="Microsoft YaHei"/>
              </a:defRPr>
            </a:pPr>
            <a:r>
              <a:t>主要性能提升区间</a:t>
            </a:r>
          </a:p>
        </p:txBody>
      </p:sp>
      <p:cxnSp>
        <p:nvCxnSpPr>
          <p:cNvPr id="23" name="直接箭头连接符 22"/>
          <p:cNvCxnSpPr/>
          <p:nvPr/>
        </p:nvCxnSpPr>
        <p:spPr>
          <a:xfrm>
            <a:off x="9467850" y="2800350"/>
            <a:ext cx="1981200" cy="95"/>
          </a:xfrm>
          <a:prstGeom prst="straightConnector1">
            <a:avLst/>
          </a:prstGeom>
          <a:ln w="9525">
            <a:solidFill>
              <a:srgbClr val="D8DFE4"/>
            </a:solidFill>
            <a:prstDash val="solid"/>
          </a:ln>
        </p:spPr>
      </p:cxnSp>
      <p:sp>
        <p:nvSpPr>
          <p:cNvPr id="9" name="矩形 8">
            <a:extLst>
              <a:ext uri="{FF2B5EF4-FFF2-40B4-BE49-F238E27FC236}">
                <a16:creationId xmlns:a16="http://schemas.microsoft.com/office/drawing/2014/main" id="{43CD761B-6664-4362-BBF2-5193F3730D22}"/>
              </a:ext>
            </a:extLst>
          </p:cNvPr>
          <p:cNvSpPr>
            <a:spLocks noGrp="1"/>
          </p:cNvSpPr>
          <p:nvPr/>
        </p:nvSpPr>
        <p:spPr>
          <a:xfrm>
            <a:off x="9467850" y="3048000"/>
            <a:ext cx="2000250" cy="400050"/>
          </a:xfrm>
          <a:prstGeom prst="rect">
            <a:avLst/>
          </a:prstGeom>
        </p:spPr>
        <p:txBody>
          <a:bodyPr wrap="square" lIns="0" tIns="0" rIns="0" bIns="0" anchor="t">
            <a:normAutofit/>
          </a:bodyPr>
          <a:lstStyle/>
          <a:p>
            <a:pPr algn="l">
              <a:defRPr sz="2250" b="1">
                <a:solidFill>
                  <a:srgbClr val="2E7D68"/>
                </a:solidFill>
                <a:latin typeface="Microsoft YaHei"/>
                <a:ea typeface="Microsoft YaHei"/>
                <a:cs typeface="Microsoft YaHei"/>
              </a:defRPr>
            </a:pPr>
            <a:r>
              <a:t>80k 后</a:t>
            </a:r>
          </a:p>
        </p:txBody>
      </p:sp>
      <p:sp>
        <p:nvSpPr>
          <p:cNvPr id="10" name="矩形 9">
            <a:extLst>
              <a:ext uri="{FF2B5EF4-FFF2-40B4-BE49-F238E27FC236}">
                <a16:creationId xmlns:a16="http://schemas.microsoft.com/office/drawing/2014/main" id="{D15BFEB0-0703-4E23-B8B8-9E46B89180BD}"/>
              </a:ext>
            </a:extLst>
          </p:cNvPr>
          <p:cNvSpPr>
            <a:spLocks noGrp="1"/>
          </p:cNvSpPr>
          <p:nvPr/>
        </p:nvSpPr>
        <p:spPr>
          <a:xfrm>
            <a:off x="9467850" y="3467100"/>
            <a:ext cx="2000250" cy="495300"/>
          </a:xfrm>
          <a:prstGeom prst="rect">
            <a:avLst/>
          </a:prstGeom>
        </p:spPr>
        <p:txBody>
          <a:bodyPr wrap="square" lIns="0" tIns="0" rIns="0" bIns="0" anchor="t">
            <a:normAutofit/>
          </a:bodyPr>
          <a:lstStyle/>
          <a:p>
            <a:pPr algn="l">
              <a:defRPr sz="1350" b="0">
                <a:solidFill>
                  <a:srgbClr val="5D6A74"/>
                </a:solidFill>
                <a:latin typeface="Microsoft YaHei"/>
                <a:ea typeface="Microsoft YaHei"/>
                <a:cs typeface="Microsoft YaHei"/>
              </a:defRPr>
            </a:pPr>
            <a:r>
              <a:t>奖励与损伤进入平台</a:t>
            </a:r>
          </a:p>
        </p:txBody>
      </p:sp>
      <p:cxnSp>
        <p:nvCxnSpPr>
          <p:cNvPr id="26" name="直接箭头连接符 25"/>
          <p:cNvCxnSpPr/>
          <p:nvPr/>
        </p:nvCxnSpPr>
        <p:spPr>
          <a:xfrm>
            <a:off x="9467850" y="4171950"/>
            <a:ext cx="1981200" cy="95"/>
          </a:xfrm>
          <a:prstGeom prst="straightConnector1">
            <a:avLst/>
          </a:prstGeom>
          <a:ln w="9525">
            <a:solidFill>
              <a:srgbClr val="D8DFE4"/>
            </a:solidFill>
            <a:prstDash val="solid"/>
          </a:ln>
        </p:spPr>
      </p:cxnSp>
      <p:sp>
        <p:nvSpPr>
          <p:cNvPr id="12" name="矩形 11">
            <a:extLst>
              <a:ext uri="{FF2B5EF4-FFF2-40B4-BE49-F238E27FC236}">
                <a16:creationId xmlns:a16="http://schemas.microsoft.com/office/drawing/2014/main" id="{F279F166-7E88-461D-A767-A897AE10532F}"/>
              </a:ext>
            </a:extLst>
          </p:cNvPr>
          <p:cNvSpPr>
            <a:spLocks noGrp="1"/>
          </p:cNvSpPr>
          <p:nvPr/>
        </p:nvSpPr>
        <p:spPr>
          <a:xfrm>
            <a:off x="9467850" y="4419600"/>
            <a:ext cx="2000250" cy="400050"/>
          </a:xfrm>
          <a:prstGeom prst="rect">
            <a:avLst/>
          </a:prstGeom>
        </p:spPr>
        <p:txBody>
          <a:bodyPr wrap="square" lIns="0" tIns="0" rIns="0" bIns="0" anchor="t">
            <a:normAutofit/>
          </a:bodyPr>
          <a:lstStyle/>
          <a:p>
            <a:pPr algn="l">
              <a:defRPr sz="2250" b="1">
                <a:solidFill>
                  <a:srgbClr val="7C858C"/>
                </a:solidFill>
                <a:latin typeface="Microsoft YaHei"/>
                <a:ea typeface="Microsoft YaHei"/>
                <a:cs typeface="Microsoft YaHei"/>
              </a:defRPr>
            </a:pPr>
            <a:r>
              <a:t>PPO</a:t>
            </a:r>
          </a:p>
        </p:txBody>
      </p:sp>
      <p:sp>
        <p:nvSpPr>
          <p:cNvPr id="13" name="矩形 12">
            <a:extLst>
              <a:ext uri="{FF2B5EF4-FFF2-40B4-BE49-F238E27FC236}">
                <a16:creationId xmlns:a16="http://schemas.microsoft.com/office/drawing/2014/main" id="{658F7404-342A-4700-8DE8-E46C2A8C3CB3}"/>
              </a:ext>
            </a:extLst>
          </p:cNvPr>
          <p:cNvSpPr>
            <a:spLocks noGrp="1"/>
          </p:cNvSpPr>
          <p:nvPr/>
        </p:nvSpPr>
        <p:spPr>
          <a:xfrm>
            <a:off x="9467850" y="4838700"/>
            <a:ext cx="2000250" cy="762000"/>
          </a:xfrm>
          <a:prstGeom prst="rect">
            <a:avLst/>
          </a:prstGeom>
        </p:spPr>
        <p:txBody>
          <a:bodyPr wrap="square" lIns="0" tIns="0" rIns="0" bIns="0" anchor="t">
            <a:normAutofit/>
          </a:bodyPr>
          <a:lstStyle/>
          <a:p>
            <a:pPr algn="l">
              <a:defRPr sz="1350" b="0">
                <a:solidFill>
                  <a:srgbClr val="5D6A74"/>
                </a:solidFill>
                <a:latin typeface="Microsoft YaHei"/>
                <a:ea typeface="Microsoft YaHei"/>
                <a:cs typeface="Microsoft YaHei"/>
              </a:defRPr>
            </a:pPr>
            <a:r>
              <a:t>成功率始终为 0；
后期非法动作重新增加</a:t>
            </a:r>
          </a:p>
        </p:txBody>
      </p:sp>
      <p:sp>
        <p:nvSpPr>
          <p:cNvPr id="14" name="矩形 13">
            <a:extLst>
              <a:ext uri="{FF2B5EF4-FFF2-40B4-BE49-F238E27FC236}">
                <a16:creationId xmlns:a16="http://schemas.microsoft.com/office/drawing/2014/main" id="{09031128-3CC8-4809-A91B-44E2012F0B38}"/>
              </a:ext>
            </a:extLst>
          </p:cNvPr>
          <p:cNvSpPr>
            <a:spLocks noGrp="1"/>
          </p:cNvSpPr>
          <p:nvPr/>
        </p:nvSpPr>
        <p:spPr>
          <a:xfrm>
            <a:off x="9467850" y="5886450"/>
            <a:ext cx="2000250" cy="361950"/>
          </a:xfrm>
          <a:prstGeom prst="rect">
            <a:avLst/>
          </a:prstGeom>
        </p:spPr>
        <p:txBody>
          <a:bodyPr wrap="square" lIns="0" tIns="0" rIns="0" bIns="0" anchor="t">
            <a:normAutofit fontScale="98804"/>
          </a:bodyPr>
          <a:lstStyle/>
          <a:p>
            <a:pPr algn="l">
              <a:defRPr sz="1050" b="0">
                <a:solidFill>
                  <a:srgbClr val="8A959D"/>
                </a:solidFill>
                <a:latin typeface="Microsoft YaHei"/>
                <a:ea typeface="Microsoft YaHei"/>
                <a:cs typeface="Microsoft YaHei"/>
              </a:defRPr>
            </a:pPr>
            <a:r>
              <a:t>阴影：5 个随机种子的 95% 置信区间；图中去除 0 步暖启动点</a:t>
            </a:r>
          </a:p>
        </p:txBody>
      </p:sp>
      <p:pic>
        <p:nvPicPr>
          <p:cNvPr id="30" name="图片 29"/>
          <p:cNvPicPr>
            <a:picLocks noChangeAspect="1"/>
          </p:cNvPicPr>
          <p:nvPr/>
        </p:nvPicPr>
        <p:blipFill>
          <a:blip r:embed="rId3"/>
          <a:stretch/>
        </p:blipFill>
        <p:spPr>
          <a:xfrm>
            <a:off x="1403763" y="1562100"/>
            <a:ext cx="6812724" cy="4686300"/>
          </a:xfrm>
          <a:prstGeom prst="rect">
            <a:avLst/>
          </a:prstGeom>
        </p:spPr>
      </p:pic>
    </p:spTree>
    <p:extLst>
      <p:ext uri="{BB962C8B-B14F-4D97-AF65-F5344CB8AC3E}">
        <p14:creationId xmlns:p14="http://schemas.microsoft.com/office/powerpoint/2010/main" val="626788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CC51F2-6250-407F-B956-D83B3EB02C48}"/>
              </a:ext>
            </a:extLst>
          </p:cNvPr>
          <p:cNvSpPr>
            <a:spLocks noGrp="1"/>
          </p:cNvSpPr>
          <p:nvPr/>
        </p:nvSpPr>
        <p:spPr>
          <a:xfrm>
            <a:off x="457200" y="285750"/>
            <a:ext cx="3143250" cy="209550"/>
          </a:xfrm>
          <a:prstGeom prst="rect">
            <a:avLst/>
          </a:prstGeom>
        </p:spPr>
        <p:txBody>
          <a:bodyPr wrap="square" lIns="0" tIns="0" rIns="0" bIns="0" anchor="t">
            <a:normAutofit/>
          </a:bodyPr>
          <a:lstStyle/>
          <a:p>
            <a:pPr algn="l">
              <a:defRPr sz="1125" b="1">
                <a:solidFill>
                  <a:srgbClr val="1E5AA8"/>
                </a:solidFill>
                <a:latin typeface="Microsoft YaHei"/>
                <a:ea typeface="Microsoft YaHei"/>
                <a:cs typeface="Microsoft YaHei"/>
              </a:defRPr>
            </a:pPr>
            <a:r>
              <a:t>EVIDENCE BOUNDARY</a:t>
            </a:r>
          </a:p>
        </p:txBody>
      </p:sp>
      <p:sp>
        <p:nvSpPr>
          <p:cNvPr id="2" name="矩形 1">
            <a:extLst>
              <a:ext uri="{FF2B5EF4-FFF2-40B4-BE49-F238E27FC236}">
                <a16:creationId xmlns:a16="http://schemas.microsoft.com/office/drawing/2014/main" id="{165BC214-85ED-4A5B-BDB3-1638A8323D46}"/>
              </a:ext>
            </a:extLst>
          </p:cNvPr>
          <p:cNvSpPr>
            <a:spLocks noGrp="1"/>
          </p:cNvSpPr>
          <p:nvPr/>
        </p:nvSpPr>
        <p:spPr>
          <a:xfrm>
            <a:off x="457200" y="552450"/>
            <a:ext cx="11049000" cy="571500"/>
          </a:xfrm>
          <a:prstGeom prst="rect">
            <a:avLst/>
          </a:prstGeom>
        </p:spPr>
        <p:txBody>
          <a:bodyPr wrap="square" lIns="0" tIns="0" rIns="0" bIns="0" anchor="t">
            <a:normAutofit/>
          </a:bodyPr>
          <a:lstStyle/>
          <a:p>
            <a:pPr algn="l">
              <a:defRPr sz="3450" b="1">
                <a:solidFill>
                  <a:srgbClr val="17232D"/>
                </a:solidFill>
                <a:latin typeface="Microsoft YaHei"/>
                <a:ea typeface="Microsoft YaHei"/>
                <a:cs typeface="Microsoft YaHei"/>
              </a:defRPr>
            </a:pPr>
            <a:r>
              <a:t>证据边界：工程基准已建立，核心学术创新刚开始</a:t>
            </a:r>
          </a:p>
        </p:txBody>
      </p:sp>
      <p:cxnSp>
        <p:nvCxnSpPr>
          <p:cNvPr id="19" name="直接箭头连接符 18"/>
          <p:cNvCxnSpPr/>
          <p:nvPr/>
        </p:nvCxnSpPr>
        <p:spPr>
          <a:xfrm>
            <a:off x="457200" y="1200150"/>
            <a:ext cx="11277600" cy="95"/>
          </a:xfrm>
          <a:prstGeom prst="straightConnector1">
            <a:avLst/>
          </a:prstGeom>
          <a:ln w="9525">
            <a:solidFill>
              <a:srgbClr val="D8DFE4"/>
            </a:solidFill>
            <a:prstDash val="solid"/>
          </a:ln>
        </p:spPr>
      </p:cxnSp>
      <p:sp>
        <p:nvSpPr>
          <p:cNvPr id="4" name="矩形 3">
            <a:extLst>
              <a:ext uri="{FF2B5EF4-FFF2-40B4-BE49-F238E27FC236}">
                <a16:creationId xmlns:a16="http://schemas.microsoft.com/office/drawing/2014/main" id="{FC5B1351-A2A1-4E91-B9D0-448D2B62BE75}"/>
              </a:ext>
            </a:extLst>
          </p:cNvPr>
          <p:cNvSpPr>
            <a:spLocks noGrp="1"/>
          </p:cNvSpPr>
          <p:nvPr/>
        </p:nvSpPr>
        <p:spPr>
          <a:xfrm>
            <a:off x="11239500" y="6448425"/>
            <a:ext cx="495300" cy="171450"/>
          </a:xfrm>
          <a:prstGeom prst="rect">
            <a:avLst/>
          </a:prstGeom>
        </p:spPr>
        <p:txBody>
          <a:bodyPr wrap="square" lIns="0" tIns="0" rIns="0" bIns="0" anchor="t">
            <a:normAutofit/>
          </a:bodyPr>
          <a:lstStyle/>
          <a:p>
            <a:pPr algn="r">
              <a:defRPr sz="975" b="0">
                <a:solidFill>
                  <a:srgbClr val="8A959D"/>
                </a:solidFill>
                <a:latin typeface="Microsoft YaHei"/>
                <a:ea typeface="Microsoft YaHei"/>
                <a:cs typeface="Microsoft YaHei"/>
              </a:defRPr>
            </a:pPr>
            <a:r>
              <a:t>11</a:t>
            </a:r>
          </a:p>
        </p:txBody>
      </p:sp>
      <p:sp>
        <p:nvSpPr>
          <p:cNvPr id="5" name="矩形 4">
            <a:extLst>
              <a:ext uri="{FF2B5EF4-FFF2-40B4-BE49-F238E27FC236}">
                <a16:creationId xmlns:a16="http://schemas.microsoft.com/office/drawing/2014/main" id="{1974FD95-1DEF-46CE-BC34-F3E424BE42D9}"/>
              </a:ext>
            </a:extLst>
          </p:cNvPr>
          <p:cNvSpPr>
            <a:spLocks noGrp="1"/>
          </p:cNvSpPr>
          <p:nvPr/>
        </p:nvSpPr>
        <p:spPr>
          <a:xfrm>
            <a:off x="457200" y="1600200"/>
            <a:ext cx="4953000" cy="342900"/>
          </a:xfrm>
          <a:prstGeom prst="rect">
            <a:avLst/>
          </a:prstGeom>
        </p:spPr>
        <p:txBody>
          <a:bodyPr wrap="square" lIns="0" tIns="0" rIns="0" bIns="0" anchor="t">
            <a:normAutofit/>
          </a:bodyPr>
          <a:lstStyle/>
          <a:p>
            <a:pPr algn="l">
              <a:defRPr sz="1950" b="1">
                <a:solidFill>
                  <a:srgbClr val="2E7D68"/>
                </a:solidFill>
                <a:latin typeface="Microsoft YaHei"/>
                <a:ea typeface="Microsoft YaHei"/>
                <a:cs typeface="Microsoft YaHei"/>
              </a:defRPr>
            </a:pPr>
            <a:r>
              <a:t>已被当前实验支持</a:t>
            </a:r>
          </a:p>
        </p:txBody>
      </p:sp>
      <p:sp>
        <p:nvSpPr>
          <p:cNvPr id="6" name="矩形 5">
            <a:extLst>
              <a:ext uri="{FF2B5EF4-FFF2-40B4-BE49-F238E27FC236}">
                <a16:creationId xmlns:a16="http://schemas.microsoft.com/office/drawing/2014/main" id="{86E4F019-A314-4250-A6F4-22F973AD8C05}"/>
              </a:ext>
            </a:extLst>
          </p:cNvPr>
          <p:cNvSpPr>
            <a:spLocks noGrp="1"/>
          </p:cNvSpPr>
          <p:nvPr/>
        </p:nvSpPr>
        <p:spPr>
          <a:xfrm>
            <a:off x="6381750" y="1600200"/>
            <a:ext cx="4953000" cy="342900"/>
          </a:xfrm>
          <a:prstGeom prst="rect">
            <a:avLst/>
          </a:prstGeom>
        </p:spPr>
        <p:txBody>
          <a:bodyPr wrap="square" lIns="0" tIns="0" rIns="0" bIns="0" anchor="t">
            <a:normAutofit/>
          </a:bodyPr>
          <a:lstStyle/>
          <a:p>
            <a:pPr algn="l">
              <a:defRPr sz="1950" b="1">
                <a:solidFill>
                  <a:srgbClr val="B84A55"/>
                </a:solidFill>
                <a:latin typeface="Microsoft YaHei"/>
                <a:ea typeface="Microsoft YaHei"/>
                <a:cs typeface="Microsoft YaHei"/>
              </a:defRPr>
            </a:pPr>
            <a:r>
              <a:t>尚不能由当前实验推出</a:t>
            </a:r>
          </a:p>
        </p:txBody>
      </p:sp>
      <p:cxnSp>
        <p:nvCxnSpPr>
          <p:cNvPr id="23" name="直接箭头连接符 22"/>
          <p:cNvCxnSpPr/>
          <p:nvPr/>
        </p:nvCxnSpPr>
        <p:spPr>
          <a:xfrm>
            <a:off x="5924550" y="1581150"/>
            <a:ext cx="95" cy="3429000"/>
          </a:xfrm>
          <a:prstGeom prst="straightConnector1">
            <a:avLst/>
          </a:prstGeom>
          <a:ln w="9525">
            <a:solidFill>
              <a:srgbClr val="D8DFE4"/>
            </a:solidFill>
            <a:prstDash val="solid"/>
          </a:ln>
        </p:spPr>
      </p:cxnSp>
      <p:sp>
        <p:nvSpPr>
          <p:cNvPr id="8" name="矩形: 圆角 7">
            <a:extLst>
              <a:ext uri="{FF2B5EF4-FFF2-40B4-BE49-F238E27FC236}">
                <a16:creationId xmlns:a16="http://schemas.microsoft.com/office/drawing/2014/main" id="{A56149F2-EBB8-4655-9A8B-DC5A92D552A6}"/>
              </a:ext>
            </a:extLst>
          </p:cNvPr>
          <p:cNvSpPr>
            <a:spLocks noGrp="1"/>
          </p:cNvSpPr>
          <p:nvPr/>
        </p:nvSpPr>
        <p:spPr>
          <a:xfrm>
            <a:off x="457200" y="2133600"/>
            <a:ext cx="4953000" cy="2647950"/>
          </a:xfrm>
          <a:prstGeom prst="roundRect">
            <a:avLst>
              <a:gd name="adj" fmla="val 2878"/>
            </a:avLst>
          </a:prstGeom>
          <a:solidFill>
            <a:srgbClr val="E2F0EB"/>
          </a:solidFill>
          <a:ln w="9525">
            <a:solidFill>
              <a:srgbClr val="E2F0EB"/>
            </a:solidFill>
            <a:prstDash val="solid"/>
          </a:ln>
        </p:spPr>
      </p:sp>
      <p:sp>
        <p:nvSpPr>
          <p:cNvPr id="9" name="矩形 8">
            <a:extLst>
              <a:ext uri="{FF2B5EF4-FFF2-40B4-BE49-F238E27FC236}">
                <a16:creationId xmlns:a16="http://schemas.microsoft.com/office/drawing/2014/main" id="{0CEB6CA8-6A06-48EA-A5F9-32A8BA48532D}"/>
              </a:ext>
            </a:extLst>
          </p:cNvPr>
          <p:cNvSpPr>
            <a:spLocks noGrp="1"/>
          </p:cNvSpPr>
          <p:nvPr/>
        </p:nvSpPr>
        <p:spPr>
          <a:xfrm>
            <a:off x="742950" y="2419350"/>
            <a:ext cx="4381500" cy="2095500"/>
          </a:xfrm>
          <a:prstGeom prst="rect">
            <a:avLst/>
          </a:prstGeom>
        </p:spPr>
        <p:txBody>
          <a:bodyPr wrap="square" lIns="0" tIns="0" rIns="0" bIns="0" anchor="t">
            <a:normAutofit/>
          </a:bodyPr>
          <a:lstStyle/>
          <a:p>
            <a:pPr algn="l">
              <a:defRPr sz="1650" b="1">
                <a:solidFill>
                  <a:srgbClr val="17232D"/>
                </a:solidFill>
                <a:latin typeface="Microsoft YaHei"/>
                <a:ea typeface="Microsoft YaHei"/>
                <a:cs typeface="Microsoft YaHei"/>
              </a:defRPr>
            </a:pPr>
            <a:r>
              <a:t>✓  环境与实验协议可复现
✓  动作可行性约束是关键机制
✓  Maskable PPO 稳定优于普通 PPO
✓  学习策略已达到强规则基线水平</a:t>
            </a:r>
          </a:p>
        </p:txBody>
      </p:sp>
      <p:sp>
        <p:nvSpPr>
          <p:cNvPr id="10" name="矩形: 圆角 9">
            <a:extLst>
              <a:ext uri="{FF2B5EF4-FFF2-40B4-BE49-F238E27FC236}">
                <a16:creationId xmlns:a16="http://schemas.microsoft.com/office/drawing/2014/main" id="{932A4AAA-C5C9-4B31-836C-2624D6E79D42}"/>
              </a:ext>
            </a:extLst>
          </p:cNvPr>
          <p:cNvSpPr>
            <a:spLocks noGrp="1"/>
          </p:cNvSpPr>
          <p:nvPr/>
        </p:nvSpPr>
        <p:spPr>
          <a:xfrm>
            <a:off x="6381750" y="2133600"/>
            <a:ext cx="5353050" cy="2647950"/>
          </a:xfrm>
          <a:prstGeom prst="roundRect">
            <a:avLst>
              <a:gd name="adj" fmla="val 2878"/>
            </a:avLst>
          </a:prstGeom>
          <a:solidFill>
            <a:srgbClr val="F6E5E7"/>
          </a:solidFill>
          <a:ln w="9525">
            <a:solidFill>
              <a:srgbClr val="F6E5E7"/>
            </a:solidFill>
            <a:prstDash val="solid"/>
          </a:ln>
        </p:spPr>
      </p:sp>
      <p:sp>
        <p:nvSpPr>
          <p:cNvPr id="11" name="矩形 10">
            <a:extLst>
              <a:ext uri="{FF2B5EF4-FFF2-40B4-BE49-F238E27FC236}">
                <a16:creationId xmlns:a16="http://schemas.microsoft.com/office/drawing/2014/main" id="{A00DF54F-AC11-4C9B-9F18-BEE30C96E26C}"/>
              </a:ext>
            </a:extLst>
          </p:cNvPr>
          <p:cNvSpPr>
            <a:spLocks noGrp="1"/>
          </p:cNvSpPr>
          <p:nvPr/>
        </p:nvSpPr>
        <p:spPr>
          <a:xfrm>
            <a:off x="6667500" y="2419350"/>
            <a:ext cx="4781550" cy="2095500"/>
          </a:xfrm>
          <a:prstGeom prst="rect">
            <a:avLst/>
          </a:prstGeom>
        </p:spPr>
        <p:txBody>
          <a:bodyPr wrap="square" lIns="0" tIns="0" rIns="0" bIns="0" anchor="t">
            <a:normAutofit/>
          </a:bodyPr>
          <a:lstStyle/>
          <a:p>
            <a:pPr algn="l">
              <a:defRPr sz="1650" b="1">
                <a:solidFill>
                  <a:srgbClr val="17232D"/>
                </a:solidFill>
                <a:latin typeface="Microsoft YaHei"/>
                <a:ea typeface="Microsoft YaHei"/>
                <a:cs typeface="Microsoft YaHei"/>
              </a:defRPr>
            </a:pPr>
            <a:r>
              <a:t>×  尚未提出新的强化学习算法
×  尚未覆盖难度分层与跨规模泛化
×  尚未比较 Hungarian / 组合优化基线
×  尚未进入局部观测与多智能体协同</a:t>
            </a:r>
          </a:p>
        </p:txBody>
      </p:sp>
      <p:sp>
        <p:nvSpPr>
          <p:cNvPr id="12" name="矩形 11">
            <a:extLst>
              <a:ext uri="{FF2B5EF4-FFF2-40B4-BE49-F238E27FC236}">
                <a16:creationId xmlns:a16="http://schemas.microsoft.com/office/drawing/2014/main" id="{0D4C236B-D240-465A-A104-43A0632473CE}"/>
              </a:ext>
            </a:extLst>
          </p:cNvPr>
          <p:cNvSpPr>
            <a:spLocks noGrp="1"/>
          </p:cNvSpPr>
          <p:nvPr/>
        </p:nvSpPr>
        <p:spPr>
          <a:xfrm>
            <a:off x="457200" y="5219700"/>
            <a:ext cx="2857500" cy="266700"/>
          </a:xfrm>
          <a:prstGeom prst="rect">
            <a:avLst/>
          </a:prstGeom>
        </p:spPr>
        <p:txBody>
          <a:bodyPr wrap="square" lIns="0" tIns="0" rIns="0" bIns="0" anchor="t">
            <a:normAutofit/>
          </a:bodyPr>
          <a:lstStyle/>
          <a:p>
            <a:pPr algn="l">
              <a:defRPr sz="1350" b="1">
                <a:solidFill>
                  <a:srgbClr val="5D6A74"/>
                </a:solidFill>
                <a:latin typeface="Microsoft YaHei"/>
                <a:ea typeface="Microsoft YaHei"/>
                <a:cs typeface="Microsoft YaHei"/>
              </a:defRPr>
            </a:pPr>
            <a:r>
              <a:t>Maskable PPO − greedy_damage</a:t>
            </a:r>
          </a:p>
        </p:txBody>
      </p:sp>
      <p:sp>
        <p:nvSpPr>
          <p:cNvPr id="13" name="矩形 12">
            <a:extLst>
              <a:ext uri="{FF2B5EF4-FFF2-40B4-BE49-F238E27FC236}">
                <a16:creationId xmlns:a16="http://schemas.microsoft.com/office/drawing/2014/main" id="{D319992E-C6C2-4701-B332-4A236DA4C95D}"/>
              </a:ext>
            </a:extLst>
          </p:cNvPr>
          <p:cNvSpPr>
            <a:spLocks noGrp="1"/>
          </p:cNvSpPr>
          <p:nvPr/>
        </p:nvSpPr>
        <p:spPr>
          <a:xfrm>
            <a:off x="3524250" y="5124450"/>
            <a:ext cx="2000250" cy="400050"/>
          </a:xfrm>
          <a:prstGeom prst="rect">
            <a:avLst/>
          </a:prstGeom>
        </p:spPr>
        <p:txBody>
          <a:bodyPr wrap="square" lIns="0" tIns="0" rIns="0" bIns="0" anchor="t">
            <a:normAutofit/>
          </a:bodyPr>
          <a:lstStyle/>
          <a:p>
            <a:pPr algn="l">
              <a:defRPr sz="2175" b="1">
                <a:solidFill>
                  <a:srgbClr val="1E5AA8"/>
                </a:solidFill>
                <a:latin typeface="Microsoft YaHei"/>
                <a:ea typeface="Microsoft YaHei"/>
                <a:cs typeface="Microsoft YaHei"/>
              </a:defRPr>
            </a:pPr>
            <a:r>
              <a:t>奖励差  +2.83</a:t>
            </a:r>
          </a:p>
        </p:txBody>
      </p:sp>
      <p:sp>
        <p:nvSpPr>
          <p:cNvPr id="14" name="矩形 13">
            <a:extLst>
              <a:ext uri="{FF2B5EF4-FFF2-40B4-BE49-F238E27FC236}">
                <a16:creationId xmlns:a16="http://schemas.microsoft.com/office/drawing/2014/main" id="{3F37E24E-5960-4813-AD52-349D4B4F7E22}"/>
              </a:ext>
            </a:extLst>
          </p:cNvPr>
          <p:cNvSpPr>
            <a:spLocks noGrp="1"/>
          </p:cNvSpPr>
          <p:nvPr/>
        </p:nvSpPr>
        <p:spPr>
          <a:xfrm>
            <a:off x="5810250" y="5181600"/>
            <a:ext cx="2762250" cy="323850"/>
          </a:xfrm>
          <a:prstGeom prst="rect">
            <a:avLst/>
          </a:prstGeom>
        </p:spPr>
        <p:txBody>
          <a:bodyPr wrap="square" lIns="0" tIns="0" rIns="0" bIns="0" anchor="t">
            <a:normAutofit/>
          </a:bodyPr>
          <a:lstStyle/>
          <a:p>
            <a:pPr algn="l">
              <a:defRPr sz="1650" b="1">
                <a:solidFill>
                  <a:srgbClr val="17232D"/>
                </a:solidFill>
                <a:latin typeface="Microsoft YaHei"/>
                <a:ea typeface="Microsoft YaHei"/>
                <a:cs typeface="Microsoft YaHei"/>
              </a:defRPr>
            </a:pPr>
            <a:r>
              <a:t>95% CI  [−6.63, 12.29]</a:t>
            </a:r>
          </a:p>
        </p:txBody>
      </p:sp>
      <p:sp>
        <p:nvSpPr>
          <p:cNvPr id="15" name="矩形 14">
            <a:extLst>
              <a:ext uri="{FF2B5EF4-FFF2-40B4-BE49-F238E27FC236}">
                <a16:creationId xmlns:a16="http://schemas.microsoft.com/office/drawing/2014/main" id="{4892E683-D59D-482A-851F-869B0302BB30}"/>
              </a:ext>
            </a:extLst>
          </p:cNvPr>
          <p:cNvSpPr>
            <a:spLocks noGrp="1"/>
          </p:cNvSpPr>
          <p:nvPr/>
        </p:nvSpPr>
        <p:spPr>
          <a:xfrm>
            <a:off x="8915400" y="5124450"/>
            <a:ext cx="2343150" cy="400050"/>
          </a:xfrm>
          <a:prstGeom prst="rect">
            <a:avLst/>
          </a:prstGeom>
        </p:spPr>
        <p:txBody>
          <a:bodyPr wrap="square" lIns="0" tIns="0" rIns="0" bIns="0" anchor="t">
            <a:normAutofit/>
          </a:bodyPr>
          <a:lstStyle/>
          <a:p>
            <a:pPr algn="r">
              <a:defRPr sz="1875" b="1">
                <a:solidFill>
                  <a:srgbClr val="B84A55"/>
                </a:solidFill>
                <a:latin typeface="Microsoft YaHei"/>
                <a:ea typeface="Microsoft YaHei"/>
                <a:cs typeface="Microsoft YaHei"/>
              </a:defRPr>
            </a:pPr>
            <a:r>
              <a:t>置信区间跨 0</a:t>
            </a:r>
          </a:p>
        </p:txBody>
      </p:sp>
      <p:sp>
        <p:nvSpPr>
          <p:cNvPr id="16" name="矩形 15">
            <a:extLst>
              <a:ext uri="{FF2B5EF4-FFF2-40B4-BE49-F238E27FC236}">
                <a16:creationId xmlns:a16="http://schemas.microsoft.com/office/drawing/2014/main" id="{D98DFED9-C9EA-47DD-9BA9-E71A6DFC0905}"/>
              </a:ext>
            </a:extLst>
          </p:cNvPr>
          <p:cNvSpPr>
            <a:spLocks noGrp="1"/>
          </p:cNvSpPr>
          <p:nvPr/>
        </p:nvSpPr>
        <p:spPr>
          <a:xfrm>
            <a:off x="457200" y="5810250"/>
            <a:ext cx="10858500" cy="361950"/>
          </a:xfrm>
          <a:prstGeom prst="rect">
            <a:avLst/>
          </a:prstGeom>
        </p:spPr>
        <p:txBody>
          <a:bodyPr wrap="square" lIns="0" tIns="0" rIns="0" bIns="0" anchor="t">
            <a:normAutofit/>
          </a:bodyPr>
          <a:lstStyle/>
          <a:p>
            <a:pPr algn="l">
              <a:defRPr sz="1650" b="1">
                <a:solidFill>
                  <a:srgbClr val="17232D"/>
                </a:solidFill>
                <a:latin typeface="Microsoft YaHei"/>
                <a:ea typeface="Microsoft YaHei"/>
                <a:cs typeface="Microsoft YaHei"/>
              </a:defRPr>
            </a:pPr>
            <a:r>
              <a:t>准确表述：达到 greedy_damage 水平，但尚无证据证明稳定超过。</a:t>
            </a:r>
          </a:p>
        </p:txBody>
      </p:sp>
    </p:spTree>
    <p:extLst>
      <p:ext uri="{BB962C8B-B14F-4D97-AF65-F5344CB8AC3E}">
        <p14:creationId xmlns:p14="http://schemas.microsoft.com/office/powerpoint/2010/main" val="137385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33B2758-3479-409A-B250-74AB3776DF6E}"/>
              </a:ext>
            </a:extLst>
          </p:cNvPr>
          <p:cNvSpPr>
            <a:spLocks noGrp="1"/>
          </p:cNvSpPr>
          <p:nvPr/>
        </p:nvSpPr>
        <p:spPr>
          <a:xfrm>
            <a:off x="457200" y="285750"/>
            <a:ext cx="3143250" cy="209550"/>
          </a:xfrm>
          <a:prstGeom prst="rect">
            <a:avLst/>
          </a:prstGeom>
        </p:spPr>
        <p:txBody>
          <a:bodyPr wrap="square" lIns="0" tIns="0" rIns="0" bIns="0" anchor="t">
            <a:normAutofit/>
          </a:bodyPr>
          <a:lstStyle/>
          <a:p>
            <a:pPr algn="l">
              <a:defRPr sz="1125" b="1">
                <a:solidFill>
                  <a:srgbClr val="1E5AA8"/>
                </a:solidFill>
                <a:latin typeface="Microsoft YaHei"/>
                <a:ea typeface="Microsoft YaHei"/>
                <a:cs typeface="Microsoft YaHei"/>
              </a:defRPr>
            </a:pPr>
            <a:r>
              <a:t>RESEARCH PLAN</a:t>
            </a:r>
          </a:p>
        </p:txBody>
      </p:sp>
      <p:sp>
        <p:nvSpPr>
          <p:cNvPr id="2" name="矩形 1">
            <a:extLst>
              <a:ext uri="{FF2B5EF4-FFF2-40B4-BE49-F238E27FC236}">
                <a16:creationId xmlns:a16="http://schemas.microsoft.com/office/drawing/2014/main" id="{F8E06528-FFD2-4F5D-B10D-22B28E07FDD5}"/>
              </a:ext>
            </a:extLst>
          </p:cNvPr>
          <p:cNvSpPr>
            <a:spLocks noGrp="1"/>
          </p:cNvSpPr>
          <p:nvPr/>
        </p:nvSpPr>
        <p:spPr>
          <a:xfrm>
            <a:off x="457200" y="552450"/>
            <a:ext cx="11049000" cy="571500"/>
          </a:xfrm>
          <a:prstGeom prst="rect">
            <a:avLst/>
          </a:prstGeom>
        </p:spPr>
        <p:txBody>
          <a:bodyPr wrap="square" lIns="0" tIns="0" rIns="0" bIns="0" anchor="t">
            <a:normAutofit/>
          </a:bodyPr>
          <a:lstStyle/>
          <a:p>
            <a:pPr algn="l">
              <a:defRPr sz="3450" b="1">
                <a:solidFill>
                  <a:srgbClr val="17232D"/>
                </a:solidFill>
                <a:latin typeface="Microsoft YaHei"/>
                <a:ea typeface="Microsoft YaHei"/>
                <a:cs typeface="Microsoft YaHei"/>
              </a:defRPr>
            </a:pPr>
            <a:r>
              <a:t>下一阶段：从平台建设转向结构化算法研究</a:t>
            </a:r>
          </a:p>
        </p:txBody>
      </p:sp>
      <p:cxnSp>
        <p:nvCxnSpPr>
          <p:cNvPr id="36" name="直接箭头连接符 35"/>
          <p:cNvCxnSpPr/>
          <p:nvPr/>
        </p:nvCxnSpPr>
        <p:spPr>
          <a:xfrm>
            <a:off x="457200" y="1200150"/>
            <a:ext cx="11277600" cy="95"/>
          </a:xfrm>
          <a:prstGeom prst="straightConnector1">
            <a:avLst/>
          </a:prstGeom>
          <a:ln w="9525">
            <a:solidFill>
              <a:srgbClr val="D8DFE4"/>
            </a:solidFill>
            <a:prstDash val="solid"/>
          </a:ln>
        </p:spPr>
      </p:cxnSp>
      <p:sp>
        <p:nvSpPr>
          <p:cNvPr id="4" name="矩形 3">
            <a:extLst>
              <a:ext uri="{FF2B5EF4-FFF2-40B4-BE49-F238E27FC236}">
                <a16:creationId xmlns:a16="http://schemas.microsoft.com/office/drawing/2014/main" id="{413A8377-5CB7-479F-A934-FD446688DD79}"/>
              </a:ext>
            </a:extLst>
          </p:cNvPr>
          <p:cNvSpPr>
            <a:spLocks noGrp="1"/>
          </p:cNvSpPr>
          <p:nvPr/>
        </p:nvSpPr>
        <p:spPr>
          <a:xfrm>
            <a:off x="11239500" y="6448425"/>
            <a:ext cx="495300" cy="171450"/>
          </a:xfrm>
          <a:prstGeom prst="rect">
            <a:avLst/>
          </a:prstGeom>
        </p:spPr>
        <p:txBody>
          <a:bodyPr wrap="square" lIns="0" tIns="0" rIns="0" bIns="0" anchor="t">
            <a:normAutofit/>
          </a:bodyPr>
          <a:lstStyle/>
          <a:p>
            <a:pPr algn="r">
              <a:defRPr sz="975" b="0">
                <a:solidFill>
                  <a:srgbClr val="8A959D"/>
                </a:solidFill>
                <a:latin typeface="Microsoft YaHei"/>
                <a:ea typeface="Microsoft YaHei"/>
                <a:cs typeface="Microsoft YaHei"/>
              </a:defRPr>
            </a:pPr>
            <a:r>
              <a:t>12</a:t>
            </a:r>
          </a:p>
        </p:txBody>
      </p:sp>
      <p:cxnSp>
        <p:nvCxnSpPr>
          <p:cNvPr id="38" name="直接箭头连接符 37"/>
          <p:cNvCxnSpPr/>
          <p:nvPr/>
        </p:nvCxnSpPr>
        <p:spPr>
          <a:xfrm>
            <a:off x="2324100" y="2705100"/>
            <a:ext cx="381000" cy="95"/>
          </a:xfrm>
          <a:prstGeom prst="straightConnector1">
            <a:avLst/>
          </a:prstGeom>
          <a:ln w="19050">
            <a:solidFill>
              <a:srgbClr val="D8DFE4"/>
            </a:solidFill>
            <a:prstDash val="solid"/>
          </a:ln>
        </p:spPr>
      </p:cxnSp>
      <p:sp>
        <p:nvSpPr>
          <p:cNvPr id="6" name="矩形: 圆角 5">
            <a:extLst>
              <a:ext uri="{FF2B5EF4-FFF2-40B4-BE49-F238E27FC236}">
                <a16:creationId xmlns:a16="http://schemas.microsoft.com/office/drawing/2014/main" id="{5F8FC430-4402-4E03-98CC-83ADC78FD24F}"/>
              </a:ext>
            </a:extLst>
          </p:cNvPr>
          <p:cNvSpPr>
            <a:spLocks noGrp="1"/>
          </p:cNvSpPr>
          <p:nvPr/>
        </p:nvSpPr>
        <p:spPr>
          <a:xfrm>
            <a:off x="457200" y="1809750"/>
            <a:ext cx="1847850" cy="1962150"/>
          </a:xfrm>
          <a:prstGeom prst="roundRect">
            <a:avLst>
              <a:gd name="adj" fmla="val 4124"/>
            </a:avLst>
          </a:prstGeom>
          <a:solidFill>
            <a:srgbClr val="F4F6F7"/>
          </a:solidFill>
          <a:ln w="9525">
            <a:solidFill>
              <a:srgbClr val="17232D"/>
            </a:solidFill>
            <a:prstDash val="solid"/>
          </a:ln>
        </p:spPr>
      </p:sp>
      <p:sp>
        <p:nvSpPr>
          <p:cNvPr id="7" name="矩形 6">
            <a:extLst>
              <a:ext uri="{FF2B5EF4-FFF2-40B4-BE49-F238E27FC236}">
                <a16:creationId xmlns:a16="http://schemas.microsoft.com/office/drawing/2014/main" id="{A92782EE-5177-4A0C-8ECD-3EF2A2018EA5}"/>
              </a:ext>
            </a:extLst>
          </p:cNvPr>
          <p:cNvSpPr>
            <a:spLocks noGrp="1"/>
          </p:cNvSpPr>
          <p:nvPr/>
        </p:nvSpPr>
        <p:spPr>
          <a:xfrm>
            <a:off x="628650" y="1962150"/>
            <a:ext cx="495300" cy="247650"/>
          </a:xfrm>
          <a:prstGeom prst="rect">
            <a:avLst/>
          </a:prstGeom>
        </p:spPr>
        <p:txBody>
          <a:bodyPr wrap="square" lIns="0" tIns="0" rIns="0" bIns="0" anchor="t">
            <a:normAutofit/>
          </a:bodyPr>
          <a:lstStyle/>
          <a:p>
            <a:pPr algn="l">
              <a:defRPr sz="1200" b="1">
                <a:solidFill>
                  <a:srgbClr val="17232D"/>
                </a:solidFill>
                <a:latin typeface="Microsoft YaHei"/>
                <a:ea typeface="Microsoft YaHei"/>
                <a:cs typeface="Microsoft YaHei"/>
              </a:defRPr>
            </a:pPr>
            <a:r>
              <a:t>01</a:t>
            </a:r>
          </a:p>
        </p:txBody>
      </p:sp>
      <p:sp>
        <p:nvSpPr>
          <p:cNvPr id="8" name="矩形 7">
            <a:extLst>
              <a:ext uri="{FF2B5EF4-FFF2-40B4-BE49-F238E27FC236}">
                <a16:creationId xmlns:a16="http://schemas.microsoft.com/office/drawing/2014/main" id="{60D2CDD3-F3FB-4862-9FEF-2FFE8554BF7C}"/>
              </a:ext>
            </a:extLst>
          </p:cNvPr>
          <p:cNvSpPr>
            <a:spLocks noGrp="1"/>
          </p:cNvSpPr>
          <p:nvPr/>
        </p:nvSpPr>
        <p:spPr>
          <a:xfrm>
            <a:off x="628650" y="2343150"/>
            <a:ext cx="1504950" cy="381000"/>
          </a:xfrm>
          <a:prstGeom prst="rect">
            <a:avLst/>
          </a:prstGeom>
        </p:spPr>
        <p:txBody>
          <a:bodyPr wrap="square" lIns="0" tIns="0" rIns="0" bIns="0" anchor="t">
            <a:normAutofit/>
          </a:bodyPr>
          <a:lstStyle/>
          <a:p>
            <a:pPr algn="l">
              <a:defRPr sz="1800" b="1">
                <a:solidFill>
                  <a:srgbClr val="17232D"/>
                </a:solidFill>
                <a:latin typeface="Microsoft YaHei"/>
                <a:ea typeface="Microsoft YaHei"/>
                <a:cs typeface="Microsoft YaHei"/>
              </a:defRPr>
            </a:pPr>
            <a:r>
              <a:t>场景分层</a:t>
            </a:r>
          </a:p>
        </p:txBody>
      </p:sp>
      <p:sp>
        <p:nvSpPr>
          <p:cNvPr id="9" name="矩形 8">
            <a:extLst>
              <a:ext uri="{FF2B5EF4-FFF2-40B4-BE49-F238E27FC236}">
                <a16:creationId xmlns:a16="http://schemas.microsoft.com/office/drawing/2014/main" id="{6983100D-98F5-419D-B0FD-60A164604745}"/>
              </a:ext>
            </a:extLst>
          </p:cNvPr>
          <p:cNvSpPr>
            <a:spLocks noGrp="1"/>
          </p:cNvSpPr>
          <p:nvPr/>
        </p:nvSpPr>
        <p:spPr>
          <a:xfrm>
            <a:off x="628650" y="2933700"/>
            <a:ext cx="1504950" cy="609600"/>
          </a:xfrm>
          <a:prstGeom prst="rect">
            <a:avLst/>
          </a:prstGeom>
        </p:spPr>
        <p:txBody>
          <a:bodyPr wrap="square" lIns="0" tIns="0" rIns="0" bIns="0" anchor="t">
            <a:normAutofit/>
          </a:bodyPr>
          <a:lstStyle/>
          <a:p>
            <a:pPr algn="l">
              <a:defRPr sz="1275" b="0">
                <a:solidFill>
                  <a:srgbClr val="5D6A74"/>
                </a:solidFill>
                <a:latin typeface="Microsoft YaHei"/>
                <a:ea typeface="Microsoft YaHei"/>
                <a:cs typeface="Microsoft YaHei"/>
              </a:defRPr>
            </a:pPr>
            <a:r>
              <a:t>简单 / 中等 / 困难
明确瓶颈出现条件</a:t>
            </a:r>
          </a:p>
        </p:txBody>
      </p:sp>
      <p:cxnSp>
        <p:nvCxnSpPr>
          <p:cNvPr id="43" name="直接箭头连接符 42"/>
          <p:cNvCxnSpPr/>
          <p:nvPr/>
        </p:nvCxnSpPr>
        <p:spPr>
          <a:xfrm>
            <a:off x="4610100" y="2705100"/>
            <a:ext cx="381000" cy="95"/>
          </a:xfrm>
          <a:prstGeom prst="straightConnector1">
            <a:avLst/>
          </a:prstGeom>
          <a:ln w="19050">
            <a:solidFill>
              <a:srgbClr val="D8DFE4"/>
            </a:solidFill>
            <a:prstDash val="solid"/>
          </a:ln>
        </p:spPr>
      </p:cxnSp>
      <p:sp>
        <p:nvSpPr>
          <p:cNvPr id="11" name="矩形: 圆角 10">
            <a:extLst>
              <a:ext uri="{FF2B5EF4-FFF2-40B4-BE49-F238E27FC236}">
                <a16:creationId xmlns:a16="http://schemas.microsoft.com/office/drawing/2014/main" id="{4C4E79D7-DFF5-4679-92B3-67182B04717D}"/>
              </a:ext>
            </a:extLst>
          </p:cNvPr>
          <p:cNvSpPr>
            <a:spLocks noGrp="1"/>
          </p:cNvSpPr>
          <p:nvPr/>
        </p:nvSpPr>
        <p:spPr>
          <a:xfrm>
            <a:off x="2743200" y="1809750"/>
            <a:ext cx="1847850" cy="1962150"/>
          </a:xfrm>
          <a:prstGeom prst="roundRect">
            <a:avLst>
              <a:gd name="adj" fmla="val 4124"/>
            </a:avLst>
          </a:prstGeom>
          <a:solidFill>
            <a:srgbClr val="F4F6F7"/>
          </a:solidFill>
          <a:ln w="9525">
            <a:solidFill>
              <a:srgbClr val="17232D"/>
            </a:solidFill>
            <a:prstDash val="solid"/>
          </a:ln>
        </p:spPr>
      </p:sp>
      <p:sp>
        <p:nvSpPr>
          <p:cNvPr id="12" name="矩形 11">
            <a:extLst>
              <a:ext uri="{FF2B5EF4-FFF2-40B4-BE49-F238E27FC236}">
                <a16:creationId xmlns:a16="http://schemas.microsoft.com/office/drawing/2014/main" id="{C909A2E2-C79A-4034-9D44-A4103FA04727}"/>
              </a:ext>
            </a:extLst>
          </p:cNvPr>
          <p:cNvSpPr>
            <a:spLocks noGrp="1"/>
          </p:cNvSpPr>
          <p:nvPr/>
        </p:nvSpPr>
        <p:spPr>
          <a:xfrm>
            <a:off x="2914650" y="1962150"/>
            <a:ext cx="495300" cy="247650"/>
          </a:xfrm>
          <a:prstGeom prst="rect">
            <a:avLst/>
          </a:prstGeom>
        </p:spPr>
        <p:txBody>
          <a:bodyPr wrap="square" lIns="0" tIns="0" rIns="0" bIns="0" anchor="t">
            <a:normAutofit/>
          </a:bodyPr>
          <a:lstStyle/>
          <a:p>
            <a:pPr algn="l">
              <a:defRPr sz="1200" b="1">
                <a:solidFill>
                  <a:srgbClr val="17232D"/>
                </a:solidFill>
                <a:latin typeface="Microsoft YaHei"/>
                <a:ea typeface="Microsoft YaHei"/>
                <a:cs typeface="Microsoft YaHei"/>
              </a:defRPr>
            </a:pPr>
            <a:r>
              <a:t>02</a:t>
            </a:r>
          </a:p>
        </p:txBody>
      </p:sp>
      <p:sp>
        <p:nvSpPr>
          <p:cNvPr id="13" name="矩形 12">
            <a:extLst>
              <a:ext uri="{FF2B5EF4-FFF2-40B4-BE49-F238E27FC236}">
                <a16:creationId xmlns:a16="http://schemas.microsoft.com/office/drawing/2014/main" id="{E4FFA758-2632-49E0-AF41-628376D2C835}"/>
              </a:ext>
            </a:extLst>
          </p:cNvPr>
          <p:cNvSpPr>
            <a:spLocks noGrp="1"/>
          </p:cNvSpPr>
          <p:nvPr/>
        </p:nvSpPr>
        <p:spPr>
          <a:xfrm>
            <a:off x="2914650" y="2343150"/>
            <a:ext cx="1504950" cy="381000"/>
          </a:xfrm>
          <a:prstGeom prst="rect">
            <a:avLst/>
          </a:prstGeom>
        </p:spPr>
        <p:txBody>
          <a:bodyPr wrap="square" lIns="0" tIns="0" rIns="0" bIns="0" anchor="t">
            <a:normAutofit/>
          </a:bodyPr>
          <a:lstStyle/>
          <a:p>
            <a:pPr algn="l">
              <a:defRPr sz="1800" b="1">
                <a:solidFill>
                  <a:srgbClr val="17232D"/>
                </a:solidFill>
                <a:latin typeface="Microsoft YaHei"/>
                <a:ea typeface="Microsoft YaHei"/>
                <a:cs typeface="Microsoft YaHei"/>
              </a:defRPr>
            </a:pPr>
            <a:r>
              <a:t>更强基线</a:t>
            </a:r>
          </a:p>
        </p:txBody>
      </p:sp>
      <p:sp>
        <p:nvSpPr>
          <p:cNvPr id="14" name="矩形 13">
            <a:extLst>
              <a:ext uri="{FF2B5EF4-FFF2-40B4-BE49-F238E27FC236}">
                <a16:creationId xmlns:a16="http://schemas.microsoft.com/office/drawing/2014/main" id="{36737328-6D42-4BC4-BB85-2079D0849248}"/>
              </a:ext>
            </a:extLst>
          </p:cNvPr>
          <p:cNvSpPr>
            <a:spLocks noGrp="1"/>
          </p:cNvSpPr>
          <p:nvPr/>
        </p:nvSpPr>
        <p:spPr>
          <a:xfrm>
            <a:off x="2914650" y="2933700"/>
            <a:ext cx="1504950" cy="609600"/>
          </a:xfrm>
          <a:prstGeom prst="rect">
            <a:avLst/>
          </a:prstGeom>
        </p:spPr>
        <p:txBody>
          <a:bodyPr wrap="square" lIns="0" tIns="0" rIns="0" bIns="0" anchor="t">
            <a:normAutofit/>
          </a:bodyPr>
          <a:lstStyle/>
          <a:p>
            <a:pPr algn="l">
              <a:defRPr sz="1275" b="0">
                <a:solidFill>
                  <a:srgbClr val="5D6A74"/>
                </a:solidFill>
                <a:latin typeface="Microsoft YaHei"/>
                <a:ea typeface="Microsoft YaHei"/>
                <a:cs typeface="Microsoft YaHei"/>
              </a:defRPr>
            </a:pPr>
            <a:r>
              <a:t>Hungarian / 组合优化
检验 RL 的真实价值</a:t>
            </a:r>
          </a:p>
        </p:txBody>
      </p:sp>
      <p:cxnSp>
        <p:nvCxnSpPr>
          <p:cNvPr id="48" name="直接箭头连接符 47"/>
          <p:cNvCxnSpPr/>
          <p:nvPr/>
        </p:nvCxnSpPr>
        <p:spPr>
          <a:xfrm>
            <a:off x="6896100" y="2705100"/>
            <a:ext cx="381000" cy="95"/>
          </a:xfrm>
          <a:prstGeom prst="straightConnector1">
            <a:avLst/>
          </a:prstGeom>
          <a:ln w="19050">
            <a:solidFill>
              <a:srgbClr val="D8DFE4"/>
            </a:solidFill>
            <a:prstDash val="solid"/>
          </a:ln>
        </p:spPr>
      </p:cxnSp>
      <p:sp>
        <p:nvSpPr>
          <p:cNvPr id="16" name="矩形: 圆角 15">
            <a:extLst>
              <a:ext uri="{FF2B5EF4-FFF2-40B4-BE49-F238E27FC236}">
                <a16:creationId xmlns:a16="http://schemas.microsoft.com/office/drawing/2014/main" id="{8F167579-D4D0-41DE-A34A-090E8DBE0ACD}"/>
              </a:ext>
            </a:extLst>
          </p:cNvPr>
          <p:cNvSpPr>
            <a:spLocks noGrp="1"/>
          </p:cNvSpPr>
          <p:nvPr/>
        </p:nvSpPr>
        <p:spPr>
          <a:xfrm>
            <a:off x="5029200" y="1809750"/>
            <a:ext cx="1847850" cy="1962150"/>
          </a:xfrm>
          <a:prstGeom prst="roundRect">
            <a:avLst>
              <a:gd name="adj" fmla="val 4124"/>
            </a:avLst>
          </a:prstGeom>
          <a:solidFill>
            <a:srgbClr val="F5EDD9"/>
          </a:solidFill>
          <a:ln w="9525">
            <a:solidFill>
              <a:srgbClr val="C6912B"/>
            </a:solidFill>
            <a:prstDash val="solid"/>
          </a:ln>
        </p:spPr>
      </p:sp>
      <p:sp>
        <p:nvSpPr>
          <p:cNvPr id="17" name="矩形 16">
            <a:extLst>
              <a:ext uri="{FF2B5EF4-FFF2-40B4-BE49-F238E27FC236}">
                <a16:creationId xmlns:a16="http://schemas.microsoft.com/office/drawing/2014/main" id="{3A85D482-6112-45A3-B8C2-3397544AC9E6}"/>
              </a:ext>
            </a:extLst>
          </p:cNvPr>
          <p:cNvSpPr>
            <a:spLocks noGrp="1"/>
          </p:cNvSpPr>
          <p:nvPr/>
        </p:nvSpPr>
        <p:spPr>
          <a:xfrm>
            <a:off x="5200650" y="1962150"/>
            <a:ext cx="495300" cy="247650"/>
          </a:xfrm>
          <a:prstGeom prst="rect">
            <a:avLst/>
          </a:prstGeom>
        </p:spPr>
        <p:txBody>
          <a:bodyPr wrap="square" lIns="0" tIns="0" rIns="0" bIns="0" anchor="t">
            <a:normAutofit/>
          </a:bodyPr>
          <a:lstStyle/>
          <a:p>
            <a:pPr algn="l">
              <a:defRPr sz="1200" b="1">
                <a:solidFill>
                  <a:srgbClr val="C6912B"/>
                </a:solidFill>
                <a:latin typeface="Microsoft YaHei"/>
                <a:ea typeface="Microsoft YaHei"/>
                <a:cs typeface="Microsoft YaHei"/>
              </a:defRPr>
            </a:pPr>
            <a:r>
              <a:t>03</a:t>
            </a:r>
          </a:p>
        </p:txBody>
      </p:sp>
      <p:sp>
        <p:nvSpPr>
          <p:cNvPr id="18" name="矩形 17">
            <a:extLst>
              <a:ext uri="{FF2B5EF4-FFF2-40B4-BE49-F238E27FC236}">
                <a16:creationId xmlns:a16="http://schemas.microsoft.com/office/drawing/2014/main" id="{1D345D4B-9E66-44A8-84CA-641F66A85BE6}"/>
              </a:ext>
            </a:extLst>
          </p:cNvPr>
          <p:cNvSpPr>
            <a:spLocks noGrp="1"/>
          </p:cNvSpPr>
          <p:nvPr/>
        </p:nvSpPr>
        <p:spPr>
          <a:xfrm>
            <a:off x="5200650" y="2343150"/>
            <a:ext cx="1504950" cy="381000"/>
          </a:xfrm>
          <a:prstGeom prst="rect">
            <a:avLst/>
          </a:prstGeom>
        </p:spPr>
        <p:txBody>
          <a:bodyPr wrap="square" lIns="0" tIns="0" rIns="0" bIns="0" anchor="t">
            <a:normAutofit/>
          </a:bodyPr>
          <a:lstStyle/>
          <a:p>
            <a:pPr algn="l">
              <a:defRPr sz="1800" b="1">
                <a:solidFill>
                  <a:srgbClr val="17232D"/>
                </a:solidFill>
                <a:latin typeface="Microsoft YaHei"/>
                <a:ea typeface="Microsoft YaHei"/>
                <a:cs typeface="Microsoft YaHei"/>
              </a:defRPr>
            </a:pPr>
            <a:r>
              <a:t>失效归因</a:t>
            </a:r>
          </a:p>
        </p:txBody>
      </p:sp>
      <p:sp>
        <p:nvSpPr>
          <p:cNvPr id="19" name="矩形 18">
            <a:extLst>
              <a:ext uri="{FF2B5EF4-FFF2-40B4-BE49-F238E27FC236}">
                <a16:creationId xmlns:a16="http://schemas.microsoft.com/office/drawing/2014/main" id="{BADDFE9F-7968-42AD-9F56-556EBCF559E1}"/>
              </a:ext>
            </a:extLst>
          </p:cNvPr>
          <p:cNvSpPr>
            <a:spLocks noGrp="1"/>
          </p:cNvSpPr>
          <p:nvPr/>
        </p:nvSpPr>
        <p:spPr>
          <a:xfrm>
            <a:off x="5200650" y="2933700"/>
            <a:ext cx="1504950" cy="609600"/>
          </a:xfrm>
          <a:prstGeom prst="rect">
            <a:avLst/>
          </a:prstGeom>
        </p:spPr>
        <p:txBody>
          <a:bodyPr wrap="square" lIns="0" tIns="0" rIns="0" bIns="0" anchor="t">
            <a:normAutofit/>
          </a:bodyPr>
          <a:lstStyle/>
          <a:p>
            <a:pPr algn="l">
              <a:defRPr sz="1275" b="0">
                <a:solidFill>
                  <a:srgbClr val="5D6A74"/>
                </a:solidFill>
                <a:latin typeface="Microsoft YaHei"/>
                <a:ea typeface="Microsoft YaHei"/>
                <a:cs typeface="Microsoft YaHei"/>
              </a:defRPr>
            </a:pPr>
            <a:r>
              <a:t>冲突、过度分配
与资源保留</a:t>
            </a:r>
          </a:p>
        </p:txBody>
      </p:sp>
      <p:cxnSp>
        <p:nvCxnSpPr>
          <p:cNvPr id="53" name="直接箭头连接符 52"/>
          <p:cNvCxnSpPr/>
          <p:nvPr/>
        </p:nvCxnSpPr>
        <p:spPr>
          <a:xfrm>
            <a:off x="9182100" y="2705100"/>
            <a:ext cx="381000" cy="95"/>
          </a:xfrm>
          <a:prstGeom prst="straightConnector1">
            <a:avLst/>
          </a:prstGeom>
          <a:ln w="19050">
            <a:solidFill>
              <a:srgbClr val="D8DFE4"/>
            </a:solidFill>
            <a:prstDash val="solid"/>
          </a:ln>
        </p:spPr>
      </p:cxnSp>
      <p:sp>
        <p:nvSpPr>
          <p:cNvPr id="21" name="矩形: 圆角 20">
            <a:extLst>
              <a:ext uri="{FF2B5EF4-FFF2-40B4-BE49-F238E27FC236}">
                <a16:creationId xmlns:a16="http://schemas.microsoft.com/office/drawing/2014/main" id="{959FA73A-DCC2-4119-BC64-971132FDBB16}"/>
              </a:ext>
            </a:extLst>
          </p:cNvPr>
          <p:cNvSpPr>
            <a:spLocks noGrp="1"/>
          </p:cNvSpPr>
          <p:nvPr/>
        </p:nvSpPr>
        <p:spPr>
          <a:xfrm>
            <a:off x="7315200" y="1809750"/>
            <a:ext cx="1847850" cy="1962150"/>
          </a:xfrm>
          <a:prstGeom prst="roundRect">
            <a:avLst>
              <a:gd name="adj" fmla="val 4124"/>
            </a:avLst>
          </a:prstGeom>
          <a:solidFill>
            <a:srgbClr val="DFEAF6"/>
          </a:solidFill>
          <a:ln w="9525">
            <a:solidFill>
              <a:srgbClr val="1E5AA8"/>
            </a:solidFill>
            <a:prstDash val="solid"/>
          </a:ln>
        </p:spPr>
      </p:sp>
      <p:sp>
        <p:nvSpPr>
          <p:cNvPr id="22" name="矩形 21">
            <a:extLst>
              <a:ext uri="{FF2B5EF4-FFF2-40B4-BE49-F238E27FC236}">
                <a16:creationId xmlns:a16="http://schemas.microsoft.com/office/drawing/2014/main" id="{6AE8114B-8ADC-4F49-9F9E-50524DECC71F}"/>
              </a:ext>
            </a:extLst>
          </p:cNvPr>
          <p:cNvSpPr>
            <a:spLocks noGrp="1"/>
          </p:cNvSpPr>
          <p:nvPr/>
        </p:nvSpPr>
        <p:spPr>
          <a:xfrm>
            <a:off x="7486650" y="1962150"/>
            <a:ext cx="495300" cy="247650"/>
          </a:xfrm>
          <a:prstGeom prst="rect">
            <a:avLst/>
          </a:prstGeom>
        </p:spPr>
        <p:txBody>
          <a:bodyPr wrap="square" lIns="0" tIns="0" rIns="0" bIns="0" anchor="t">
            <a:normAutofit/>
          </a:bodyPr>
          <a:lstStyle/>
          <a:p>
            <a:pPr algn="l">
              <a:defRPr sz="1200" b="1">
                <a:solidFill>
                  <a:srgbClr val="1E5AA8"/>
                </a:solidFill>
                <a:latin typeface="Microsoft YaHei"/>
                <a:ea typeface="Microsoft YaHei"/>
                <a:cs typeface="Microsoft YaHei"/>
              </a:defRPr>
            </a:pPr>
            <a:r>
              <a:t>04</a:t>
            </a:r>
          </a:p>
        </p:txBody>
      </p:sp>
      <p:sp>
        <p:nvSpPr>
          <p:cNvPr id="23" name="矩形 22">
            <a:extLst>
              <a:ext uri="{FF2B5EF4-FFF2-40B4-BE49-F238E27FC236}">
                <a16:creationId xmlns:a16="http://schemas.microsoft.com/office/drawing/2014/main" id="{CFDF317B-D43E-45D7-8CE1-FC5B2B76EE27}"/>
              </a:ext>
            </a:extLst>
          </p:cNvPr>
          <p:cNvSpPr>
            <a:spLocks noGrp="1"/>
          </p:cNvSpPr>
          <p:nvPr/>
        </p:nvSpPr>
        <p:spPr>
          <a:xfrm>
            <a:off x="7486650" y="2343150"/>
            <a:ext cx="1504950" cy="381000"/>
          </a:xfrm>
          <a:prstGeom prst="rect">
            <a:avLst/>
          </a:prstGeom>
        </p:spPr>
        <p:txBody>
          <a:bodyPr wrap="square" lIns="0" tIns="0" rIns="0" bIns="0" anchor="t">
            <a:normAutofit/>
          </a:bodyPr>
          <a:lstStyle/>
          <a:p>
            <a:pPr algn="l">
              <a:defRPr sz="1800" b="1">
                <a:solidFill>
                  <a:srgbClr val="17232D"/>
                </a:solidFill>
                <a:latin typeface="Microsoft YaHei"/>
                <a:ea typeface="Microsoft YaHei"/>
                <a:cs typeface="Microsoft YaHei"/>
              </a:defRPr>
            </a:pPr>
            <a:r>
              <a:t>结构化策略</a:t>
            </a:r>
          </a:p>
        </p:txBody>
      </p:sp>
      <p:sp>
        <p:nvSpPr>
          <p:cNvPr id="24" name="矩形 23">
            <a:extLst>
              <a:ext uri="{FF2B5EF4-FFF2-40B4-BE49-F238E27FC236}">
                <a16:creationId xmlns:a16="http://schemas.microsoft.com/office/drawing/2014/main" id="{55954E3F-66FD-4E4B-B190-00CBA2D47B5B}"/>
              </a:ext>
            </a:extLst>
          </p:cNvPr>
          <p:cNvSpPr>
            <a:spLocks noGrp="1"/>
          </p:cNvSpPr>
          <p:nvPr/>
        </p:nvSpPr>
        <p:spPr>
          <a:xfrm>
            <a:off x="7486650" y="2933700"/>
            <a:ext cx="1504950" cy="609600"/>
          </a:xfrm>
          <a:prstGeom prst="rect">
            <a:avLst/>
          </a:prstGeom>
        </p:spPr>
        <p:txBody>
          <a:bodyPr wrap="square" lIns="0" tIns="0" rIns="0" bIns="0" anchor="t">
            <a:normAutofit/>
          </a:bodyPr>
          <a:lstStyle/>
          <a:p>
            <a:pPr algn="l">
              <a:defRPr sz="1275" b="0">
                <a:solidFill>
                  <a:srgbClr val="5D6A74"/>
                </a:solidFill>
                <a:latin typeface="Microsoft YaHei"/>
                <a:ea typeface="Microsoft YaHei"/>
                <a:cs typeface="Microsoft YaHei"/>
              </a:defRPr>
            </a:pPr>
            <a:r>
              <a:t>资源—目标图编码
约束联合动作</a:t>
            </a:r>
          </a:p>
        </p:txBody>
      </p:sp>
      <p:sp>
        <p:nvSpPr>
          <p:cNvPr id="25" name="矩形: 圆角 24">
            <a:extLst>
              <a:ext uri="{FF2B5EF4-FFF2-40B4-BE49-F238E27FC236}">
                <a16:creationId xmlns:a16="http://schemas.microsoft.com/office/drawing/2014/main" id="{D73CACC1-9FCC-4FB5-85ED-8F32030F76BB}"/>
              </a:ext>
            </a:extLst>
          </p:cNvPr>
          <p:cNvSpPr>
            <a:spLocks noGrp="1"/>
          </p:cNvSpPr>
          <p:nvPr/>
        </p:nvSpPr>
        <p:spPr>
          <a:xfrm>
            <a:off x="9601200" y="1809750"/>
            <a:ext cx="1847850" cy="1962150"/>
          </a:xfrm>
          <a:prstGeom prst="roundRect">
            <a:avLst>
              <a:gd name="adj" fmla="val 4124"/>
            </a:avLst>
          </a:prstGeom>
          <a:solidFill>
            <a:srgbClr val="E2F0EB"/>
          </a:solidFill>
          <a:ln w="9525">
            <a:solidFill>
              <a:srgbClr val="2E7D68"/>
            </a:solidFill>
            <a:prstDash val="solid"/>
          </a:ln>
        </p:spPr>
      </p:sp>
      <p:sp>
        <p:nvSpPr>
          <p:cNvPr id="26" name="矩形 25">
            <a:extLst>
              <a:ext uri="{FF2B5EF4-FFF2-40B4-BE49-F238E27FC236}">
                <a16:creationId xmlns:a16="http://schemas.microsoft.com/office/drawing/2014/main" id="{4FBB1DA9-70D1-4759-B336-24A98E44883C}"/>
              </a:ext>
            </a:extLst>
          </p:cNvPr>
          <p:cNvSpPr>
            <a:spLocks noGrp="1"/>
          </p:cNvSpPr>
          <p:nvPr/>
        </p:nvSpPr>
        <p:spPr>
          <a:xfrm>
            <a:off x="9772650" y="1962150"/>
            <a:ext cx="495300" cy="247650"/>
          </a:xfrm>
          <a:prstGeom prst="rect">
            <a:avLst/>
          </a:prstGeom>
        </p:spPr>
        <p:txBody>
          <a:bodyPr wrap="square" lIns="0" tIns="0" rIns="0" bIns="0" anchor="t">
            <a:normAutofit/>
          </a:bodyPr>
          <a:lstStyle/>
          <a:p>
            <a:pPr algn="l">
              <a:defRPr sz="1200" b="1">
                <a:solidFill>
                  <a:srgbClr val="2E7D68"/>
                </a:solidFill>
                <a:latin typeface="Microsoft YaHei"/>
                <a:ea typeface="Microsoft YaHei"/>
                <a:cs typeface="Microsoft YaHei"/>
              </a:defRPr>
            </a:pPr>
            <a:r>
              <a:t>05</a:t>
            </a:r>
          </a:p>
        </p:txBody>
      </p:sp>
      <p:sp>
        <p:nvSpPr>
          <p:cNvPr id="27" name="矩形 26">
            <a:extLst>
              <a:ext uri="{FF2B5EF4-FFF2-40B4-BE49-F238E27FC236}">
                <a16:creationId xmlns:a16="http://schemas.microsoft.com/office/drawing/2014/main" id="{FEBC4D0A-23B0-4C96-8848-5B501F42BBE0}"/>
              </a:ext>
            </a:extLst>
          </p:cNvPr>
          <p:cNvSpPr>
            <a:spLocks noGrp="1"/>
          </p:cNvSpPr>
          <p:nvPr/>
        </p:nvSpPr>
        <p:spPr>
          <a:xfrm>
            <a:off x="9772650" y="2343150"/>
            <a:ext cx="1504950" cy="381000"/>
          </a:xfrm>
          <a:prstGeom prst="rect">
            <a:avLst/>
          </a:prstGeom>
        </p:spPr>
        <p:txBody>
          <a:bodyPr wrap="square" lIns="0" tIns="0" rIns="0" bIns="0" anchor="t">
            <a:normAutofit/>
          </a:bodyPr>
          <a:lstStyle/>
          <a:p>
            <a:pPr algn="l">
              <a:defRPr sz="1800" b="1">
                <a:solidFill>
                  <a:srgbClr val="17232D"/>
                </a:solidFill>
                <a:latin typeface="Microsoft YaHei"/>
                <a:ea typeface="Microsoft YaHei"/>
                <a:cs typeface="Microsoft YaHei"/>
              </a:defRPr>
            </a:pPr>
            <a:r>
              <a:t>泛化扩展</a:t>
            </a:r>
          </a:p>
        </p:txBody>
      </p:sp>
      <p:sp>
        <p:nvSpPr>
          <p:cNvPr id="28" name="矩形 27">
            <a:extLst>
              <a:ext uri="{FF2B5EF4-FFF2-40B4-BE49-F238E27FC236}">
                <a16:creationId xmlns:a16="http://schemas.microsoft.com/office/drawing/2014/main" id="{2CDCD776-4C92-4C3A-B2B5-4AB239DD5EE8}"/>
              </a:ext>
            </a:extLst>
          </p:cNvPr>
          <p:cNvSpPr>
            <a:spLocks noGrp="1"/>
          </p:cNvSpPr>
          <p:nvPr/>
        </p:nvSpPr>
        <p:spPr>
          <a:xfrm>
            <a:off x="9772650" y="2933700"/>
            <a:ext cx="1504950" cy="609600"/>
          </a:xfrm>
          <a:prstGeom prst="rect">
            <a:avLst/>
          </a:prstGeom>
        </p:spPr>
        <p:txBody>
          <a:bodyPr wrap="square" lIns="0" tIns="0" rIns="0" bIns="0" anchor="t">
            <a:normAutofit/>
          </a:bodyPr>
          <a:lstStyle/>
          <a:p>
            <a:pPr algn="l">
              <a:defRPr sz="1275" b="0">
                <a:solidFill>
                  <a:srgbClr val="5D6A74"/>
                </a:solidFill>
                <a:latin typeface="Microsoft YaHei"/>
                <a:ea typeface="Microsoft YaHei"/>
                <a:cs typeface="Microsoft YaHei"/>
              </a:defRPr>
            </a:pPr>
            <a:r>
              <a:t>跨规模 / 未见场景
局部观测与 MAPPO</a:t>
            </a:r>
          </a:p>
        </p:txBody>
      </p:sp>
      <p:sp>
        <p:nvSpPr>
          <p:cNvPr id="29" name="矩形: 圆角 28">
            <a:extLst>
              <a:ext uri="{FF2B5EF4-FFF2-40B4-BE49-F238E27FC236}">
                <a16:creationId xmlns:a16="http://schemas.microsoft.com/office/drawing/2014/main" id="{562AB95D-3C7C-4334-8250-3EB90B74CC9E}"/>
              </a:ext>
            </a:extLst>
          </p:cNvPr>
          <p:cNvSpPr>
            <a:spLocks noGrp="1"/>
          </p:cNvSpPr>
          <p:nvPr/>
        </p:nvSpPr>
        <p:spPr>
          <a:xfrm>
            <a:off x="457200" y="4324350"/>
            <a:ext cx="10991850" cy="1466850"/>
          </a:xfrm>
          <a:prstGeom prst="roundRect">
            <a:avLst>
              <a:gd name="adj" fmla="val 5195"/>
            </a:avLst>
          </a:prstGeom>
          <a:solidFill>
            <a:srgbClr val="DFEAF6"/>
          </a:solidFill>
          <a:ln w="9525">
            <a:solidFill>
              <a:srgbClr val="1E5AA8"/>
            </a:solidFill>
            <a:prstDash val="solid"/>
          </a:ln>
        </p:spPr>
      </p:sp>
      <p:sp>
        <p:nvSpPr>
          <p:cNvPr id="30" name="矩形 29">
            <a:extLst>
              <a:ext uri="{FF2B5EF4-FFF2-40B4-BE49-F238E27FC236}">
                <a16:creationId xmlns:a16="http://schemas.microsoft.com/office/drawing/2014/main" id="{24909839-29C5-4730-9012-FB2344F9AF4A}"/>
              </a:ext>
            </a:extLst>
          </p:cNvPr>
          <p:cNvSpPr>
            <a:spLocks noGrp="1"/>
          </p:cNvSpPr>
          <p:nvPr/>
        </p:nvSpPr>
        <p:spPr>
          <a:xfrm>
            <a:off x="723900" y="4572000"/>
            <a:ext cx="2000250" cy="323850"/>
          </a:xfrm>
          <a:prstGeom prst="rect">
            <a:avLst/>
          </a:prstGeom>
        </p:spPr>
        <p:txBody>
          <a:bodyPr wrap="square" lIns="0" tIns="0" rIns="0" bIns="0" anchor="t">
            <a:normAutofit/>
          </a:bodyPr>
          <a:lstStyle/>
          <a:p>
            <a:pPr algn="l">
              <a:defRPr sz="1650" b="1">
                <a:solidFill>
                  <a:srgbClr val="1E5AA8"/>
                </a:solidFill>
                <a:latin typeface="Microsoft YaHei"/>
                <a:ea typeface="Microsoft YaHei"/>
                <a:cs typeface="Microsoft YaHei"/>
              </a:defRPr>
            </a:pPr>
            <a:r>
              <a:t>候选创新主线</a:t>
            </a:r>
          </a:p>
        </p:txBody>
      </p:sp>
      <p:sp>
        <p:nvSpPr>
          <p:cNvPr id="31" name="矩形 30">
            <a:extLst>
              <a:ext uri="{FF2B5EF4-FFF2-40B4-BE49-F238E27FC236}">
                <a16:creationId xmlns:a16="http://schemas.microsoft.com/office/drawing/2014/main" id="{B5770AD5-9B9B-40B3-8B45-99838F10703F}"/>
              </a:ext>
            </a:extLst>
          </p:cNvPr>
          <p:cNvSpPr>
            <a:spLocks noGrp="1"/>
          </p:cNvSpPr>
          <p:nvPr/>
        </p:nvSpPr>
        <p:spPr>
          <a:xfrm>
            <a:off x="2895600" y="4514850"/>
            <a:ext cx="6096000" cy="876300"/>
          </a:xfrm>
          <a:prstGeom prst="rect">
            <a:avLst/>
          </a:prstGeom>
        </p:spPr>
        <p:txBody>
          <a:bodyPr wrap="square" lIns="0" tIns="0" rIns="0" bIns="0" anchor="t">
            <a:normAutofit/>
          </a:bodyPr>
          <a:lstStyle/>
          <a:p>
            <a:pPr algn="l">
              <a:defRPr sz="2550" b="1">
                <a:solidFill>
                  <a:srgbClr val="17232D"/>
                </a:solidFill>
                <a:latin typeface="Microsoft YaHei"/>
                <a:ea typeface="Microsoft YaHei"/>
                <a:cs typeface="Microsoft YaHei"/>
              </a:defRPr>
            </a:pPr>
            <a:r>
              <a:t>面向异构防空资源—目标动态分配的
约束感知图强化学习方法</a:t>
            </a:r>
          </a:p>
        </p:txBody>
      </p:sp>
      <p:sp>
        <p:nvSpPr>
          <p:cNvPr id="32" name="矩形 31">
            <a:extLst>
              <a:ext uri="{FF2B5EF4-FFF2-40B4-BE49-F238E27FC236}">
                <a16:creationId xmlns:a16="http://schemas.microsoft.com/office/drawing/2014/main" id="{125E6724-5390-4674-8246-FABE6819372C}"/>
              </a:ext>
            </a:extLst>
          </p:cNvPr>
          <p:cNvSpPr>
            <a:spLocks noGrp="1"/>
          </p:cNvSpPr>
          <p:nvPr/>
        </p:nvSpPr>
        <p:spPr>
          <a:xfrm>
            <a:off x="9124950" y="4533900"/>
            <a:ext cx="2000250" cy="895350"/>
          </a:xfrm>
          <a:prstGeom prst="rect">
            <a:avLst/>
          </a:prstGeom>
        </p:spPr>
        <p:txBody>
          <a:bodyPr wrap="square" lIns="0" tIns="0" rIns="0" bIns="0" anchor="t">
            <a:normAutofit/>
          </a:bodyPr>
          <a:lstStyle/>
          <a:p>
            <a:pPr algn="l">
              <a:defRPr sz="1200" b="0">
                <a:solidFill>
                  <a:srgbClr val="5D6A74"/>
                </a:solidFill>
                <a:latin typeface="Microsoft YaHei"/>
                <a:ea typeface="Microsoft YaHei"/>
                <a:cs typeface="Microsoft YaHei"/>
              </a:defRPr>
            </a:pPr>
            <a:r>
              <a:t>图表示资源、目标与区域；
关系边编码威胁与可行性；
策略处理冲突与过度分配。</a:t>
            </a:r>
          </a:p>
        </p:txBody>
      </p:sp>
      <p:sp>
        <p:nvSpPr>
          <p:cNvPr id="33" name="矩形 32">
            <a:extLst>
              <a:ext uri="{FF2B5EF4-FFF2-40B4-BE49-F238E27FC236}">
                <a16:creationId xmlns:a16="http://schemas.microsoft.com/office/drawing/2014/main" id="{AA8FD423-C933-4C3B-AD61-C6EEFA95752A}"/>
              </a:ext>
            </a:extLst>
          </p:cNvPr>
          <p:cNvSpPr>
            <a:spLocks noGrp="1"/>
          </p:cNvSpPr>
          <p:nvPr/>
        </p:nvSpPr>
        <p:spPr>
          <a:xfrm>
            <a:off x="457200" y="6019800"/>
            <a:ext cx="7048500" cy="266700"/>
          </a:xfrm>
          <a:prstGeom prst="rect">
            <a:avLst/>
          </a:prstGeom>
        </p:spPr>
        <p:txBody>
          <a:bodyPr wrap="square" lIns="0" tIns="0" rIns="0" bIns="0" anchor="t">
            <a:normAutofit/>
          </a:bodyPr>
          <a:lstStyle/>
          <a:p>
            <a:pPr algn="l">
              <a:defRPr sz="1425" b="1">
                <a:solidFill>
                  <a:srgbClr val="17232D"/>
                </a:solidFill>
                <a:latin typeface="Microsoft YaHei"/>
                <a:ea typeface="Microsoft YaHei"/>
                <a:cs typeface="Microsoft YaHei"/>
              </a:defRPr>
            </a:pPr>
            <a:r>
              <a:t>顺序原则：先确认场景与强基线，再投入模型复杂度。</a:t>
            </a:r>
          </a:p>
        </p:txBody>
      </p:sp>
    </p:spTree>
    <p:extLst>
      <p:ext uri="{BB962C8B-B14F-4D97-AF65-F5344CB8AC3E}">
        <p14:creationId xmlns:p14="http://schemas.microsoft.com/office/powerpoint/2010/main" val="202281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F2CDE2C-15D3-461B-B65E-6808A38D5F6A}"/>
              </a:ext>
            </a:extLst>
          </p:cNvPr>
          <p:cNvSpPr>
            <a:spLocks noGrp="1"/>
          </p:cNvSpPr>
          <p:nvPr/>
        </p:nvSpPr>
        <p:spPr>
          <a:xfrm>
            <a:off x="457200" y="285750"/>
            <a:ext cx="3143250" cy="209550"/>
          </a:xfrm>
          <a:prstGeom prst="rect">
            <a:avLst/>
          </a:prstGeom>
        </p:spPr>
        <p:txBody>
          <a:bodyPr wrap="square" lIns="0" tIns="0" rIns="0" bIns="0" anchor="t">
            <a:normAutofit/>
          </a:bodyPr>
          <a:lstStyle/>
          <a:p>
            <a:pPr algn="l">
              <a:defRPr sz="1125" b="1">
                <a:solidFill>
                  <a:srgbClr val="1E5AA8"/>
                </a:solidFill>
                <a:latin typeface="Microsoft YaHei"/>
                <a:ea typeface="Microsoft YaHei"/>
                <a:cs typeface="Microsoft YaHei"/>
              </a:defRPr>
            </a:pPr>
            <a:r>
              <a:t>DISCUSSION</a:t>
            </a:r>
          </a:p>
        </p:txBody>
      </p:sp>
      <p:sp>
        <p:nvSpPr>
          <p:cNvPr id="2" name="矩形 1">
            <a:extLst>
              <a:ext uri="{FF2B5EF4-FFF2-40B4-BE49-F238E27FC236}">
                <a16:creationId xmlns:a16="http://schemas.microsoft.com/office/drawing/2014/main" id="{7355B5DC-7EEB-4A9B-BF19-3DF4238D1527}"/>
              </a:ext>
            </a:extLst>
          </p:cNvPr>
          <p:cNvSpPr>
            <a:spLocks noGrp="1"/>
          </p:cNvSpPr>
          <p:nvPr/>
        </p:nvSpPr>
        <p:spPr>
          <a:xfrm>
            <a:off x="457200" y="552450"/>
            <a:ext cx="11049000" cy="571500"/>
          </a:xfrm>
          <a:prstGeom prst="rect">
            <a:avLst/>
          </a:prstGeom>
        </p:spPr>
        <p:txBody>
          <a:bodyPr wrap="square" lIns="0" tIns="0" rIns="0" bIns="0" anchor="t">
            <a:normAutofit/>
          </a:bodyPr>
          <a:lstStyle/>
          <a:p>
            <a:pPr algn="l">
              <a:defRPr sz="3450" b="1">
                <a:solidFill>
                  <a:srgbClr val="17232D"/>
                </a:solidFill>
                <a:latin typeface="Microsoft YaHei"/>
                <a:ea typeface="Microsoft YaHei"/>
                <a:cs typeface="Microsoft YaHei"/>
              </a:defRPr>
            </a:pPr>
            <a:r>
              <a:rPr lang="zh-CN" altLang="en-US" dirty="0"/>
              <a:t>当前疑问</a:t>
            </a:r>
            <a:r>
              <a:rPr dirty="0"/>
              <a:t>：</a:t>
            </a:r>
            <a:r>
              <a:rPr dirty="0" err="1"/>
              <a:t>研究问题、创新路线与环境复杂度</a:t>
            </a:r>
            <a:endParaRPr dirty="0"/>
          </a:p>
        </p:txBody>
      </p:sp>
      <p:cxnSp>
        <p:nvCxnSpPr>
          <p:cNvPr id="21" name="直接箭头连接符 20"/>
          <p:cNvCxnSpPr/>
          <p:nvPr/>
        </p:nvCxnSpPr>
        <p:spPr>
          <a:xfrm>
            <a:off x="457200" y="1200150"/>
            <a:ext cx="11277600" cy="95"/>
          </a:xfrm>
          <a:prstGeom prst="straightConnector1">
            <a:avLst/>
          </a:prstGeom>
          <a:ln w="9525">
            <a:solidFill>
              <a:srgbClr val="D8DFE4"/>
            </a:solidFill>
            <a:prstDash val="solid"/>
          </a:ln>
        </p:spPr>
      </p:cxnSp>
      <p:sp>
        <p:nvSpPr>
          <p:cNvPr id="4" name="矩形 3">
            <a:extLst>
              <a:ext uri="{FF2B5EF4-FFF2-40B4-BE49-F238E27FC236}">
                <a16:creationId xmlns:a16="http://schemas.microsoft.com/office/drawing/2014/main" id="{7CFDF655-0D31-448D-BE65-37C548294DDA}"/>
              </a:ext>
            </a:extLst>
          </p:cNvPr>
          <p:cNvSpPr>
            <a:spLocks noGrp="1"/>
          </p:cNvSpPr>
          <p:nvPr/>
        </p:nvSpPr>
        <p:spPr>
          <a:xfrm>
            <a:off x="11239500" y="6448425"/>
            <a:ext cx="495300" cy="171450"/>
          </a:xfrm>
          <a:prstGeom prst="rect">
            <a:avLst/>
          </a:prstGeom>
        </p:spPr>
        <p:txBody>
          <a:bodyPr wrap="square" lIns="0" tIns="0" rIns="0" bIns="0" anchor="t">
            <a:normAutofit/>
          </a:bodyPr>
          <a:lstStyle/>
          <a:p>
            <a:pPr algn="r">
              <a:defRPr sz="975" b="0">
                <a:solidFill>
                  <a:srgbClr val="8A959D"/>
                </a:solidFill>
                <a:latin typeface="Microsoft YaHei"/>
                <a:ea typeface="Microsoft YaHei"/>
                <a:cs typeface="Microsoft YaHei"/>
              </a:defRPr>
            </a:pPr>
            <a:r>
              <a:t>13</a:t>
            </a:r>
          </a:p>
        </p:txBody>
      </p:sp>
      <p:sp>
        <p:nvSpPr>
          <p:cNvPr id="5" name="矩形 4">
            <a:extLst>
              <a:ext uri="{FF2B5EF4-FFF2-40B4-BE49-F238E27FC236}">
                <a16:creationId xmlns:a16="http://schemas.microsoft.com/office/drawing/2014/main" id="{683897DC-110D-4509-AF4F-637DE9F8D5F2}"/>
              </a:ext>
            </a:extLst>
          </p:cNvPr>
          <p:cNvSpPr>
            <a:spLocks noGrp="1"/>
          </p:cNvSpPr>
          <p:nvPr/>
        </p:nvSpPr>
        <p:spPr>
          <a:xfrm>
            <a:off x="457200" y="1562100"/>
            <a:ext cx="8096250" cy="495300"/>
          </a:xfrm>
          <a:prstGeom prst="rect">
            <a:avLst/>
          </a:prstGeom>
        </p:spPr>
        <p:txBody>
          <a:bodyPr wrap="square" lIns="0" tIns="0" rIns="0" bIns="0" anchor="t">
            <a:normAutofit/>
          </a:bodyPr>
          <a:lstStyle/>
          <a:p>
            <a:pPr algn="l">
              <a:defRPr sz="2700" b="1">
                <a:solidFill>
                  <a:srgbClr val="17232D"/>
                </a:solidFill>
                <a:latin typeface="Microsoft YaHei"/>
                <a:ea typeface="Microsoft YaHei"/>
                <a:cs typeface="Microsoft YaHei"/>
              </a:defRPr>
            </a:pPr>
            <a:r>
              <a:rPr dirty="0" err="1"/>
              <a:t>重点判断三件事</a:t>
            </a:r>
            <a:endParaRPr dirty="0"/>
          </a:p>
        </p:txBody>
      </p:sp>
      <p:sp>
        <p:nvSpPr>
          <p:cNvPr id="6" name="矩形 5">
            <a:extLst>
              <a:ext uri="{FF2B5EF4-FFF2-40B4-BE49-F238E27FC236}">
                <a16:creationId xmlns:a16="http://schemas.microsoft.com/office/drawing/2014/main" id="{07C598A0-E373-40DD-A1DC-8EB4405ECE94}"/>
              </a:ext>
            </a:extLst>
          </p:cNvPr>
          <p:cNvSpPr>
            <a:spLocks noGrp="1"/>
          </p:cNvSpPr>
          <p:nvPr/>
        </p:nvSpPr>
        <p:spPr>
          <a:xfrm>
            <a:off x="457200" y="2362200"/>
            <a:ext cx="723900" cy="457200"/>
          </a:xfrm>
          <a:prstGeom prst="rect">
            <a:avLst/>
          </a:prstGeom>
        </p:spPr>
        <p:txBody>
          <a:bodyPr wrap="square" lIns="0" tIns="0" rIns="0" bIns="0" anchor="t">
            <a:normAutofit/>
          </a:bodyPr>
          <a:lstStyle/>
          <a:p>
            <a:pPr algn="l">
              <a:defRPr sz="2400" b="1">
                <a:solidFill>
                  <a:srgbClr val="1E5AA8"/>
                </a:solidFill>
                <a:latin typeface="Microsoft YaHei"/>
                <a:ea typeface="Microsoft YaHei"/>
                <a:cs typeface="Microsoft YaHei"/>
              </a:defRPr>
            </a:pPr>
            <a:r>
              <a:t>01</a:t>
            </a:r>
          </a:p>
        </p:txBody>
      </p:sp>
      <p:sp>
        <p:nvSpPr>
          <p:cNvPr id="7" name="矩形 6">
            <a:extLst>
              <a:ext uri="{FF2B5EF4-FFF2-40B4-BE49-F238E27FC236}">
                <a16:creationId xmlns:a16="http://schemas.microsoft.com/office/drawing/2014/main" id="{42CABC97-39C3-4FBB-A365-70DE49352BB1}"/>
              </a:ext>
            </a:extLst>
          </p:cNvPr>
          <p:cNvSpPr>
            <a:spLocks noGrp="1"/>
          </p:cNvSpPr>
          <p:nvPr/>
        </p:nvSpPr>
        <p:spPr>
          <a:xfrm>
            <a:off x="1352550" y="2381250"/>
            <a:ext cx="1428750" cy="323850"/>
          </a:xfrm>
          <a:prstGeom prst="rect">
            <a:avLst/>
          </a:prstGeom>
        </p:spPr>
        <p:txBody>
          <a:bodyPr wrap="square" lIns="0" tIns="0" rIns="0" bIns="0" anchor="t">
            <a:normAutofit/>
          </a:bodyPr>
          <a:lstStyle/>
          <a:p>
            <a:pPr algn="l">
              <a:defRPr sz="1575" b="1">
                <a:solidFill>
                  <a:srgbClr val="5D6A74"/>
                </a:solidFill>
                <a:latin typeface="Microsoft YaHei"/>
                <a:ea typeface="Microsoft YaHei"/>
                <a:cs typeface="Microsoft YaHei"/>
              </a:defRPr>
            </a:pPr>
            <a:r>
              <a:t>核心问题</a:t>
            </a:r>
          </a:p>
        </p:txBody>
      </p:sp>
      <p:sp>
        <p:nvSpPr>
          <p:cNvPr id="8" name="矩形 7">
            <a:extLst>
              <a:ext uri="{FF2B5EF4-FFF2-40B4-BE49-F238E27FC236}">
                <a16:creationId xmlns:a16="http://schemas.microsoft.com/office/drawing/2014/main" id="{0617DF3F-F128-4965-9814-2A2043AB9701}"/>
              </a:ext>
            </a:extLst>
          </p:cNvPr>
          <p:cNvSpPr>
            <a:spLocks noGrp="1"/>
          </p:cNvSpPr>
          <p:nvPr/>
        </p:nvSpPr>
        <p:spPr>
          <a:xfrm>
            <a:off x="3048000" y="2343150"/>
            <a:ext cx="8096250" cy="495300"/>
          </a:xfrm>
          <a:prstGeom prst="rect">
            <a:avLst/>
          </a:prstGeom>
        </p:spPr>
        <p:txBody>
          <a:bodyPr wrap="square" lIns="0" tIns="0" rIns="0" bIns="0" anchor="t">
            <a:normAutofit/>
          </a:bodyPr>
          <a:lstStyle/>
          <a:p>
            <a:pPr algn="l">
              <a:defRPr sz="1875" b="1">
                <a:solidFill>
                  <a:srgbClr val="17232D"/>
                </a:solidFill>
                <a:latin typeface="Microsoft YaHei"/>
                <a:ea typeface="Microsoft YaHei"/>
                <a:cs typeface="Microsoft YaHei"/>
              </a:defRPr>
            </a:pPr>
            <a:r>
              <a:rPr dirty="0" err="1"/>
              <a:t>是否将“动态防空资源</a:t>
            </a:r>
            <a:r>
              <a:rPr dirty="0"/>
              <a:t>—</a:t>
            </a:r>
            <a:r>
              <a:rPr dirty="0" err="1"/>
              <a:t>目标分配”确定为项目的核心研究问题</a:t>
            </a:r>
            <a:r>
              <a:rPr dirty="0"/>
              <a:t>？</a:t>
            </a:r>
          </a:p>
        </p:txBody>
      </p:sp>
      <p:cxnSp>
        <p:nvCxnSpPr>
          <p:cNvPr id="27" name="直接箭头连接符 26"/>
          <p:cNvCxnSpPr/>
          <p:nvPr/>
        </p:nvCxnSpPr>
        <p:spPr>
          <a:xfrm>
            <a:off x="1352550" y="3086100"/>
            <a:ext cx="9886950" cy="95"/>
          </a:xfrm>
          <a:prstGeom prst="straightConnector1">
            <a:avLst/>
          </a:prstGeom>
          <a:ln w="9525">
            <a:solidFill>
              <a:srgbClr val="D8DFE4"/>
            </a:solidFill>
            <a:prstDash val="solid"/>
          </a:ln>
        </p:spPr>
      </p:cxnSp>
      <p:sp>
        <p:nvSpPr>
          <p:cNvPr id="10" name="矩形 9">
            <a:extLst>
              <a:ext uri="{FF2B5EF4-FFF2-40B4-BE49-F238E27FC236}">
                <a16:creationId xmlns:a16="http://schemas.microsoft.com/office/drawing/2014/main" id="{5E8E86C7-D2D3-499A-B146-9FD6660FDF9B}"/>
              </a:ext>
            </a:extLst>
          </p:cNvPr>
          <p:cNvSpPr>
            <a:spLocks noGrp="1"/>
          </p:cNvSpPr>
          <p:nvPr/>
        </p:nvSpPr>
        <p:spPr>
          <a:xfrm>
            <a:off x="457200" y="3505200"/>
            <a:ext cx="723900" cy="457200"/>
          </a:xfrm>
          <a:prstGeom prst="rect">
            <a:avLst/>
          </a:prstGeom>
        </p:spPr>
        <p:txBody>
          <a:bodyPr wrap="square" lIns="0" tIns="0" rIns="0" bIns="0" anchor="t">
            <a:normAutofit/>
          </a:bodyPr>
          <a:lstStyle/>
          <a:p>
            <a:pPr algn="l">
              <a:defRPr sz="2400" b="1">
                <a:solidFill>
                  <a:srgbClr val="B84A55"/>
                </a:solidFill>
                <a:latin typeface="Microsoft YaHei"/>
                <a:ea typeface="Microsoft YaHei"/>
                <a:cs typeface="Microsoft YaHei"/>
              </a:defRPr>
            </a:pPr>
            <a:r>
              <a:t>02</a:t>
            </a:r>
          </a:p>
        </p:txBody>
      </p:sp>
      <p:sp>
        <p:nvSpPr>
          <p:cNvPr id="11" name="矩形 10">
            <a:extLst>
              <a:ext uri="{FF2B5EF4-FFF2-40B4-BE49-F238E27FC236}">
                <a16:creationId xmlns:a16="http://schemas.microsoft.com/office/drawing/2014/main" id="{3C36457C-6665-43E6-B079-AAE56C75FCB0}"/>
              </a:ext>
            </a:extLst>
          </p:cNvPr>
          <p:cNvSpPr>
            <a:spLocks noGrp="1"/>
          </p:cNvSpPr>
          <p:nvPr/>
        </p:nvSpPr>
        <p:spPr>
          <a:xfrm>
            <a:off x="1352550" y="3524250"/>
            <a:ext cx="1428750" cy="323850"/>
          </a:xfrm>
          <a:prstGeom prst="rect">
            <a:avLst/>
          </a:prstGeom>
        </p:spPr>
        <p:txBody>
          <a:bodyPr wrap="square" lIns="0" tIns="0" rIns="0" bIns="0" anchor="t">
            <a:normAutofit/>
          </a:bodyPr>
          <a:lstStyle/>
          <a:p>
            <a:pPr algn="l">
              <a:defRPr sz="1575" b="1">
                <a:solidFill>
                  <a:srgbClr val="5D6A74"/>
                </a:solidFill>
                <a:latin typeface="Microsoft YaHei"/>
                <a:ea typeface="Microsoft YaHei"/>
                <a:cs typeface="Microsoft YaHei"/>
              </a:defRPr>
            </a:pPr>
            <a:r>
              <a:t>创新路线</a:t>
            </a:r>
          </a:p>
        </p:txBody>
      </p:sp>
      <p:sp>
        <p:nvSpPr>
          <p:cNvPr id="12" name="矩形 11">
            <a:extLst>
              <a:ext uri="{FF2B5EF4-FFF2-40B4-BE49-F238E27FC236}">
                <a16:creationId xmlns:a16="http://schemas.microsoft.com/office/drawing/2014/main" id="{3B58431E-C420-41D0-94A4-8AFAE40D53C5}"/>
              </a:ext>
            </a:extLst>
          </p:cNvPr>
          <p:cNvSpPr>
            <a:spLocks noGrp="1"/>
          </p:cNvSpPr>
          <p:nvPr/>
        </p:nvSpPr>
        <p:spPr>
          <a:xfrm>
            <a:off x="3048000" y="3486150"/>
            <a:ext cx="8096250" cy="495300"/>
          </a:xfrm>
          <a:prstGeom prst="rect">
            <a:avLst/>
          </a:prstGeom>
        </p:spPr>
        <p:txBody>
          <a:bodyPr wrap="square" lIns="0" tIns="0" rIns="0" bIns="0" anchor="t">
            <a:normAutofit/>
          </a:bodyPr>
          <a:lstStyle/>
          <a:p>
            <a:pPr algn="l">
              <a:defRPr sz="1875" b="1">
                <a:solidFill>
                  <a:srgbClr val="17232D"/>
                </a:solidFill>
                <a:latin typeface="Microsoft YaHei"/>
                <a:ea typeface="Microsoft YaHei"/>
                <a:cs typeface="Microsoft YaHei"/>
              </a:defRPr>
            </a:pPr>
            <a:r>
              <a:t>下一阶段优先研究图结构联合分配，还是先转向多智能体协同？</a:t>
            </a:r>
          </a:p>
        </p:txBody>
      </p:sp>
      <p:cxnSp>
        <p:nvCxnSpPr>
          <p:cNvPr id="31" name="直接箭头连接符 30"/>
          <p:cNvCxnSpPr/>
          <p:nvPr/>
        </p:nvCxnSpPr>
        <p:spPr>
          <a:xfrm>
            <a:off x="1352550" y="4229100"/>
            <a:ext cx="9886950" cy="95"/>
          </a:xfrm>
          <a:prstGeom prst="straightConnector1">
            <a:avLst/>
          </a:prstGeom>
          <a:ln w="9525">
            <a:solidFill>
              <a:srgbClr val="D8DFE4"/>
            </a:solidFill>
            <a:prstDash val="solid"/>
          </a:ln>
        </p:spPr>
      </p:cxnSp>
      <p:sp>
        <p:nvSpPr>
          <p:cNvPr id="14" name="矩形 13">
            <a:extLst>
              <a:ext uri="{FF2B5EF4-FFF2-40B4-BE49-F238E27FC236}">
                <a16:creationId xmlns:a16="http://schemas.microsoft.com/office/drawing/2014/main" id="{9088AFCD-E051-4672-B258-228209EF0930}"/>
              </a:ext>
            </a:extLst>
          </p:cNvPr>
          <p:cNvSpPr>
            <a:spLocks noGrp="1"/>
          </p:cNvSpPr>
          <p:nvPr/>
        </p:nvSpPr>
        <p:spPr>
          <a:xfrm>
            <a:off x="457200" y="4648200"/>
            <a:ext cx="723900" cy="457200"/>
          </a:xfrm>
          <a:prstGeom prst="rect">
            <a:avLst/>
          </a:prstGeom>
        </p:spPr>
        <p:txBody>
          <a:bodyPr wrap="square" lIns="0" tIns="0" rIns="0" bIns="0" anchor="t">
            <a:normAutofit/>
          </a:bodyPr>
          <a:lstStyle/>
          <a:p>
            <a:pPr algn="l">
              <a:defRPr sz="2400" b="1">
                <a:solidFill>
                  <a:srgbClr val="2E7D68"/>
                </a:solidFill>
                <a:latin typeface="Microsoft YaHei"/>
                <a:ea typeface="Microsoft YaHei"/>
                <a:cs typeface="Microsoft YaHei"/>
              </a:defRPr>
            </a:pPr>
            <a:r>
              <a:t>03</a:t>
            </a:r>
          </a:p>
        </p:txBody>
      </p:sp>
      <p:sp>
        <p:nvSpPr>
          <p:cNvPr id="15" name="矩形 14">
            <a:extLst>
              <a:ext uri="{FF2B5EF4-FFF2-40B4-BE49-F238E27FC236}">
                <a16:creationId xmlns:a16="http://schemas.microsoft.com/office/drawing/2014/main" id="{2C954202-DABD-4A2B-A350-E6C569C888CE}"/>
              </a:ext>
            </a:extLst>
          </p:cNvPr>
          <p:cNvSpPr>
            <a:spLocks noGrp="1"/>
          </p:cNvSpPr>
          <p:nvPr/>
        </p:nvSpPr>
        <p:spPr>
          <a:xfrm>
            <a:off x="1352550" y="4667250"/>
            <a:ext cx="1428750" cy="323850"/>
          </a:xfrm>
          <a:prstGeom prst="rect">
            <a:avLst/>
          </a:prstGeom>
        </p:spPr>
        <p:txBody>
          <a:bodyPr wrap="square" lIns="0" tIns="0" rIns="0" bIns="0" anchor="t">
            <a:normAutofit/>
          </a:bodyPr>
          <a:lstStyle/>
          <a:p>
            <a:pPr algn="l">
              <a:defRPr sz="1575" b="1">
                <a:solidFill>
                  <a:srgbClr val="5D6A74"/>
                </a:solidFill>
                <a:latin typeface="Microsoft YaHei"/>
                <a:ea typeface="Microsoft YaHei"/>
                <a:cs typeface="Microsoft YaHei"/>
              </a:defRPr>
            </a:pPr>
            <a:r>
              <a:t>环境边界</a:t>
            </a:r>
          </a:p>
        </p:txBody>
      </p:sp>
      <p:sp>
        <p:nvSpPr>
          <p:cNvPr id="16" name="矩形 15">
            <a:extLst>
              <a:ext uri="{FF2B5EF4-FFF2-40B4-BE49-F238E27FC236}">
                <a16:creationId xmlns:a16="http://schemas.microsoft.com/office/drawing/2014/main" id="{035E4433-97A4-468C-A4D2-5CE57DC16B5B}"/>
              </a:ext>
            </a:extLst>
          </p:cNvPr>
          <p:cNvSpPr>
            <a:spLocks noGrp="1"/>
          </p:cNvSpPr>
          <p:nvPr/>
        </p:nvSpPr>
        <p:spPr>
          <a:xfrm>
            <a:off x="3048000" y="4629150"/>
            <a:ext cx="8096250" cy="495300"/>
          </a:xfrm>
          <a:prstGeom prst="rect">
            <a:avLst/>
          </a:prstGeom>
        </p:spPr>
        <p:txBody>
          <a:bodyPr wrap="square" lIns="0" tIns="0" rIns="0" bIns="0" anchor="t">
            <a:normAutofit/>
          </a:bodyPr>
          <a:lstStyle/>
          <a:p>
            <a:pPr algn="l">
              <a:defRPr sz="1875" b="1">
                <a:solidFill>
                  <a:srgbClr val="17232D"/>
                </a:solidFill>
                <a:latin typeface="Microsoft YaHei"/>
                <a:ea typeface="Microsoft YaHei"/>
                <a:cs typeface="Microsoft YaHei"/>
              </a:defRPr>
            </a:pPr>
            <a:r>
              <a:t>继续保持决策级可解释模型，还是优先加入探测、通信与干扰机制？</a:t>
            </a:r>
          </a:p>
        </p:txBody>
      </p:sp>
      <p:sp>
        <p:nvSpPr>
          <p:cNvPr id="17" name="矩形: 圆角 16">
            <a:extLst>
              <a:ext uri="{FF2B5EF4-FFF2-40B4-BE49-F238E27FC236}">
                <a16:creationId xmlns:a16="http://schemas.microsoft.com/office/drawing/2014/main" id="{AC846E6C-EB43-4F72-B949-8B9978F9AFD0}"/>
              </a:ext>
            </a:extLst>
          </p:cNvPr>
          <p:cNvSpPr>
            <a:spLocks noGrp="1"/>
          </p:cNvSpPr>
          <p:nvPr/>
        </p:nvSpPr>
        <p:spPr>
          <a:xfrm>
            <a:off x="457200" y="5924550"/>
            <a:ext cx="10782300" cy="438150"/>
          </a:xfrm>
          <a:prstGeom prst="roundRect">
            <a:avLst>
              <a:gd name="adj" fmla="val 17391"/>
            </a:avLst>
          </a:prstGeom>
          <a:solidFill>
            <a:srgbClr val="F4F6F7"/>
          </a:solidFill>
          <a:ln w="9525">
            <a:solidFill>
              <a:srgbClr val="F4F6F7"/>
            </a:solidFill>
            <a:prstDash val="solid"/>
          </a:ln>
        </p:spPr>
      </p:sp>
      <p:sp>
        <p:nvSpPr>
          <p:cNvPr id="18" name="矩形 17">
            <a:extLst>
              <a:ext uri="{FF2B5EF4-FFF2-40B4-BE49-F238E27FC236}">
                <a16:creationId xmlns:a16="http://schemas.microsoft.com/office/drawing/2014/main" id="{B86222A7-A620-45E9-A764-F7629FDB3AE2}"/>
              </a:ext>
            </a:extLst>
          </p:cNvPr>
          <p:cNvSpPr>
            <a:spLocks noGrp="1"/>
          </p:cNvSpPr>
          <p:nvPr/>
        </p:nvSpPr>
        <p:spPr>
          <a:xfrm>
            <a:off x="666750" y="6019800"/>
            <a:ext cx="10382250" cy="247650"/>
          </a:xfrm>
          <a:prstGeom prst="rect">
            <a:avLst/>
          </a:prstGeom>
        </p:spPr>
        <p:txBody>
          <a:bodyPr wrap="square" lIns="0" tIns="0" rIns="0" bIns="0" anchor="t">
            <a:normAutofit/>
          </a:bodyPr>
          <a:lstStyle/>
          <a:p>
            <a:pPr algn="ctr">
              <a:defRPr sz="1425" b="1">
                <a:solidFill>
                  <a:srgbClr val="17232D"/>
                </a:solidFill>
                <a:latin typeface="Microsoft YaHei"/>
                <a:ea typeface="Microsoft YaHei"/>
                <a:cs typeface="Microsoft YaHei"/>
              </a:defRPr>
            </a:pPr>
            <a:r>
              <a:t>当前判断：先完成难度分层与强优化基线，再围绕约束感知图结构形成算法创新。</a:t>
            </a:r>
          </a:p>
        </p:txBody>
      </p:sp>
    </p:spTree>
    <p:extLst>
      <p:ext uri="{BB962C8B-B14F-4D97-AF65-F5344CB8AC3E}">
        <p14:creationId xmlns:p14="http://schemas.microsoft.com/office/powerpoint/2010/main" val="124538972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980</Words>
  <Application>Microsoft Office PowerPoint</Application>
  <DocSecurity>0</DocSecurity>
  <PresentationFormat>宽屏</PresentationFormat>
  <Paragraphs>241</Paragraphs>
  <Slides>13</Slides>
  <Notes>13</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13</vt:i4>
      </vt:variant>
    </vt:vector>
  </HeadingPairs>
  <TitlesOfParts>
    <vt:vector size="15" baseType="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自康 黄</cp:lastModifiedBy>
  <cp:revision>1</cp:revision>
  <dcterms:created xsi:type="dcterms:W3CDTF">2026-07-14T16:25:09Z</dcterms:created>
  <dcterms:modified xsi:type="dcterms:W3CDTF">2026-07-14T16:35:44Z</dcterms:modified>
</cp:coreProperties>
</file>