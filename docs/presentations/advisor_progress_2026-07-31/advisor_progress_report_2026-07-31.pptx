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054f4ac861465c" /><Relationship Type="http://schemas.openxmlformats.org/officeDocument/2006/relationships/extended-properties" Target="/docProps/app.xml" Id="Rfd9adec3d4e54128" /><Relationship Type="http://schemas.openxmlformats.org/officeDocument/2006/relationships/officeDocument" Target="/ppt/presentation.xml" Id="R5bce30da271e47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b6bc2e2dc4587"/>
  </p:sldMasterIdLst>
  <p:notesMasterIdLst>
    <p:notesMasterId xmlns:r="http://schemas.openxmlformats.org/officeDocument/2006/relationships" r:id="Ra263c3c3de6048cc"/>
  </p:notesMasterIdLst>
  <p:sldIdLst>
    <p:sldId xmlns:r="http://schemas.openxmlformats.org/officeDocument/2006/relationships" id="256" r:id="R525628b3a4444d89"/>
    <p:sldId xmlns:r="http://schemas.openxmlformats.org/officeDocument/2006/relationships" id="257" r:id="R704a9aa478294a74"/>
    <p:sldId xmlns:r="http://schemas.openxmlformats.org/officeDocument/2006/relationships" id="258" r:id="R93cffabe8a4e4de5"/>
    <p:sldId xmlns:r="http://schemas.openxmlformats.org/officeDocument/2006/relationships" id="259" r:id="Rdbd4169bab014c86"/>
    <p:sldId xmlns:r="http://schemas.openxmlformats.org/officeDocument/2006/relationships" id="260" r:id="R8afea3a601324cf7"/>
    <p:sldId xmlns:r="http://schemas.openxmlformats.org/officeDocument/2006/relationships" id="261" r:id="R3dfa3ca7e7a04f31"/>
    <p:sldId xmlns:r="http://schemas.openxmlformats.org/officeDocument/2006/relationships" id="262" r:id="Rd2225eff4fce442e"/>
    <p:sldId xmlns:r="http://schemas.openxmlformats.org/officeDocument/2006/relationships" id="263" r:id="Rf84e3a3a362045da"/>
    <p:sldId xmlns:r="http://schemas.openxmlformats.org/officeDocument/2006/relationships" id="264" r:id="Ra89187486b994711"/>
    <p:sldId xmlns:r="http://schemas.openxmlformats.org/officeDocument/2006/relationships" id="265" r:id="R8063ec36a5e84070"/>
    <p:sldId xmlns:r="http://schemas.openxmlformats.org/officeDocument/2006/relationships" id="266" r:id="R139fd00d1e7e4fb4"/>
    <p:sldId xmlns:r="http://schemas.openxmlformats.org/officeDocument/2006/relationships" id="267" r:id="Ra4a8a5f2aeac490b"/>
    <p:sldId xmlns:r="http://schemas.openxmlformats.org/officeDocument/2006/relationships" id="268" r:id="R2740c165d5c6410c"/>
    <p:sldId xmlns:r="http://schemas.openxmlformats.org/officeDocument/2006/relationships" id="269" r:id="R087f7d8a85074bc7"/>
    <p:sldId xmlns:r="http://schemas.openxmlformats.org/officeDocument/2006/relationships" id="270" r:id="R45c9aa6174d94faa"/>
    <p:sldId xmlns:r="http://schemas.openxmlformats.org/officeDocument/2006/relationships" id="271" r:id="Rdfe53fc976954ac6"/>
    <p:sldId xmlns:r="http://schemas.openxmlformats.org/officeDocument/2006/relationships" id="272" r:id="Rbf7c234632504738"/>
    <p:sldId xmlns:r="http://schemas.openxmlformats.org/officeDocument/2006/relationships" id="273" r:id="Rc55fdaff104c4f1e"/>
    <p:sldId xmlns:r="http://schemas.openxmlformats.org/officeDocument/2006/relationships" id="274" r:id="Rc85fea3930a644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1a078aaa341ad" /><Relationship Type="http://schemas.openxmlformats.org/officeDocument/2006/relationships/slideMaster" Target="/ppt/slideMasters/slideMaster1.xml" Id="Ree5b6bc2e2dc4587" /><Relationship Type="http://schemas.openxmlformats.org/officeDocument/2006/relationships/notesMaster" Target="/ppt/notesMasters/notesMaster1.xml" Id="Ra263c3c3de6048cc" /><Relationship Type="http://schemas.openxmlformats.org/officeDocument/2006/relationships/presProps" Target="/ppt/presProps.xml" Id="R70d5de49f20c4fde" /><Relationship Type="http://schemas.openxmlformats.org/officeDocument/2006/relationships/tableStyles" Target="/ppt/tableStyles.xml" Id="Re4ed1e8ca0c94864" /><Relationship Type="http://schemas.openxmlformats.org/officeDocument/2006/relationships/slide" Target="/ppt/slides/slide1.xml" Id="R525628b3a4444d89" /><Relationship Type="http://schemas.openxmlformats.org/officeDocument/2006/relationships/slide" Target="/ppt/slides/slide2.xml" Id="R704a9aa478294a74" /><Relationship Type="http://schemas.openxmlformats.org/officeDocument/2006/relationships/slide" Target="/ppt/slides/slide3.xml" Id="R93cffabe8a4e4de5" /><Relationship Type="http://schemas.openxmlformats.org/officeDocument/2006/relationships/slide" Target="/ppt/slides/slide4.xml" Id="Rdbd4169bab014c86" /><Relationship Type="http://schemas.openxmlformats.org/officeDocument/2006/relationships/slide" Target="/ppt/slides/slide5.xml" Id="R8afea3a601324cf7" /><Relationship Type="http://schemas.openxmlformats.org/officeDocument/2006/relationships/slide" Target="/ppt/slides/slide6.xml" Id="R3dfa3ca7e7a04f31" /><Relationship Type="http://schemas.openxmlformats.org/officeDocument/2006/relationships/slide" Target="/ppt/slides/slide7.xml" Id="Rd2225eff4fce442e" /><Relationship Type="http://schemas.openxmlformats.org/officeDocument/2006/relationships/slide" Target="/ppt/slides/slide8.xml" Id="Rf84e3a3a362045da" /><Relationship Type="http://schemas.openxmlformats.org/officeDocument/2006/relationships/slide" Target="/ppt/slides/slide9.xml" Id="Ra89187486b994711" /><Relationship Type="http://schemas.openxmlformats.org/officeDocument/2006/relationships/slide" Target="/ppt/slides/slide10.xml" Id="R8063ec36a5e84070" /><Relationship Type="http://schemas.openxmlformats.org/officeDocument/2006/relationships/slide" Target="/ppt/slides/slide11.xml" Id="R139fd00d1e7e4fb4" /><Relationship Type="http://schemas.openxmlformats.org/officeDocument/2006/relationships/slide" Target="/ppt/slides/slide12.xml" Id="Ra4a8a5f2aeac490b" /><Relationship Type="http://schemas.openxmlformats.org/officeDocument/2006/relationships/slide" Target="/ppt/slides/slide13.xml" Id="R2740c165d5c6410c" /><Relationship Type="http://schemas.openxmlformats.org/officeDocument/2006/relationships/slide" Target="/ppt/slides/slide14.xml" Id="R087f7d8a85074bc7" /><Relationship Type="http://schemas.openxmlformats.org/officeDocument/2006/relationships/slide" Target="/ppt/slides/slide15.xml" Id="R45c9aa6174d94faa" /><Relationship Type="http://schemas.openxmlformats.org/officeDocument/2006/relationships/slide" Target="/ppt/slides/slide16.xml" Id="Rdfe53fc976954ac6" /><Relationship Type="http://schemas.openxmlformats.org/officeDocument/2006/relationships/slide" Target="/ppt/slides/slide17.xml" Id="Rbf7c234632504738" /><Relationship Type="http://schemas.openxmlformats.org/officeDocument/2006/relationships/slide" Target="/ppt/slides/slide18.xml" Id="Rc55fdaff104c4f1e" /><Relationship Type="http://schemas.openxmlformats.org/officeDocument/2006/relationships/slide" Target="/ppt/slides/slide19.xml" Id="Rc85fea3930a644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a5c64e9d5c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cc544075374a19" /><Relationship Type="http://schemas.openxmlformats.org/officeDocument/2006/relationships/notesMaster" Target="/ppt/notesMasters/notesMaster1.xml" Id="R0b8f092756cf46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0c874e54ce4ed2" /><Relationship Type="http://schemas.openxmlformats.org/officeDocument/2006/relationships/notesMaster" Target="/ppt/notesMasters/notesMaster1.xml" Id="Rbdf64303259a4f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3d717f32e14987" /><Relationship Type="http://schemas.openxmlformats.org/officeDocument/2006/relationships/notesMaster" Target="/ppt/notesMasters/notesMaster1.xml" Id="R5a107fbd108f45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2b1f7197374d2e" /><Relationship Type="http://schemas.openxmlformats.org/officeDocument/2006/relationships/notesMaster" Target="/ppt/notesMasters/notesMaster1.xml" Id="Rfccc076b12694b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ea3707f36e42f1" /><Relationship Type="http://schemas.openxmlformats.org/officeDocument/2006/relationships/notesMaster" Target="/ppt/notesMasters/notesMaster1.xml" Id="R3348e354f61b48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ba1819d65b464e" /><Relationship Type="http://schemas.openxmlformats.org/officeDocument/2006/relationships/notesMaster" Target="/ppt/notesMasters/notesMaster1.xml" Id="R82e9002b5b92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c11a5f323c41a4" /><Relationship Type="http://schemas.openxmlformats.org/officeDocument/2006/relationships/notesMaster" Target="/ppt/notesMasters/notesMaster1.xml" Id="R39a9904dad8d4d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9b91a4b7524256" /><Relationship Type="http://schemas.openxmlformats.org/officeDocument/2006/relationships/notesMaster" Target="/ppt/notesMasters/notesMaster1.xml" Id="R1448b5333ebf45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26c284eaa64dbb" /><Relationship Type="http://schemas.openxmlformats.org/officeDocument/2006/relationships/notesMaster" Target="/ppt/notesMasters/notesMaster1.xml" Id="Rf0b76187c9a54c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558bcd779d4024" /><Relationship Type="http://schemas.openxmlformats.org/officeDocument/2006/relationships/notesMaster" Target="/ppt/notesMasters/notesMaster1.xml" Id="Reb817d2b9a094c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ed4ec594404000" /><Relationship Type="http://schemas.openxmlformats.org/officeDocument/2006/relationships/notesMaster" Target="/ppt/notesMasters/notesMaster1.xml" Id="R58f6e4f8840847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01061980da4be9" /><Relationship Type="http://schemas.openxmlformats.org/officeDocument/2006/relationships/notesMaster" Target="/ppt/notesMasters/notesMaster1.xml" Id="Rbb61b89a5d3b49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4c526a1e44410b" /><Relationship Type="http://schemas.openxmlformats.org/officeDocument/2006/relationships/notesMaster" Target="/ppt/notesMasters/notesMaster1.xml" Id="R18c87711428246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c84bae8b104f78" /><Relationship Type="http://schemas.openxmlformats.org/officeDocument/2006/relationships/notesMaster" Target="/ppt/notesMasters/notesMaster1.xml" Id="Ra9da65aa33674e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83fc7ebf974d67" /><Relationship Type="http://schemas.openxmlformats.org/officeDocument/2006/relationships/notesMaster" Target="/ppt/notesMasters/notesMaster1.xml" Id="Rfddf360143b54b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f0a544a27d4b25" /><Relationship Type="http://schemas.openxmlformats.org/officeDocument/2006/relationships/notesMaster" Target="/ppt/notesMasters/notesMaster1.xml" Id="Rc9c644eff5ea49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23fac075184fb6" /><Relationship Type="http://schemas.openxmlformats.org/officeDocument/2006/relationships/notesMaster" Target="/ppt/notesMasters/notesMaster1.xml" Id="Rf660fbd8557743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c0e79ba2a943c6" /><Relationship Type="http://schemas.openxmlformats.org/officeDocument/2006/relationships/notesMaster" Target="/ppt/notesMasters/notesMaster1.xml" Id="Rd04fd491564341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486282d988429b" /><Relationship Type="http://schemas.openxmlformats.org/officeDocument/2006/relationships/notesMaster" Target="/ppt/notesMasters/notesMaster1.xml" Id="Rd5562812933147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开场先说明本次汇报聚焦两条成果线：资源成本测量专题与算法创新主线。论文部分只介绍内容、结构和证据，不讨论文稿状态。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docs/project/academic_project_progress.md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这一页建立全场叙事：专题论文解决测量有效性，主线解决优化稳定性。两条线互补，但在证据不足时不提前合并。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docs/project/academic_project_progress.md</a:t>
            </a:r>
          </a:p>
          <a:p xmlns:a="http://schemas.openxmlformats.org/drawingml/2006/main">
            <a:r>
              <a:t>- docs/project/air_defense_v1_literature_synthesis_and_algorithm_innovation_decision_2026-07-29.md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强调三个层次：自回归目标占用改变后续掩码；N/E 分支允许各自重新计算合法动作；总替代成本可能抵消正的直接成本。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docs/manuscript/action_substitution_cost_identifiability/final_manuscript_zh.md</a:t>
            </a:r>
          </a:p>
          <a:p xmlns:a="http://schemas.openxmlformats.org/drawingml/2006/main">
            <a:r>
              <a:t>- docs/manuscript/action_substitution_cost_identifiability/figures/exported/figure_1_measurement_problem_preview.png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共同随机数不是可辨识性的来源。目标精确边缘化消除当前目标抽样误差，完整账本负责重构同一步和未来动作介导路径。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docs/manuscript/action_substitution_cost_identifiability/final_manuscript_zh.md</a:t>
            </a:r>
          </a:p>
          <a:p xmlns:a="http://schemas.openxmlformats.org/drawingml/2006/main">
            <a:r>
              <a:t>- docs/manuscript/action_substitution_cost_identifiability/figure_table_plan.md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特别说明独立确认的含义：新来源策略种子、新上下文、旧 hash 零重叠；但仍属于同一 AirDefense v1 环境和同一来源算法。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docs/manuscript/action_substitution_cost_identifiability/final_manuscript_zh.md</a:t>
            </a:r>
          </a:p>
          <a:p xmlns:a="http://schemas.openxmlformats.org/drawingml/2006/main">
            <a:r>
              <a:t>- docs/manuscript/action_substitution_cost_identifiability/tables/exported/table_2_independence_integrity.md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先读上排：R1 旧种子发现、R2 新种子确认；再读下排：三个新 seed block 下界均为正，7/7 非正累计成本上下文都有正总替代。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docs/manuscript/action_substitution_cost_identifiability/figures/exported/figure_3_discovery_and_confirmation_preview.png</a:t>
            </a:r>
          </a:p>
          <a:p xmlns:a="http://schemas.openxmlformats.org/drawingml/2006/main">
            <a:r>
              <a:t>- docs/manuscript/action_substitution_cost_identifiability/results_evidence_notes.md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首轮公式缺少同一步其他单元项，287/7776 条账本出现残差。修正后最大误差达到数值精度；同一步约17%，未来约83%。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docs/manuscript/action_substitution_cost_identifiability/figures/exported/figure_4_cost_composition_preview.png</a:t>
            </a:r>
          </a:p>
          <a:p xmlns:a="http://schemas.openxmlformats.org/drawingml/2006/main">
            <a:r>
              <a:t>- docs/manuscript/action_substitution_cost_identifiability/results_evidence_notes.md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必须同时呈现阳性与失败边界。missile 与 laser 都有正替代，但 missile 只有2/9个掩盖上下文，未达到至少3个的冻结门槛。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docs/manuscript/action_substitution_cost_identifiability/figures/exported/figure_5_scenario_resource_boundaries_preview.png</a:t>
            </a:r>
          </a:p>
          <a:p xmlns:a="http://schemas.openxmlformats.org/drawingml/2006/main">
            <a:r>
              <a:t>- docs/manuscript/action_substitution_cost_identifiability/tables/exported/table_3_confirmation_gates.md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论文不按工作流水账组织，而按问题、协议、证据和边界组织。三项贡献都有限定词，不把一般反事实信用、自回归动作或动态掩码重新命名为创新。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docs/manuscript/action_substitution_cost_identifiability/final_contribution_list.md</a:t>
            </a:r>
          </a:p>
          <a:p xmlns:a="http://schemas.openxmlformats.org/drawingml/2006/main">
            <a:r>
              <a:t>- docs/manuscript/action_substitution_cost_identifiability/final_manuscript_zh.md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文献审计把研究缺口收窄：PASPO覆盖可行自回归采样，COSAC覆盖顺序反事实信用，OCR-CFT强调在线回退。项目差异必须落在动态支持、完整MDP和结构级联。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docs/project/air_defense_v1_literature_synthesis_and_algorithm_innovation_decision_2026-07-29.md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说明停止不是研究停滞，而是缩小创新空间：Q-Critic不能排序、BPCE标签覆盖失败、FCRC无增量预测，最终留下动态支持域这一最小可证伪机制。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docs/project/academic_project_progress.md</a:t>
            </a:r>
          </a:p>
          <a:p xmlns:a="http://schemas.openxmlformats.org/drawingml/2006/main">
            <a:r>
              <a:t>- docs/project/air_defense_v1_literature_synthesis_and_algorithm_innovation_decision_2026-07-29.md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红色柱表示deterministic全no-op。关键是策略概率并未完全退化，说明单纯观察argmax会放大现象，但PPO种子分叉仍是真实存在的。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docs/experiments/air_defense_v1_task12_noop_stability.md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三项分数的样本定义不同，因此用于展示层级差异而非同一统计检验。主结论是target层明显可学，engage层方向不稳定。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docs/experiments/air_defense_v1_task14_q_critic.md</a:t>
            </a:r>
          </a:p>
          <a:p xmlns:a="http://schemas.openxmlformats.org/drawingml/2006/main">
            <a:r>
              <a:t>- docs/experiments/air_defense_v1_task14_hierarchical_q.md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图中统一使用6个同场景运行的绝对塌缩数。RG-MCH说明GAE锚定方向有效，但SA-RG揭示支持度和小KL都不能替代严格joint PPO回退。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docs/experiments/air_defense_v1_mch_ppo_mechanism_stress_test.md</a:t>
            </a:r>
          </a:p>
          <a:p xmlns:a="http://schemas.openxmlformats.org/drawingml/2006/main">
            <a:r>
              <a:t>- docs/experiments/air_defense_v1_rg_mch_ppo_stress_test.md</a:t>
            </a:r>
          </a:p>
          <a:p xmlns:a="http://schemas.openxmlformats.org/drawingml/2006/main">
            <a:r>
              <a:t>- docs/experiments/air_defense_v1_sa_rg_mch_ppo_stress_test.md</a:t>
            </a:r>
          </a:p>
          <a:p xmlns:a="http://schemas.openxmlformats.org/drawingml/2006/main">
            <a:r>
              <a:t>- docs/experiments/air_defense_v1_bpce_ppo_stress_test.md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强调BPCE不是工程失败：软件验收和训练成本门通过；真正失败是标签覆盖、种子稳定性、资源门和跨场景探测优势。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docs/experiments/air_defense_v1_bpce_ppo_stress_test.md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FCRC是重要的受控阴性：静态门全部通过，但独立成对验证没有因果方向、增量预测和安全一致性，因此按预注册规则停止。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docs/experiments/air_defense_v1_n2_static_coverability_audit.md</a:t>
            </a:r>
          </a:p>
          <a:p xmlns:a="http://schemas.openxmlformats.org/drawingml/2006/main">
            <a:r>
              <a:t>- docs/experiments/air_defense_v1_n3_fcrc_paired_predictive_validation.md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两类正式通过结果都满足增量、bootstrap、场景和seed-block方向门。第三个结果未通过，因此不能外推到所有退化现象。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docs/experiments/air_defense_v1_ds0_dynamic_support_audit.md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唯一分析时间轴是rollout_update_index；SB3的_n_updates每轮增加10，只作追溯。DST-05.5只证明真实Callback不污染训练，不是P2证据。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docs/experiments/air_defense_v1_dst05_5_event_timeline_preflight.md</a:t>
            </a:r>
          </a:p>
          <a:p xmlns:a="http://schemas.openxmlformats.org/drawingml/2006/main">
            <a:r>
              <a:t>- docs/task_guides/dynamic_support_trust_region/dst_06_ds1_short_run_precursor_gate.md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最后收束到决策：先跑冻结的DS-1；只有先行性通过才实现最小DS-TR；之后必须用普通churn、KL和初始化控制验证增量价值。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docs/task_guides/dynamic_support_trust_region/README.md</a:t>
            </a:r>
          </a:p>
          <a:p xmlns:a="http://schemas.openxmlformats.org/drawingml/2006/main">
            <a:r>
              <a:t>- docs/task_guides/dynamic_support_trust_region/dst_06_ds1_short_run_precursor_gate.md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0f396836c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ee5d75b7a04aad" /><Relationship Type="http://schemas.openxmlformats.org/officeDocument/2006/relationships/slideLayout" Target="/ppt/slideLayouts/slideLayout1.xml" Id="Rd4f765822c914a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765822c914a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5d8783fbb4a3e" /><Relationship Type="http://schemas.openxmlformats.org/officeDocument/2006/relationships/notesSlide" Target="/ppt/notesSlides/notesSlide1.xml" Id="R55c19c0e5fcb40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7a92d48564214" /><Relationship Type="http://schemas.openxmlformats.org/officeDocument/2006/relationships/notesSlide" Target="/ppt/notesSlides/notesSlide2.xml" Id="Rd65a700962ca4c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e4471a1ad4a6b" /><Relationship Type="http://schemas.openxmlformats.org/officeDocument/2006/relationships/image" Target="/ppt/media/image.png" Id="R386d6d0ec27c471a" /><Relationship Type="http://schemas.openxmlformats.org/officeDocument/2006/relationships/notesSlide" Target="/ppt/notesSlides/notesSlide3.xml" Id="Rbb1fbf6a2d8b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9fc4a14cb458b" /><Relationship Type="http://schemas.openxmlformats.org/officeDocument/2006/relationships/notesSlide" Target="/ppt/notesSlides/notesSlide4.xml" Id="R14922d82366e4f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ee55a91d6431f" /><Relationship Type="http://schemas.openxmlformats.org/officeDocument/2006/relationships/notesSlide" Target="/ppt/notesSlides/notesSlide5.xml" Id="Rebfc35c61f0a43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c0d5b290742c1" /><Relationship Type="http://schemas.openxmlformats.org/officeDocument/2006/relationships/image" Target="/ppt/media/image2.png" Id="R3b6f57e795714b98" /><Relationship Type="http://schemas.openxmlformats.org/officeDocument/2006/relationships/notesSlide" Target="/ppt/notesSlides/notesSlide6.xml" Id="R34c7e21d4a0c40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8c253630e4159" /><Relationship Type="http://schemas.openxmlformats.org/officeDocument/2006/relationships/image" Target="/ppt/media/image3.png" Id="Rdc782ba394a3459c" /><Relationship Type="http://schemas.openxmlformats.org/officeDocument/2006/relationships/notesSlide" Target="/ppt/notesSlides/notesSlide7.xml" Id="Rb27bebb30cc643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162d0f1f9425b" /><Relationship Type="http://schemas.openxmlformats.org/officeDocument/2006/relationships/image" Target="/ppt/media/image4.png" Id="Rc7ebf0d27a444de3" /><Relationship Type="http://schemas.openxmlformats.org/officeDocument/2006/relationships/notesSlide" Target="/ppt/notesSlides/notesSlide8.xml" Id="Rd14bfc867c0244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2bcea27dc4b71" /><Relationship Type="http://schemas.openxmlformats.org/officeDocument/2006/relationships/notesSlide" Target="/ppt/notesSlides/notesSlide9.xml" Id="R3a872a7e70f049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c953338464054" /><Relationship Type="http://schemas.openxmlformats.org/officeDocument/2006/relationships/notesSlide" Target="/ppt/notesSlides/notesSlide10.xml" Id="R6c47af33047744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c799bc6a940ca" /><Relationship Type="http://schemas.openxmlformats.org/officeDocument/2006/relationships/notesSlide" Target="/ppt/notesSlides/notesSlide11.xml" Id="Rac915365bb9a4d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6b24a3c0e425a" /><Relationship Type="http://schemas.openxmlformats.org/officeDocument/2006/relationships/chart" Target="/ppt/slides/charts/chart1.xml" Id="R44fe0f52be784924" /><Relationship Type="http://schemas.openxmlformats.org/officeDocument/2006/relationships/notesSlide" Target="/ppt/notesSlides/notesSlide12.xml" Id="Ra147b93c6a7446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70682bea84a12" /><Relationship Type="http://schemas.openxmlformats.org/officeDocument/2006/relationships/chart" Target="/ppt/slides/charts/chart2.xml" Id="R3aae314a3aed4e0f" /><Relationship Type="http://schemas.openxmlformats.org/officeDocument/2006/relationships/notesSlide" Target="/ppt/notesSlides/notesSlide13.xml" Id="R15b193c6bec649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6de783723495c" /><Relationship Type="http://schemas.openxmlformats.org/officeDocument/2006/relationships/chart" Target="/ppt/slides/charts/chart3.xml" Id="Re04166fc2a274911" /><Relationship Type="http://schemas.openxmlformats.org/officeDocument/2006/relationships/notesSlide" Target="/ppt/notesSlides/notesSlide14.xml" Id="R69e85790cb0244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3ce2781ea4e06" /><Relationship Type="http://schemas.openxmlformats.org/officeDocument/2006/relationships/notesSlide" Target="/ppt/notesSlides/notesSlide15.xml" Id="R219c250f384042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6f945b5c147a8" /><Relationship Type="http://schemas.openxmlformats.org/officeDocument/2006/relationships/notesSlide" Target="/ppt/notesSlides/notesSlide16.xml" Id="R8eb372b717bf4d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c8b9dc4e74a82" /><Relationship Type="http://schemas.openxmlformats.org/officeDocument/2006/relationships/chart" Target="/ppt/slides/charts/chart4.xml" Id="Ra250f34a495b46bd" /><Relationship Type="http://schemas.openxmlformats.org/officeDocument/2006/relationships/notesSlide" Target="/ppt/notesSlides/notesSlide17.xml" Id="R1b7dccbf0ddb42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91d0457ad4fcd" /><Relationship Type="http://schemas.openxmlformats.org/officeDocument/2006/relationships/notesSlide" Target="/ppt/notesSlides/notesSlide18.xml" Id="R241387d59e954d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158dc03954b06" /><Relationship Type="http://schemas.openxmlformats.org/officeDocument/2006/relationships/notesSlide" Target="/ppt/notesSlides/notesSlide19.xml" Id="Rfc63a670efa3408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deterministic engagement rate</c:v>
          </c:tx>
          <c:spPr>
            <a:solidFill xmlns:a="http://schemas.openxmlformats.org/drawingml/2006/main">
              <a:srgbClr val="2F78B7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B74B4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74B4B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B74B4B"/>
              </a:solidFill>
            </c:spPr>
          </c:dPt>
          <c:cat>
            <c:strLit>
              <c:ptCount val="5"/>
              <c:pt idx="0">
                <c:v>seed 3</c:v>
              </c:pt>
              <c:pt idx="1">
                <c:v>seed 4</c:v>
              </c:pt>
              <c:pt idx="2">
                <c:v>seed 5</c:v>
              </c:pt>
              <c:pt idx="3">
                <c:v>seed 6</c:v>
              </c:pt>
              <c:pt idx="4">
                <c:v>seed 7</c:v>
              </c:pt>
            </c:strLit>
          </c:cat>
          <c:val>
            <c:numLit>
              <c:formatCode>0.000</c:formatCode>
              <c:ptCount val="5"/>
              <c:pt idx="0">
                <c:v>0.941</c:v>
              </c:pt>
              <c:pt idx="1">
                <c:v>0</c:v>
              </c:pt>
              <c:pt idx="2">
                <c:v>0</c:v>
              </c:pt>
              <c:pt idx="3">
                <c:v>0.805</c:v>
              </c:pt>
              <c:pt idx="4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4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1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42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5F6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580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validation score</c:v>
          </c:tx>
          <c:spPr>
            <a:solidFill xmlns:a="http://schemas.openxmlformats.org/drawingml/2006/main">
              <a:srgbClr val="7E8A91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74B4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7863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F8F79"/>
              </a:solidFill>
            </c:spPr>
          </c:dPt>
          <c:cat>
            <c:strLit>
              <c:ptCount val="3"/>
              <c:pt idx="0">
                <c:v>整体动作排序</c:v>
              </c:pt>
              <c:pt idx="1">
                <c:v>分层 engage 符号</c:v>
              </c:pt>
              <c:pt idx="2">
                <c:v>分层 target 排序</c:v>
              </c:pt>
            </c:strLit>
          </c:cat>
          <c:val>
            <c:numLit>
              <c:formatCode>0.000</c:formatCode>
              <c:ptCount val="3"/>
              <c:pt idx="0">
                <c:v>0.292</c:v>
              </c:pt>
              <c:pt idx="1">
                <c:v>0.627</c:v>
              </c:pt>
              <c:pt idx="2">
                <c:v>0.85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724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5F6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C9D1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58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42D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collapsed runs / 6</c:v>
          </c:tx>
          <c:spPr>
            <a:solidFill xmlns:a="http://schemas.openxmlformats.org/drawingml/2006/main">
              <a:srgbClr val="B74B4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D7863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D78636"/>
              </a:solidFill>
            </c:spPr>
          </c:dPt>
          <c:cat>
            <c:strLit>
              <c:ptCount val="4"/>
              <c:pt idx="0">
                <c:v>MCH v0</c:v>
              </c:pt>
              <c:pt idx="1">
                <c:v>RG-MCH</c:v>
              </c:pt>
              <c:pt idx="2">
                <c:v>SA-RG</c:v>
              </c:pt>
              <c:pt idx="3">
                <c:v>BPCE</c:v>
              </c:pt>
            </c:strLit>
          </c:cat>
          <c:val>
            <c:numLit>
              <c:formatCode>General</c:formatCode>
              <c:ptCount val="4"/>
              <c:pt idx="0">
                <c:v>3</c:v>
              </c:pt>
              <c:pt idx="1">
                <c:v>2</c:v>
              </c:pt>
              <c:pt idx="2">
                <c:v>5</c:v>
              </c:pt>
              <c:pt idx="3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724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1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42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5F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657580"/>
                    </a:solidFill>
                  </a:rPr>
                  <a:t>塌缩运行数（共 6）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65758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580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AUROC 增量</c:v>
          </c:tx>
          <c:spPr>
            <a:solidFill xmlns:a="http://schemas.openxmlformats.org/drawingml/2006/main">
              <a:srgbClr val="2F78B7"/>
            </a:solidFill>
          </c:spPr>
          <c:cat>
            <c:strLit>
              <c:ptCount val="3"/>
              <c:pt idx="0">
                <c:v>高威胁未分配变化</c:v>
              </c:pt>
              <c:pt idx="1">
                <c:v>前缀阻断变化</c:v>
              </c:pt>
              <c:pt idx="2">
                <c:v>engagement 极端方向</c:v>
              </c:pt>
            </c:strLit>
          </c:cat>
          <c:val>
            <c:numLit>
              <c:formatCode>0.000</c:formatCode>
              <c:ptCount val="3"/>
              <c:pt idx="0">
                <c:v>0.066528</c:v>
              </c:pt>
              <c:pt idx="1">
                <c:v>0.087856</c:v>
              </c:pt>
              <c:pt idx="2">
                <c:v>0.002842</c:v>
              </c:pt>
            </c:numLit>
          </c:val>
        </c:ser>
        <c:ser>
          <c:idx val="1"/>
          <c:order val="1"/>
          <c:tx>
            <c:v>BA 增量</c:v>
          </c:tx>
          <c:spPr>
            <a:solidFill xmlns:a="http://schemas.openxmlformats.org/drawingml/2006/main">
              <a:srgbClr val="3F8F79"/>
            </a:solidFill>
          </c:spPr>
          <c:cat>
            <c:strLit>
              <c:ptCount val="3"/>
              <c:pt idx="0">
                <c:v>高威胁未分配变化</c:v>
              </c:pt>
              <c:pt idx="1">
                <c:v>前缀阻断变化</c:v>
              </c:pt>
              <c:pt idx="2">
                <c:v>engagement 极端方向</c:v>
              </c:pt>
            </c:strLit>
          </c:cat>
          <c:val>
            <c:numLit>
              <c:formatCode>0.000</c:formatCode>
              <c:ptCount val="3"/>
              <c:pt idx="0">
                <c:v>0.055062</c:v>
              </c:pt>
              <c:pt idx="1">
                <c:v>0.10079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4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1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42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5F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580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7242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FA260-C16D-40A1-9D94-37392E69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2FE1-B5B7-4E28-807A-504B57E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防空资源编组项目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2A754-8B64-49DF-A8E6-F1FC002A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096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反事实测量与</a:t>
            </a:r>
          </a:p>
          <a:p xmlns:a="http://schemas.openxmlformats.org/drawingml/2006/main">
            <a:pPr algn="l">
              <a:defRPr sz="52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动态支持域创新路线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71D63-5F50-4B99-946E-AC5C2C0D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工作进展汇报｜AirDefense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F71C3-5410-43E6-87A1-53304E6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1C44F-F179-45AB-A0CF-D311582E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2026.07.31</a:t>
            </a:r>
          </a:p>
        </p:txBody>
      </p:sp>
    </p:spTree>
    <p:extLst>
      <p:ext uri="{BB962C8B-B14F-4D97-AF65-F5344CB8AC3E}">
        <p14:creationId xmlns:p14="http://schemas.microsoft.com/office/powerpoint/2010/main" val="10531137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03618BC-B0CF-4BF0-9FEB-EE755E29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两条成果线正在汇聚到同一个核心问题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16D4E-B9BD-4DC7-A762-4670939B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阶段概览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F3D1F-2239-4553-991D-17642986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016A0-E240-4B2A-B7B4-D55B94DF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E6E74-B2BB-49B0-9071-286EF0F9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如何把动态联合决策的局部解释，转化为可验证、可回退的优化机制？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76164-ED8F-4A03-A476-18D4E326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5219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7"/>
          </a:solidFill>
          <a:ln xmlns:a="http://schemas.openxmlformats.org/drawingml/2006/main" w="0">
            <a:solidFill>
              <a:srgbClr val="DCEC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7A7C3-C205-46B4-A003-BA4DC134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测量与诊断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44279-E7F3-4430-8B73-B7E17C07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N/E 成对干预</a:t>
            </a:r>
          </a:p>
          <a:p xmlns:a="http://schemas.openxmlformats.org/drawingml/2006/main">
            <a:pPr algn="l">
              <a:def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三分量成本账本</a:t>
            </a:r>
          </a:p>
          <a:p xmlns:a="http://schemas.openxmlformats.org/drawingml/2006/main">
            <a:pPr algn="l">
              <a:def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新种子独立确认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2A11E-68F8-42EC-93E7-A1A743E0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5600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solidFill>
              <a:srgbClr val="DDEF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FFBA5-9DEA-473C-8D22-9BB3541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算法创新主线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F41F3-B2B8-45B4-AC68-C0CA60AE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系统否决错误路线</a:t>
            </a:r>
          </a:p>
          <a:p xmlns:a="http://schemas.openxmlformats.org/drawingml/2006/main">
            <a:pPr algn="l">
              <a:def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冻结严格 joint PPO 回退</a:t>
            </a:r>
          </a:p>
          <a:p xmlns:a="http://schemas.openxmlformats.org/drawingml/2006/main">
            <a:pPr algn="l">
              <a:def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主候选收敛到 DS-TR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D250F-FD7E-4EFC-8A9C-7AF5613C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共同原则：解释相关性 ≠ 规范优化信号；静态机制 ≠ 更新级先行性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827ED-4943-495F-AA27-76E053D2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项目内来源：academic_project_progress.md；算法创新综合决策</a:t>
            </a:r>
          </a:p>
        </p:txBody>
      </p:sp>
    </p:spTree>
    <p:extLst>
      <p:ext uri="{BB962C8B-B14F-4D97-AF65-F5344CB8AC3E}">
        <p14:creationId xmlns:p14="http://schemas.microsoft.com/office/powerpoint/2010/main" val="18212280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7FB310D-BF96-460F-BB57-6DEFBA7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当前动作改变后缀合法集，回合成本并非局部读出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E9BB0-DE7F-4CA4-9F00-26CD091E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专题论文｜研究问题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8F863-AF17-4A1F-98E8-ACC749F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0A1D-F63C-4D6F-BA1F-D397AF2F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d6d0ec27c471a"/>
          <a:stretch xmlns:a="http://schemas.openxmlformats.org/drawingml/2006/main"/>
        </p:blipFill>
        <p:spPr>
          <a:xfrm xmlns:a="http://schemas.openxmlformats.org/drawingml/2006/main">
            <a:off x="1047882" y="1476375"/>
            <a:ext cx="10096237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FF9DE-1A7D-42B7-B010-8944DA88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manuscript Fig. 1｜示意图，不承载新增经验数值</a:t>
            </a:r>
          </a:p>
        </p:txBody>
      </p:sp>
    </p:spTree>
    <p:extLst>
      <p:ext uri="{BB962C8B-B14F-4D97-AF65-F5344CB8AC3E}">
        <p14:creationId xmlns:p14="http://schemas.microsoft.com/office/powerpoint/2010/main" val="19577403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8FA482D-688A-45CF-B2B6-AA4807E4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N/E 配对、CRN 与三分量账本共同构成可复核协议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7714D-35DB-4438-9C05-67D1C79A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专题论文｜方法框架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49105-B87F-4E05-A40D-0B44688B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F977F-E151-4E4F-BF98-75A87513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4B03E-1283-4FF0-8E67-2476F5A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985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74C37-A743-48D0-B357-EAE5188F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2286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DB0FD-F52C-4ADD-B813-296B5C53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2286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E0C0B-A46D-4318-B1D1-741387FA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2286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5FC38-C6FB-4464-B170-277BB1E3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14650"/>
            <a:ext cx="2286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CDD5C-AD5C-4163-AC51-536A0689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19050">
            <a:solidFill>
              <a:srgbClr val="1724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58164-885F-4180-8BE3-99BBD6C8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冻结上下文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96C35-6F77-4F60-B5EF-9230C5E0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状态快照</a:t>
            </a:r>
          </a:p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合法前缀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98225-A3BB-4F69-9B17-99D24D38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19050">
            <a:solidFill>
              <a:srgbClr val="2F78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2603B-D403-49CE-A1D4-7840AECE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9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N / E 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FB5AA-4B74-42A6-90DA-3A69D89A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527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no-op 对比</a:t>
            </a:r>
          </a:p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合法 engage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13A12-DC72-404D-80C7-EEA2B90B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0980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19050">
            <a:solidFill>
              <a:srgbClr val="1724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2DE55-34D9-4E47-A43E-BAA08AA8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9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共同随机数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B94CB-EFC1-49E1-8600-DDC126E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环境与策略</a:t>
            </a:r>
          </a:p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随机带对齐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F02DA-F89D-4DF1-B182-AD7D7FAB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E8D6"/>
          </a:solidFill>
          <a:ln xmlns:a="http://schemas.openxmlformats.org/drawingml/2006/main" w="19050">
            <a:solidFill>
              <a:srgbClr val="D786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D3F82-B0A3-4C90-BF60-AE563BF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09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rPr>
              <a:t>目标边缘化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62B52-F8B4-4C73-9FA9-9E329095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合法目标</a:t>
            </a:r>
          </a:p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条件概率求和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80669-FCB5-4D30-86ED-C2D5EFA9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0980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19050">
            <a:solidFill>
              <a:srgbClr val="3F8F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EECC8-487E-4A33-869F-2C95AB0E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098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完整账本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C2CD2-39AF-4B18-8192-1980A378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same-step</a:t>
            </a:r>
          </a:p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future probe/other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5382B-977B-4EBD-A542-BDF449D2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D"/>
          </a:solidFill>
          <a:ln xmlns:a="http://schemas.openxmlformats.org/drawingml/2006/main" w="0">
            <a:solidFill>
              <a:srgbClr val="1724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99ED8-FA3E-47ED-A19F-446D9047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95850"/>
            <a:ext cx="866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ΔC_episode = C_direct − (Sub_same + Sub_future,probe + Sub_future,other)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9121C-DFE3-4B9E-853A-CCBA914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912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CRN 只降低配对方差；结构解释来自完整动作路径记账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67A31-36EA-4C0A-9D44-B31A544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manuscript Methods §4；Fig. 2 协议与恒等式</a:t>
            </a:r>
          </a:p>
        </p:txBody>
      </p:sp>
    </p:spTree>
    <p:extLst>
      <p:ext uri="{BB962C8B-B14F-4D97-AF65-F5344CB8AC3E}">
        <p14:creationId xmlns:p14="http://schemas.microsoft.com/office/powerpoint/2010/main" val="18916494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6F956E4-A8F1-49D4-A56F-3EE7091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R2 独立确认：新模型、新上下文、零旧观测重叠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D474B-DE8C-40E3-9239-28CE4F25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专题论文｜实验设计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400EF-15E4-47D2-9DEB-A4897DE2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5836-BB01-4577-BAB8-4030D958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7620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476500"/>
                <a:gridCol w="2667000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协议要素</a:t>
                      </a:r>
                    </a:p>
                  </a:txBody>
                  <a:tcPr marL="91440" marR="91440" marT="45720" marB="45720">
                    <a:solidFill>
                      <a:srgbClr val="172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 机制发现</a:t>
                      </a:r>
                    </a:p>
                  </a:txBody>
                  <a:tcPr marL="91440" marR="91440" marT="45720" marB="45720">
                    <a:solidFill>
                      <a:srgbClr val="1724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R2 独立确认</a:t>
                      </a:r>
                    </a:p>
                  </a:txBody>
                  <a:tcPr marL="91440" marR="91440" marT="45720" marB="45720">
                    <a:solidFill>
                      <a:srgbClr val="17242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策略种子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9 / 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/ 18 / 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来源模型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旧冻结模型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个无行为筛选新模型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个资源上下文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 个新上下文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每上下文重复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次 N/E CRN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次 N/E CRN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用于发现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旧正式观测 hash 重叠 =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E5CC8-E753-4729-8903-B613FAB7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3,456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F4D9D-758F-4171-A035-996269AD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955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R2 配对重复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DD076-D16B-4ABA-977C-2CBB4E70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7,776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103FC-6562-46D6-BB52-29627F15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目标条件账本行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4615A-0607-4B42-9B92-299FBDC1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ledger row ≠ 独立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F3E3B-D305-40FD-AA67-E19B10F6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manuscript Experimental Protocol；Tables 1–2</a:t>
            </a:r>
          </a:p>
        </p:txBody>
      </p:sp>
    </p:spTree>
    <p:extLst>
      <p:ext uri="{BB962C8B-B14F-4D97-AF65-F5344CB8AC3E}">
        <p14:creationId xmlns:p14="http://schemas.microsoft.com/office/powerpoint/2010/main" val="3589250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728D6FE-1C55-4C2F-8A10-34B7ED49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正动作替代在新策略种子和新上下文中复现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F23C2-375A-4E2D-BEF7-FEDC4BF2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专题论文｜主要结果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6DBEB-3632-42B9-9E1B-993ED248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6193B-7542-493D-A531-CA0B2D5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f57e795714b98"/>
          <a:stretch xmlns:a="http://schemas.openxmlformats.org/drawingml/2006/main"/>
        </p:blipFill>
        <p:spPr>
          <a:xfrm xmlns:a="http://schemas.openxmlformats.org/drawingml/2006/main">
            <a:off x="2345016" y="1438275"/>
            <a:ext cx="7501969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85F0A-64D6-4CD7-92CF-E6DBCD53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manuscript Fig. 3｜R2：13/18 下界为正，3/3 seed-block 下界为正</a:t>
            </a:r>
          </a:p>
        </p:txBody>
      </p:sp>
    </p:spTree>
    <p:extLst>
      <p:ext uri="{BB962C8B-B14F-4D97-AF65-F5344CB8AC3E}">
        <p14:creationId xmlns:p14="http://schemas.microsoft.com/office/powerpoint/2010/main" val="15888359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6551C90-AD60-469B-A373-7B0315B4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完整账本修复遗漏，未来替代占比约 83%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B288E-6267-48C4-898A-5A579F0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专题论文｜成本组成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26902-1393-4585-ABD1-3FCD7362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ECFEF-19F8-492C-8A20-8EB5AD6F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82ba394a3459c"/>
          <a:stretch xmlns:a="http://schemas.openxmlformats.org/drawingml/2006/main"/>
        </p:blipFill>
        <p:spPr>
          <a:xfrm xmlns:a="http://schemas.openxmlformats.org/drawingml/2006/main">
            <a:off x="2525136" y="1438275"/>
            <a:ext cx="7141728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66ACA-1002-4F6A-A583-4A8D8F99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manuscript Fig. 4｜future-only 最大残差 2.0；完整账本 8.88×10⁻¹⁶</a:t>
            </a:r>
          </a:p>
        </p:txBody>
      </p:sp>
    </p:spTree>
    <p:extLst>
      <p:ext uri="{BB962C8B-B14F-4D97-AF65-F5344CB8AC3E}">
        <p14:creationId xmlns:p14="http://schemas.microsoft.com/office/powerpoint/2010/main" val="4805892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4E91B7B-2546-43BE-B2D9-E69412B8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动作替代跨场景存在，但资源类型普遍性未通过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A8387-1B9F-4C11-BAF2-03C54CCE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专题论文｜适用边界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D26B1-95A3-4F8A-9622-B1E2E23C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FBD26-578F-4EE9-ACDC-8A291FF1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bf0d27a444de3"/>
          <a:stretch xmlns:a="http://schemas.openxmlformats.org/drawingml/2006/main"/>
        </p:blipFill>
        <p:spPr>
          <a:xfrm xmlns:a="http://schemas.openxmlformats.org/drawingml/2006/main">
            <a:off x="2348444" y="1438275"/>
            <a:ext cx="7495112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30AEE-75AA-4606-B146-9B1E7226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manuscript Fig. 5｜P-C1 PASS；P-C2 PASS；P-C3 FAIL</a:t>
            </a:r>
          </a:p>
        </p:txBody>
      </p:sp>
    </p:spTree>
    <p:extLst>
      <p:ext uri="{BB962C8B-B14F-4D97-AF65-F5344CB8AC3E}">
        <p14:creationId xmlns:p14="http://schemas.microsoft.com/office/powerpoint/2010/main" val="13243730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B2EAFF11-73BA-4532-A571-624E4DA1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论文形成“测量—审计—确认—边界”闭环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1C7FD-6AFF-47B3-90E1-25AFDCAB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专题论文｜内容框架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90E94-0831-4597-B443-7F474CF1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97E88-33EB-4AB8-8D17-E2EE66A2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D1F1F-4C8F-4BA6-9E60-2F860DA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8E60A-E3EC-4600-BC1F-2972C3BA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954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7D8C8-B826-4699-8209-D188E547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95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问题定位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E3C5A-0FD5-4A1C-BD1D-5817F5DA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回合成本混合当前消耗与策略响应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1D2F0-10AF-4C54-B381-DAA799B9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D3C22-5A6B-4211-A8FE-FB55F76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956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79A17-8F83-4AB6-9D4F-093A55E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955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方法协议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702EB-AD10-44CA-A8CF-EB075CF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N/E + CRN + 目标边缘化 + 三分量账本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F193E-E848-46BB-A9C5-CB11AB98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A4E1C-77DC-4190-8DF6-AB0C9FD3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95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C1181-18FC-46C7-96A8-C306A8B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957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独立确认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51825-0E1E-4107-8DEA-D7390700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新种子、新模型、新上下文、零旧 hash 重叠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6493D-A9A3-4FED-899C-CE52CCF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E1116-4074-4A69-97F8-09AE1757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6A508-57FD-40C3-AA23-5F9CC2AD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958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5FF67-BEA8-4BDA-9BBE-6884A95C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148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测量诊断模块，不声称在线 PPO 已改进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D7DEF-B792-44CD-990B-2A7CC122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0810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F2F5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BD002-B4ED-4338-9224-FE1A7E11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33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三项贡献：明确测量对象｜给出可复核账本｜确认机制并保留失败边界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7DEC0-3FDB-4294-B027-A2379B57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final_contribution_list.md；final_manuscript_zh.md</a:t>
            </a:r>
          </a:p>
        </p:txBody>
      </p:sp>
    </p:spTree>
    <p:extLst>
      <p:ext uri="{BB962C8B-B14F-4D97-AF65-F5344CB8AC3E}">
        <p14:creationId xmlns:p14="http://schemas.microsoft.com/office/powerpoint/2010/main" val="19998357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03D845AB-8521-466C-A9DB-5BDCED92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定向阅读排除了“再加一个信用模块”的伪创新空间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448CF-77AA-4E70-BDB3-DFC2D566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主线任务｜文献基线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B16F1-9639-494A-B13A-BE1DBAAC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3D417-73FC-4439-B996-0E6CEADB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695450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5010150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算法/理论</a:t>
                      </a:r>
                    </a:p>
                  </a:txBody>
                  <a:tcPr marL="91440" marR="91440" marT="45720" marB="45720">
                    <a:solidFill>
                      <a:srgbClr val="2F78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可吸收内容</a:t>
                      </a:r>
                    </a:p>
                  </a:txBody>
                  <a:tcPr marL="91440" marR="91440" marT="45720" marB="45720">
                    <a:solidFill>
                      <a:srgbClr val="2F78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当前不能照搬</a:t>
                      </a:r>
                    </a:p>
                  </a:txBody>
                  <a:tcPr marL="91440" marR="91440" marT="45720" marB="45720">
                    <a:solidFill>
                      <a:srgbClr val="2F78B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反事实效应分解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区分行为与状态路径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解释量不能直接当 advantage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GradS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多成本梯度冲突诊断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缺少可靠成本 Critic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可行支持采样与初始化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核心原则已有覆盖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COSAC / SeqAU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前缀顺序信用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不含完整 MDP 动态支持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OCR-CFT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评价—改进—漂移审计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离线覆盖不足，不能乐观重构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BE40B-75D8-4D5E-8AAE-3EEBC5DC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剩余缺口：动态支持域下的优化几何，而不是“有没有顺序反事实信用”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D19D1-07AC-48EC-8025-E8996890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六篇定向阅读综合与算法创新决策（2026-07-29）</a:t>
            </a:r>
          </a:p>
        </p:txBody>
      </p:sp>
    </p:spTree>
    <p:extLst>
      <p:ext uri="{BB962C8B-B14F-4D97-AF65-F5344CB8AC3E}">
        <p14:creationId xmlns:p14="http://schemas.microsoft.com/office/powerpoint/2010/main" val="5709494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A3F3CE9-2195-452B-89E2-2DC4199F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创新路线由受控失败逐步收敛，而非并行堆叠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FF8FF-340B-4CEA-84BC-F3054C8F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主线任务｜算法演化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17B42-BE92-48D3-9FB2-9D29F95E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DA324-53E5-4F32-B605-D1B313DC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C9D82-8D01-45CE-A66A-5EB54FB5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1A2BB-B820-4085-A93B-F6C6D641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9DBF8-379F-45F9-8826-8FC092DA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结构合法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5FCD0-62D0-4FDD-9CA1-B0AB6B9C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19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AR / factorized PPO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4F4F6-A2EA-4893-9C7D-C2C6FFF9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62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66A7"/>
          </a:solidFill>
          <a:ln xmlns:a="http://schemas.openxmlformats.org/drawingml/2006/main" w="0">
            <a:solidFill>
              <a:srgbClr val="7666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79401-347C-47B9-A7F7-F669CD6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666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666A7"/>
                </a:solidFill>
                <a:latin typeface="Microsoft YaHei"/>
                <a:ea typeface="Microsoft YaHei"/>
                <a:cs typeface="Microsoft YaHei"/>
              </a:rPr>
              <a:t>离线估值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EAAF3-85CE-4AE3-B6C8-CF4D536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19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Q-Critic / MCH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24F50-E276-42D8-A667-E4F6AA36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62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636"/>
          </a:solidFill>
          <a:ln xmlns:a="http://schemas.openxmlformats.org/drawingml/2006/main" w="0">
            <a:solidFill>
              <a:srgbClr val="D786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C314E-CD43-4329-8AE6-F1DED731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rPr>
              <a:t>在线标签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E990C-3A6E-4695-965A-5C88D65C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19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BPCE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4342A-7FC1-47F3-A7DE-2F673886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62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8A91"/>
          </a:solidFill>
          <a:ln xmlns:a="http://schemas.openxmlformats.org/drawingml/2006/main" w="0">
            <a:solidFill>
              <a:srgbClr val="7E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C804E-7BAD-401C-95A8-058881BF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E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E8A91"/>
                </a:solidFill>
                <a:latin typeface="Microsoft YaHei"/>
                <a:ea typeface="Microsoft YaHei"/>
                <a:cs typeface="Microsoft YaHei"/>
              </a:rPr>
              <a:t>规范责任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7476C-B340-4393-968C-F3879DC4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FCRC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DB8AA-1D79-405F-A15F-0A9C8EB1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622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F79"/>
          </a:solidFill>
          <a:ln xmlns:a="http://schemas.openxmlformats.org/drawingml/2006/main" w="0">
            <a:solidFill>
              <a:srgbClr val="3F8F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835A9-6FCC-4C63-A344-F6EB71FE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431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支持几何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19048-BCEC-4B9E-9266-DA174A40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19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DS-TR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6347B-A8CF-480A-980C-A604D4EB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9525">
            <a:solidFill>
              <a:srgbClr val="2F78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361A5-5103-42E6-9252-54045B32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829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E4589-0233-458B-9FA4-08C949D2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62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E2E2"/>
          </a:solidFill>
          <a:ln xmlns:a="http://schemas.openxmlformats.org/drawingml/2006/main" w="9525">
            <a:solidFill>
              <a:srgbClr val="B74B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01703-441D-4D0C-8361-5DB25B9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29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67EA5-25B1-44FC-9726-693CF872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E2E2"/>
          </a:solidFill>
          <a:ln xmlns:a="http://schemas.openxmlformats.org/drawingml/2006/main" w="9525">
            <a:solidFill>
              <a:srgbClr val="B74B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794F2-B099-4942-9CD6-E591045F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29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9B0EEE-1002-4CC8-98AC-A1254223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62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E2E2"/>
          </a:solidFill>
          <a:ln xmlns:a="http://schemas.openxmlformats.org/drawingml/2006/main" w="9525">
            <a:solidFill>
              <a:srgbClr val="B74B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FEA71-9D63-4F68-B532-5E3927CB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29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8491B-215D-4A79-9000-253CB379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9525">
            <a:solidFill>
              <a:srgbClr val="3F8F7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EE1B09-AA33-4FF5-9E75-DD1123B7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29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当前主候选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3206C-3102-4BBF-ADD8-F460639F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6262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每一步都要求：机制门 → 独立门 → 算法门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3768D-1479-4556-B15D-71E5F7B3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academic_project_progress.md；算法创新综合决策 §12</a:t>
            </a:r>
          </a:p>
        </p:txBody>
      </p:sp>
    </p:spTree>
    <p:extLst>
      <p:ext uri="{BB962C8B-B14F-4D97-AF65-F5344CB8AC3E}">
        <p14:creationId xmlns:p14="http://schemas.microsoft.com/office/powerpoint/2010/main" val="1915854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C21D0105-C685-45F6-A5B4-E5DFFBC4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Factorized joint PPO 未消除 no-op 分叉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FAC3D-A775-4FD1-9717-364227DB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主线任务｜基础策略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86209-61BC-400F-826D-D599DEDF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9AA3D-F969-4C6E-BE7E-DC30F222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6572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fe0f52be78492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6E99B-E529-43C9-8BEC-8CC5ABB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0.4726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BB30D-AFF4-4661-9C70-3FC53E2C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19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失败策略仍保留平均交战概率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28F5F-87FC-435E-B9F0-65A6D439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8B02C-B87C-4B30-B1C9-C3D4770D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10k 种子发生 deterministic 塌缩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D34BD-D5E7-4B96-818D-0FD5589F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53000"/>
            <a:ext cx="3857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F2F5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BD3CC-C7AB-401D-902C-E55DF6F6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05400"/>
            <a:ext cx="3476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概率碎片化 + 0.5 边界跨越 + PPO 分叉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28951-CB15-4823-A0C6-E3CA5A2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task12_noop_stability.md｜10k seeds 3–7</a:t>
            </a:r>
          </a:p>
        </p:txBody>
      </p:sp>
    </p:spTree>
    <p:extLst>
      <p:ext uri="{BB962C8B-B14F-4D97-AF65-F5344CB8AC3E}">
        <p14:creationId xmlns:p14="http://schemas.microsoft.com/office/powerpoint/2010/main" val="18519689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8164E7ED-C7EC-48D8-AE2A-CA353B63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Q-Critic 数值可拟合，交战排序仍失真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FAE25-DEEA-4067-BE78-C3AB00B4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主线任务｜Q-Critic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96F8A-A60D-4CFB-B606-157712F3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E7E6D-5B04-482E-84B5-4D71FEC2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ae314a3aed4e0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F4E33-7D48-4312-9142-18E33A03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E4B93-7598-4C6D-94C3-02A41DFE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相对 V(s)</a:t>
            </a:r>
          </a:p>
          <a:p xmlns:a="http://schemas.openxmlformats.org/drawingml/2006/main">
            <a:pPr algn="ctr">
              <a:def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改善 36.4%–40.1%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0C741-96E2-4AB8-940E-94FC978E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A8609-F1E3-4923-A17C-0BCE1C14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“选哪个目标”相对可学</a:t>
            </a:r>
          </a:p>
          <a:p xmlns:a="http://schemas.openxmlformats.org/drawingml/2006/main">
            <a:pPr algn="ctr">
              <a:def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“是否交战”仍是瓶颈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F6C6A-3B4F-4D1B-8C3F-405FCED3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task14_q_critic.md；task14_hierarchical_q.md</a:t>
            </a:r>
          </a:p>
        </p:txBody>
      </p:sp>
    </p:spTree>
    <p:extLst>
      <p:ext uri="{BB962C8B-B14F-4D97-AF65-F5344CB8AC3E}">
        <p14:creationId xmlns:p14="http://schemas.microsoft.com/office/powerpoint/2010/main" val="6553888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015B62A7-B560-4ED9-B533-BBFEE134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从 MCH 到支持锚定，塌缩始终无法被可靠消除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D785E-55B3-44E1-9D8C-A2B4B0F0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主线任务｜反事实信用算法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3BBF6-5191-4662-A9AB-A11F50B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1A5A2-C9D6-42B7-A1BB-45E13F66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4166fc2a27491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D3F35-6336-43E5-80A7-C98C3395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MCH v0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F35C5-750F-4AFA-B769-13AE197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1932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冻结 Critic 不能替代在线 joint GAE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B3525-EA60-449E-ACEE-C3D0689E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rPr>
              <a:t>RG-MCH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E7D6D-B2FE-40C5-ABD6-B9253B72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局部安全阳性，但仍 2/6 塌缩；成本 125.9%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9D575-59CC-4403-AD53-13C2799B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SA-RG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AD2C9-833F-4D91-BC51-F590D927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005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support 仅 0.124/0.022；关闭残差仍非严格回退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B3A8E-83BB-49D5-A029-F303142F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8162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solidFill>
              <a:srgbClr val="DDEF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EBCE4-66CC-493A-9316-60C9203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24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冻结契约：辅助关闭时必须逐位恢复 joint PPO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34FA2-45F9-4FBB-B3EF-D141D419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MCH / RG-MCH / SA-RG / BPCE 10k stress tests</a:t>
            </a:r>
          </a:p>
        </p:txBody>
      </p:sp>
    </p:spTree>
    <p:extLst>
      <p:ext uri="{BB962C8B-B14F-4D97-AF65-F5344CB8AC3E}">
        <p14:creationId xmlns:p14="http://schemas.microsoft.com/office/powerpoint/2010/main" val="7820508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0B62C3BC-430D-462E-858A-65CF5476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BPCE 改善异质场景安全，但成本升至 1.93×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15F8E-CE43-453C-BF13-29863F17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主线任务｜在线边界标签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5A844-9160-4C19-9F0F-FC78FC3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1F88A-E934-4670-BB3D-97550EBD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00050" y="1905000"/>
          <a:ext xmlns:a="http://schemas.openxmlformats.org/drawingml/2006/main" cx="113919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1524000"/>
                <a:gridCol w="1524000"/>
                <a:gridCol w="2000250"/>
                <a:gridCol w="1619250"/>
                <a:gridCol w="2486025"/>
              </a:tblGrid>
              <a:tr h="698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D78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奖励差</a:t>
                      </a:r>
                    </a:p>
                  </a:txBody>
                  <a:tcPr marL="91440" marR="91440" marT="45720" marB="45720">
                    <a:solidFill>
                      <a:srgbClr val="D78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损伤差</a:t>
                      </a:r>
                    </a:p>
                  </a:txBody>
                  <a:tcPr marL="91440" marR="91440" marT="45720" marB="45720">
                    <a:solidFill>
                      <a:srgbClr val="D78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高威胁突防差</a:t>
                      </a:r>
                    </a:p>
                  </a:txBody>
                  <a:tcPr marL="91440" marR="91440" marT="45720" marB="45720">
                    <a:solidFill>
                      <a:srgbClr val="D78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成本比</a:t>
                      </a:r>
                    </a:p>
                  </a:txBody>
                  <a:tcPr marL="91440" marR="91440" marT="45720" marB="45720">
                    <a:solidFill>
                      <a:srgbClr val="D786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all-noop 不劣</a:t>
                      </a:r>
                    </a:p>
                  </a:txBody>
                  <a:tcPr marL="91440" marR="91440" marT="45720" marB="45720">
                    <a:solidFill>
                      <a:srgbClr val="D78636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 pressure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-24.953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+0.587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heterogeneity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+21.686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-0.509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-0.129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1.928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4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/ 3</a:t>
                      </a:r>
                    </a:p>
                  </a:txBody>
                  <a:tcPr marL="91440" marR="91440" marT="45720" marB="45720"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F04C-A13F-4F71-A10E-4B514B71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E2"/>
          </a:solidFill>
          <a:ln xmlns:a="http://schemas.openxmlformats.org/drawingml/2006/main" w="0">
            <a:solidFill>
              <a:srgbClr val="F6E2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CE10C-DD30-405E-8F52-74AA3E99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2 /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D03B5-F564-460D-A262-5EF880A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673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同场景运行仍塌缩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CC78F-3EFA-4933-83A3-6526CD66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D6"/>
          </a:solidFill>
          <a:ln xmlns:a="http://schemas.openxmlformats.org/drawingml/2006/main" w="0">
            <a:solidFill>
              <a:srgbClr val="F7E8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4185C-B2AA-4F2B-B998-D7EEA0EE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rPr>
              <a:t>1.940×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E5B2F-6A28-4DEC-97D5-06318EF0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673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平均训练时间比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874D0-13E4-47A8-91C4-EED76572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F2F5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96426-62BE-4F44-AD11-3355E40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37932-848F-4959-8CC0-AAE36AF3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覆盖、方向与剂量均不稳定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0C860-87E4-4C32-B716-7BD9B50F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air_defense_v1_bpce_ppo_stress_test.md</a:t>
            </a:r>
          </a:p>
        </p:txBody>
      </p:sp>
    </p:spTree>
    <p:extLst>
      <p:ext uri="{BB962C8B-B14F-4D97-AF65-F5344CB8AC3E}">
        <p14:creationId xmlns:p14="http://schemas.microsoft.com/office/powerpoint/2010/main" val="1623780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C3C8F30B-A3AA-40A5-A631-7DCF3FE9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FCRC 独立预测门失败，停止算法化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ED91E-F991-4987-A5D9-EC156FC8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主线任务｜规范责任创新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C3A1F-996C-428B-ACB8-3C2038C8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61B42-1D1E-439A-B8C7-D094627E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E8141-BBD3-4638-9080-9FDDB90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762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9"/>
          </a:solidFill>
          <a:ln xmlns:a="http://schemas.openxmlformats.org/drawingml/2006/main" w="0">
            <a:solidFill>
              <a:srgbClr val="DDE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808F9-D858-4EA6-9381-7607E3D9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静态审计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5CC21-1E44-454D-926D-B3C3005A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35.39%  正动作</a:t>
            </a:r>
          </a:p>
          <a:p xmlns:a="http://schemas.openxmlformats.org/drawingml/2006/main">
            <a:pPr algn="l">
              <a:def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0.466  与成本相关</a:t>
            </a:r>
          </a:p>
          <a:p xmlns:a="http://schemas.openxmlformats.org/drawingml/2006/main">
            <a:pPr algn="l">
              <a:def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1.02 ms  平均计算</a:t>
            </a:r>
          </a:p>
          <a:p xmlns:a="http://schemas.openxmlformats.org/drawingml/2006/main">
            <a:pPr algn="l">
              <a:def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形式/非退化/非换名通过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42035-38CD-40DA-B7E4-F730554B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F8F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8296F-1EAF-45E6-A7EE-FD8B6C37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62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条件通过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36E7-C070-411A-B276-AA5EA604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047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8A91"/>
          </a:solidFill>
          <a:ln xmlns:a="http://schemas.openxmlformats.org/drawingml/2006/main" w="0">
            <a:solidFill>
              <a:srgbClr val="7E8A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AA17-02BB-47D6-B548-150F1E75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5029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2E2"/>
          </a:solidFill>
          <a:ln xmlns:a="http://schemas.openxmlformats.org/drawingml/2006/main" w="0">
            <a:solidFill>
              <a:srgbClr val="F6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2380E-7E90-4FDA-B005-47B26AE4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冻结成对预测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05EB7-4335-454C-AF41-1DBB0805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987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high–low 损害差  +0.0184</a:t>
            </a:r>
          </a:p>
          <a:p xmlns:a="http://schemas.openxmlformats.org/drawingml/2006/main">
            <a:pPr algn="l">
              <a:def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单侧 p  = 0.351</a:t>
            </a:r>
          </a:p>
          <a:p xmlns:a="http://schemas.openxmlformats.org/drawingml/2006/main">
            <a:pPr algn="l">
              <a:def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CV MAE 改善  ≈ 0%</a:t>
            </a:r>
          </a:p>
          <a:p xmlns:a="http://schemas.openxmlformats.org/drawingml/2006/main">
            <a:pPr algn="l">
              <a:def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泄漏损伤差  −0.050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C62DB-DA68-4190-8BEB-84D9CBA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4B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6F0BD-7EDC-4EE5-B005-169E3644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6217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1370C-E811-4423-A948-EDDC4E96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6262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74B4B"/>
                </a:solidFill>
                <a:latin typeface="Microsoft YaHei"/>
                <a:ea typeface="Microsoft YaHei"/>
                <a:cs typeface="Microsoft YaHei"/>
              </a:rPr>
              <a:t>可计算 + 非退化 + 相关性 仍不足以成为在线优化信号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9DD3D-DD1A-4DB9-94E6-C9B92F5B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N2 static coverability audit；N3 paired predictive validation</a:t>
            </a:r>
          </a:p>
        </p:txBody>
      </p:sp>
    </p:spTree>
    <p:extLst>
      <p:ext uri="{BB962C8B-B14F-4D97-AF65-F5344CB8AC3E}">
        <p14:creationId xmlns:p14="http://schemas.microsoft.com/office/powerpoint/2010/main" val="11479868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3C86A237-24A0-4333-8570-19A24335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DS 在两类结构失败上提供增量解释力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60E24-0377-494C-9616-DAFFDA7F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当前主候选｜DS-0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02BFD-B8A0-42EF-8BF4-51766D64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FBD57-89A8-46BB-A841-70137C14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50f34a495b46b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3FFD9-3D06-4C08-8B29-685A1734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526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P1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443E8-079A-4BE6-845F-1FB1453E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336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2 / 3 共同结果通过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F08B9-D5F1-419E-819F-02C711AD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195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p = 0.000999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6D402-700F-4B2E-B515-812C029A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max-T FWER（通过结果）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B2D2E-6FF0-4A4D-8CAF-76E5F7D6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53000"/>
            <a:ext cx="2667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6"/>
          </a:solidFill>
          <a:ln xmlns:a="http://schemas.openxmlformats.org/drawingml/2006/main" w="0">
            <a:solidFill>
              <a:srgbClr val="F2F5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3DA52-C6A6-4F84-8EBE-8FE14011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768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普通 argmax flip</a:t>
            </a:r>
          </a:p>
          <a:p xmlns:a="http://schemas.openxmlformats.org/drawingml/2006/main">
            <a:pPr algn="ctr">
              <a:defRPr sz="15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最大增量仅 0.0120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257D0-0544-42B2-A829-AB7D5DD1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air_defense_v1_ds0_dynamic_support_audit.md</a:t>
            </a:r>
          </a:p>
        </p:txBody>
      </p:sp>
    </p:spTree>
    <p:extLst>
      <p:ext uri="{BB962C8B-B14F-4D97-AF65-F5344CB8AC3E}">
        <p14:creationId xmlns:p14="http://schemas.microsoft.com/office/powerpoint/2010/main" val="40230232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67ED157B-987F-4773-B6D7-DA2BBCE6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DS-1 时间轴冻结与更新级优先性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ADAB6-1549-4D7C-B0CD-236DB4FB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当前主候选｜DST-05.5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76C97-4916-4D46-98AF-3444F3BC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A78F6-9647-4093-9A5E-92E66DC2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44853-8299-4293-A1D0-795DA251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F4D89-6652-425B-9EAA-51678672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62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4BA14-5F9B-484F-A03A-F7D8D96B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91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t=0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040BE-5A7A-4EDE-8C86-534C52EA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训练前基线</a:t>
            </a:r>
          </a:p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0 /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36753-D6B8-4FF8-B3D4-DAD0DFAC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3C357-8775-4702-979C-B8B857B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91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t=1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B38AA-5386-4BDA-8DD4-CF143CD9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完成 rollout</a:t>
            </a:r>
          </a:p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10 / 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8CF05-3883-4D21-B8E1-DBF71C29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62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45FE7-555E-4323-BEE0-62DBBDAF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52625"/>
            <a:ext cx="91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t=2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23A6B-719A-481D-8704-50B1853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完成 rollout</a:t>
            </a:r>
          </a:p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20 / 512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18A01-1F3F-46E3-8D70-DC35A8EA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622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8F79"/>
          </a:solidFill>
          <a:ln xmlns:a="http://schemas.openxmlformats.org/drawingml/2006/main" w="0">
            <a:solidFill>
              <a:srgbClr val="3F8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CBCE5-C92E-49C4-9766-0B51C898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914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t=40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BD30E-8335-4E98-B81E-E470E4AF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正式终点</a:t>
            </a:r>
          </a:p>
          <a:p xmlns:a="http://schemas.openxmlformats.org/drawingml/2006/main">
            <a:pPr algn="ctr">
              <a:def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400 / 10,240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26C1C-15CE-4542-9C42-06EE04F7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每点 50 回合 CRN 事件评估｜episode seeds 73000…73049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CC241-F62D-4756-9799-31E5D90E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1724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E61624-8C75-430A-B969-B104D2F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8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K0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760C60-6D85-407F-9290-D4D0AF4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4825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KL + clip + entropy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5976C1-577F-41F6-B5AC-8037C384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9525">
            <a:solidFill>
              <a:srgbClr val="2F78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6464A-02FC-406A-B658-BD46318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K1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60643-BC4F-421A-9164-60CC98B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4825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K0 + 普通翻转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00C70-CA91-4B0E-9D69-381ACCFD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285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9525">
            <a:solidFill>
              <a:srgbClr val="3F8F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E13DD-ECFB-49BC-9637-1E87715B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48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K2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CEA5A-6CC3-4CCD-B463-1F878FF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48250"/>
            <a:ext cx="185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K1 + DS 加权翻转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B80EE-03AF-4F40-8260-81D0E515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Source: DST-05.5 event timeline preflight｜512-step paired routes: exact equivalence</a:t>
            </a:r>
          </a:p>
        </p:txBody>
      </p:sp>
    </p:spTree>
    <p:extLst>
      <p:ext uri="{BB962C8B-B14F-4D97-AF65-F5344CB8AC3E}">
        <p14:creationId xmlns:p14="http://schemas.microsoft.com/office/powerpoint/2010/main" val="131795500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4CF66EDA-BD81-4D27-BC07-2E702BB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10715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未来工作：先行性 → 最小干预 → 增量控制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20302-1BBE-4DC7-9A3E-EF56F26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810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发展方向与创新思路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98917-77A6-4E89-8D27-360EA3F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6"/>
          </a:solidFill>
          <a:ln xmlns:a="http://schemas.openxmlformats.org/drawingml/2006/main" w="0">
            <a:solidFill>
              <a:srgbClr val="C9D1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694C2-90F8-47FD-9638-F675CA9C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E26D7-466D-446D-951F-7C5D6FDD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78B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5E96C-3F3B-448A-98D1-70CA7EF0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B7"/>
          </a:solidFill>
          <a:ln xmlns:a="http://schemas.openxmlformats.org/drawingml/2006/main" w="0">
            <a:solidFill>
              <a:srgbClr val="2F78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070E4-4817-4FD9-9C19-969FA2D4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DS-1 更新级先行性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AD1E8-CCCF-410A-B8D8-82B98D90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3×10k</a:t>
            </a:r>
          </a:p>
          <a:p xmlns:a="http://schemas.openxmlformats.org/drawingml/2006/main">
            <a:pPr algn="l">
              <a:def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K2 是否稳定优于 K0/K1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520C4-D137-44B4-BC54-93A54EF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573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F8F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44506-03D8-4265-9CF0-FA97261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79"/>
          </a:solidFill>
          <a:ln xmlns:a="http://schemas.openxmlformats.org/drawingml/2006/main" w="0">
            <a:solidFill>
              <a:srgbClr val="3F8F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5FD3E-F302-445E-871D-2BF8FCC8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DS-TR v0 最小干预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0A1CB-A1EC-4055-AA3D-7737A7C4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保留 joint PPO</a:t>
            </a:r>
          </a:p>
          <a:p xmlns:a="http://schemas.openxmlformats.org/drawingml/2006/main">
            <a:pPr algn="l">
              <a:def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零系数逐位回退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2A27E-9C8D-4A9A-B596-5BF246DB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D786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90350-81BD-4D90-98D9-C0DF5D9A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636"/>
          </a:solidFill>
          <a:ln xmlns:a="http://schemas.openxmlformats.org/drawingml/2006/main" w="0">
            <a:solidFill>
              <a:srgbClr val="D786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0C8B8-A309-4501-92BC-C728F3AC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42D"/>
                </a:solidFill>
                <a:latin typeface="Microsoft YaHei"/>
                <a:ea typeface="Microsoft YaHei"/>
                <a:cs typeface="Microsoft YaHei"/>
              </a:rPr>
              <a:t>DS-2 与增量控制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4218A-7018-4780-8A6D-98F5AC6C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普通 churn / KL</a:t>
            </a:r>
          </a:p>
          <a:p xmlns:a="http://schemas.openxmlformats.org/drawingml/2006/main">
            <a:pPr algn="l">
              <a:def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PASPO 初始化控制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93D36-7AC7-4D5A-B101-04BCE38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D"/>
          </a:solidFill>
          <a:ln xmlns:a="http://schemas.openxmlformats.org/drawingml/2006/main" w="0">
            <a:solidFill>
              <a:srgbClr val="1724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4F026-3636-460B-B189-F158508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目标不是“必须找到新模块”，而是让每一项创新都能被独立验证或否决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98AAC-F6E9-4337-8A1B-A4B87C47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0"/>
                </a:solidFill>
                <a:latin typeface="Microsoft YaHei"/>
                <a:ea typeface="Microsoft YaHei"/>
                <a:cs typeface="Microsoft YaHei"/>
              </a:rPr>
              <a:t>下一入口：DST-06；DS-TR 是否实现取决于 P2 硬门</a:t>
            </a:r>
          </a:p>
        </p:txBody>
      </p:sp>
    </p:spTree>
    <p:extLst>
      <p:ext uri="{BB962C8B-B14F-4D97-AF65-F5344CB8AC3E}">
        <p14:creationId xmlns:p14="http://schemas.microsoft.com/office/powerpoint/2010/main" val="20585529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2026-07-30T06:05:47.3410000Z</dcterms:created>
  <dcterms:modified xsi:type="dcterms:W3CDTF">2026-07-30T06:05:47.3410000Z</dcterms:modified>
</coreProperties>
</file>