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3.xml" ContentType="application/vnd.openxmlformats-officedocument.drawingml.chart+xml"/>
  <Override PartName="/ppt/notesSlides/notesSlide11.xml" ContentType="application/vnd.openxmlformats-officedocument.presentationml.notesSlide+xml"/>
  <Override PartName="/ppt/charts/chart4.xml" ContentType="application/vnd.openxmlformats-officedocument.drawingml.chart+xml"/>
  <Override PartName="/ppt/notesSlides/notesSlide12.xml" ContentType="application/vnd.openxmlformats-officedocument.presentationml.notesSlide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平均回合奖励</c:v>
          </c:tx>
          <c:spPr>
            <a:solidFill>
              <a:srgbClr val="3D8DF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普通 PPO</c:v>
              </c:pt>
              <c:pt idx="1">
                <c:v>greedy-damage</c:v>
              </c:pt>
              <c:pt idx="2">
                <c:v>Maskable PPO</c:v>
              </c:pt>
            </c:strLit>
          </c:cat>
          <c:val>
            <c:numLit>
              <c:formatCode>General</c:formatCode>
              <c:ptCount val="3"/>
              <c:pt idx="0">
                <c:v>-86.52</c:v>
              </c:pt>
              <c:pt idx="1">
                <c:v>-38.75</c:v>
              </c:pt>
              <c:pt idx="2">
                <c:v>-35.93</c:v>
              </c:pt>
            </c:numLit>
          </c:val>
          <c:extLst>
            <c:ext xmlns:c16="http://schemas.microsoft.com/office/drawing/2014/chart" uri="{C3380CC4-5D6E-409C-BE32-E72D297353CC}">
              <c16:uniqueId val="{00000000-2926-4DC9-A6E7-1654921773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actionable engagement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5"/>
              <c:pt idx="0">
                <c:v>seed3</c:v>
              </c:pt>
              <c:pt idx="1">
                <c:v>seed4</c:v>
              </c:pt>
              <c:pt idx="2">
                <c:v>seed5</c:v>
              </c:pt>
              <c:pt idx="3">
                <c:v>seed6</c:v>
              </c:pt>
              <c:pt idx="4">
                <c:v>seed7</c:v>
              </c:pt>
            </c:strLit>
          </c:cat>
          <c:val>
            <c:numLit>
              <c:formatCode>General</c:formatCode>
              <c:ptCount val="5"/>
              <c:pt idx="0">
                <c:v>0.94099999999999995</c:v>
              </c:pt>
              <c:pt idx="1">
                <c:v>0</c:v>
              </c:pt>
              <c:pt idx="2">
                <c:v>0</c:v>
              </c:pt>
              <c:pt idx="3">
                <c:v>0.80500000000000005</c:v>
              </c:pt>
              <c:pt idx="4">
                <c:v>0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483-4AF2-ACDF-14E6F37771F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</c:plotArea>
    <c:plotVisOnly val="1"/>
    <c:dispBlanksAs val="zero"/>
    <c:showDLblsOverMax val="1"/>
  </c:chart>
  <c:spPr>
    <a:solidFill>
      <a:srgbClr val="FFFFFF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engage recall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seed20</c:v>
              </c:pt>
              <c:pt idx="1">
                <c:v>seed21</c:v>
              </c:pt>
              <c:pt idx="2">
                <c:v>seed22</c:v>
              </c:pt>
            </c:strLit>
          </c:cat>
          <c:val>
            <c:numLit>
              <c:formatCode>General</c:formatCode>
              <c:ptCount val="3"/>
              <c:pt idx="0">
                <c:v>0.96699999999999997</c:v>
              </c:pt>
              <c:pt idx="1">
                <c:v>0.83299999999999996</c:v>
              </c:pt>
              <c:pt idx="2">
                <c:v>0.8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54A-49CC-BBB2-B3602D231979}"/>
            </c:ext>
          </c:extLst>
        </c:ser>
        <c:ser>
          <c:idx val="1"/>
          <c:order val="1"/>
          <c:tx>
            <c:v>no-op recall</c:v>
          </c:tx>
          <c:spPr>
            <a:solidFill>
              <a:srgbClr val="6DCBF4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seed20</c:v>
              </c:pt>
              <c:pt idx="1">
                <c:v>seed21</c:v>
              </c:pt>
              <c:pt idx="2">
                <c:v>seed22</c:v>
              </c:pt>
            </c:strLit>
          </c:cat>
          <c:val>
            <c:numLit>
              <c:formatCode>General</c:formatCode>
              <c:ptCount val="3"/>
              <c:pt idx="0">
                <c:v>0.70199999999999996</c:v>
              </c:pt>
              <c:pt idx="1">
                <c:v>0.71899999999999997</c:v>
              </c:pt>
              <c:pt idx="2">
                <c:v>0.73699999999999999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54A-49CC-BBB2-B3602D23197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上一批 engage recall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seed21</c:v>
              </c:pt>
              <c:pt idx="1">
                <c:v>seed22</c:v>
              </c:pt>
            </c:strLit>
          </c:cat>
          <c:val>
            <c:numLit>
              <c:formatCode>General</c:formatCode>
              <c:ptCount val="2"/>
              <c:pt idx="0">
                <c:v>1</c:v>
              </c:pt>
              <c:pt idx="1">
                <c:v>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1CA-4ACC-921E-1AEC9CB01DD8}"/>
            </c:ext>
          </c:extLst>
        </c:ser>
        <c:ser>
          <c:idx val="1"/>
          <c:order val="1"/>
          <c:tx>
            <c:v>新批 engage recall</c:v>
          </c:tx>
          <c:spPr>
            <a:solidFill>
              <a:srgbClr val="C9484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2"/>
              <c:pt idx="0">
                <c:v>seed21</c:v>
              </c:pt>
              <c:pt idx="1">
                <c:v>seed22</c:v>
              </c:pt>
            </c:strLit>
          </c:cat>
          <c:val>
            <c:numLit>
              <c:formatCode>General</c:formatCode>
              <c:ptCount val="2"/>
              <c:pt idx="0">
                <c:v>0.27300000000000002</c:v>
              </c:pt>
              <c:pt idx="1">
                <c:v>0.182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C1CA-4ACC-921E-1AEC9CB01DD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engage recall</c:v>
          </c:tx>
          <c:spPr>
            <a:solidFill>
              <a:srgbClr val="3D8DF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seed20</c:v>
              </c:pt>
              <c:pt idx="1">
                <c:v>seed21</c:v>
              </c:pt>
              <c:pt idx="2">
                <c:v>seed22</c:v>
              </c:pt>
            </c:strLit>
          </c:cat>
          <c:val>
            <c:numLit>
              <c:formatCode>General</c:formatCode>
              <c:ptCount val="3"/>
              <c:pt idx="0">
                <c:v>0.82899999999999996</c:v>
              </c:pt>
              <c:pt idx="1">
                <c:v>0.94299999999999995</c:v>
              </c:pt>
              <c:pt idx="2">
                <c:v>0.88600000000000001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D73-4ABB-B2C1-088D7A6D7292}"/>
            </c:ext>
          </c:extLst>
        </c:ser>
        <c:ser>
          <c:idx val="1"/>
          <c:order val="1"/>
          <c:tx>
            <c:v>no-op recall</c:v>
          </c:tx>
          <c:spPr>
            <a:solidFill>
              <a:srgbClr val="C9484A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seed20</c:v>
              </c:pt>
              <c:pt idx="1">
                <c:v>seed21</c:v>
              </c:pt>
              <c:pt idx="2">
                <c:v>seed22</c:v>
              </c:pt>
            </c:strLit>
          </c:cat>
          <c:val>
            <c:numLit>
              <c:formatCode>General</c:formatCode>
              <c:ptCount val="3"/>
              <c:pt idx="0">
                <c:v>0.5</c:v>
              </c:pt>
              <c:pt idx="1">
                <c:v>0.47699999999999998</c:v>
              </c:pt>
              <c:pt idx="2">
                <c:v>0.54500000000000004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1D73-4ABB-B2C1-088D7A6D729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9525">
              <a:solidFill>
                <a:srgbClr val="E5E7EB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>
                <a:solidFill>
                  <a:srgbClr val="666666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0.2"/>
      </c:valAx>
    </c:plotArea>
    <c:legend>
      <c:legendPos val="b"/>
      <c:overlay val="0"/>
    </c:legend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本次不重复汇报环境搭建细节，重点汇报最近几天如何从实验失效中形成算法创新路线。</a:t>
            </a:r>
          </a:p>
          <a:p>
            <a:r>
              <a:t>开场先明确：目前有局部机制证据，但完整 MCH-PPO 还没有进入训练验证。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环境、基线、统一指标和多随机种子实验协议已经稳定。</a:t>
            </a:r>
          </a:p>
          <a:p>
            <a:r>
              <a:t>现在研究对象不是环境能不能运行，而是策略如何在资源约束下稳定决定是否交战以及选哪个目标。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强调研究推进是逐层排除解释，而不是不断更换模型。</a:t>
            </a:r>
          </a:p>
          <a:p>
            <a:r>
              <a:t>联合动作、顺序、no-op、反事实价值、多批次泛化构成连续因果链。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动作掩码相对普通 PPO 的提升方向稳定，因此合法性约束是明确成果。</a:t>
            </a:r>
          </a:p>
          <a:p>
            <a:r>
              <a:t>但相对强规则基线不能宣称稳定优势，这推动研究进入结构机制而非继续堆训练步数。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这是第一项可以稳定保留的机制成果。</a:t>
            </a:r>
          </a:p>
          <a:p>
            <a:r>
              <a:t>扁平联合动作虽然消除冲突，却带来资源成本；自回归分解解决了这个问题。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固定探针证明概率没有完全退化，但确定性决策会放大 no-op。</a:t>
            </a:r>
          </a:p>
          <a:p>
            <a:r>
              <a:t>不同种子训练后产生正常交战与完全不开火两极，说明优化稳定性是第二个真实因素。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MCH-PPO 的核心不是三个名词相加，而是动态合法集合内的局部反事实信用语义。</a:t>
            </a:r>
          </a:p>
          <a:p>
            <a:r>
              <a:t>交战层处理是否值得消耗资源，目标层处理合法目标排序；两层均保持联合动作约束。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阈值扫描排除了简单后处理修复。</a:t>
            </a:r>
          </a:p>
          <a:p>
            <a:r>
              <a:t>联合 advantage 的局部判别差异远小于轨迹噪声，且 V(s) 在结构上没有动作条件输入。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这一页展示失败并非重复试错，而是逐步区分价值预测、目标排序、交战符号和资源停止。</a:t>
            </a:r>
          </a:p>
          <a:p>
            <a:r>
              <a:t>最终最有信号的是安全收益与资源预算分开建模。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这是目前最明确的局部正结果：三种子总体双类召回和资源停止同时通过。</a:t>
            </a:r>
          </a:p>
          <a:p>
            <a:r>
              <a:t>但逐场景仍失败，且成本差相关性弱，因此只能作为 MCH-PPO 的机制证据。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同一模型在不同批次的异质场景中从全识别变为明显漏交战。</a:t>
            </a:r>
          </a:p>
          <a:p>
            <a:r>
              <a:t>这不是简单场景权重问题，而是临界状态子分布漂移，因此实验协议必须升级。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多批次候选把必要交战召回拉高，但三个种子的 no-op recall 都降到约0.5。</a:t>
            </a:r>
          </a:p>
          <a:p>
            <a:r>
              <a:t>所有九个种子×场景 no-op recall 都低于0.65，因此不是单一场景偶然失效。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这页主动控制学术表述，避免把候选假设说成已经成立的算法创新。</a:t>
            </a:r>
          </a:p>
          <a:p>
            <a:r>
              <a:t>目前最值得强调的是问题定位、机制原型和严格负结果。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下一步不立即生成新数据，先判断现有模型输出是否存在可校准的共同边界。</a:t>
            </a:r>
          </a:p>
          <a:p>
            <a:r>
              <a:t>若边界存在，进入一次独立确认；若不存在，说明必须改价值或约束语义。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用三个问题结束汇报，把需要导师决策的内容说清楚</a:t>
            </a:r>
            <a:r>
              <a:rPr dirty="0"/>
              <a:t>。</a:t>
            </a:r>
          </a:p>
          <a:p>
            <a:r>
              <a:rPr dirty="0" err="1"/>
              <a:t>最后重申：当前主线不是立即上</a:t>
            </a:r>
            <a:r>
              <a:rPr dirty="0"/>
              <a:t> </a:t>
            </a:r>
            <a:r>
              <a:rPr dirty="0" err="1"/>
              <a:t>GNN，而是先完成局部信用的可行性证明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27A52D8C-4655-4BB7-A297-754346263E2F}"/>
              </a:ext>
            </a:extLst>
          </p:cNvPr>
          <p:cNvSpPr>
            <a:spLocks noGrp="1"/>
          </p:cNvSpPr>
          <p:nvPr/>
        </p:nvSpPr>
        <p:spPr>
          <a:xfrm>
            <a:off x="400050" y="361950"/>
            <a:ext cx="5905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防空编组强化学习阶段汇报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741FE52-31A0-4B1C-80CB-B149C389DBB9}"/>
              </a:ext>
            </a:extLst>
          </p:cNvPr>
          <p:cNvSpPr>
            <a:spLocks noGrp="1"/>
          </p:cNvSpPr>
          <p:nvPr/>
        </p:nvSpPr>
        <p:spPr>
          <a:xfrm>
            <a:off x="400050" y="1952625"/>
            <a:ext cx="9906000" cy="2190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93000"/>
              </a:lnSpc>
              <a:buNone/>
              <a:defRPr sz="4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从联合动作约束到</a:t>
            </a:r>
          </a:p>
          <a:p>
            <a:pPr algn="l">
              <a:lnSpc>
                <a:spcPct val="93000"/>
              </a:lnSpc>
              <a:buNone/>
              <a:defRPr sz="4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反事实分层信用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88646A8-9973-4422-8195-C1B81AA5DB6F}"/>
              </a:ext>
            </a:extLst>
          </p:cNvPr>
          <p:cNvSpPr>
            <a:spLocks noGrp="1"/>
          </p:cNvSpPr>
          <p:nvPr/>
        </p:nvSpPr>
        <p:spPr>
          <a:xfrm>
            <a:off x="400050" y="4648200"/>
            <a:ext cx="3619500" cy="76200"/>
          </a:xfrm>
          <a:prstGeom prst="rect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6D1C24A-3ABE-408F-A7BB-F277E5F11A46}"/>
              </a:ext>
            </a:extLst>
          </p:cNvPr>
          <p:cNvSpPr>
            <a:spLocks noGrp="1"/>
          </p:cNvSpPr>
          <p:nvPr/>
        </p:nvSpPr>
        <p:spPr>
          <a:xfrm>
            <a:off x="400050" y="4991100"/>
            <a:ext cx="6191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近期工作、创新证据与后续研究边界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F18339C-B335-4E50-AC82-696F64780F8B}"/>
              </a:ext>
            </a:extLst>
          </p:cNvPr>
          <p:cNvSpPr>
            <a:spLocks noGrp="1"/>
          </p:cNvSpPr>
          <p:nvPr/>
        </p:nvSpPr>
        <p:spPr>
          <a:xfrm>
            <a:off x="7886700" y="381000"/>
            <a:ext cx="3905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13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汇报日期  2026-07-22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1BCB47F-335D-43F7-AF01-F161DC57F4AF}"/>
              </a:ext>
            </a:extLst>
          </p:cNvPr>
          <p:cNvSpPr>
            <a:spLocks noGrp="1"/>
          </p:cNvSpPr>
          <p:nvPr/>
        </p:nvSpPr>
        <p:spPr>
          <a:xfrm>
            <a:off x="400050" y="6000750"/>
            <a:ext cx="10763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核心判断：创新问题已收敛，局部机制已有成效，完整 MCH-PPO 尚未验证</a:t>
            </a:r>
          </a:p>
        </p:txBody>
      </p:sp>
    </p:spTree>
    <p:extLst>
      <p:ext uri="{BB962C8B-B14F-4D97-AF65-F5344CB8AC3E}">
        <p14:creationId xmlns:p14="http://schemas.microsoft.com/office/powerpoint/2010/main" val="1299338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354DD377-0E65-40BF-81CB-3A5147516DEF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 研究基础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E7D38A5-BABE-4E76-BC30-81E16B5E4BA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研究基座已经稳定，工作重心转向算法机理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7C95B196-FBEB-4CF1-88D4-4C301F03CF02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2AADCAD-A351-4BF0-8C14-5C9BFEC27FBF}"/>
              </a:ext>
            </a:extLst>
          </p:cNvPr>
          <p:cNvSpPr>
            <a:spLocks noGrp="1"/>
          </p:cNvSpPr>
          <p:nvPr/>
        </p:nvSpPr>
        <p:spPr>
          <a:xfrm>
            <a:off x="400050" y="1714500"/>
            <a:ext cx="40005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集中式动态资源分配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8A9F037-1F8F-4299-84E5-770A30BD00FE}"/>
              </a:ext>
            </a:extLst>
          </p:cNvPr>
          <p:cNvSpPr>
            <a:spLocks noGrp="1"/>
          </p:cNvSpPr>
          <p:nvPr/>
        </p:nvSpPr>
        <p:spPr>
          <a:xfrm>
            <a:off x="400050" y="2286000"/>
            <a:ext cx="4048125" cy="2238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3个异构防御单元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5个动态来袭目标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目标威胁、载荷、到达时间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弹药、射程、命中概率与冷却</a:t>
            </a:r>
          </a:p>
          <a:p>
            <a:pPr algn="l">
              <a:lnSpc>
                <a:spcPct val="115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联合分配动作与动态合法掩码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6E182A0-81CE-48FD-B617-C5F97EEE515A}"/>
              </a:ext>
            </a:extLst>
          </p:cNvPr>
          <p:cNvSpPr>
            <a:spLocks noGrp="1"/>
          </p:cNvSpPr>
          <p:nvPr/>
        </p:nvSpPr>
        <p:spPr>
          <a:xfrm>
            <a:off x="400050" y="4876800"/>
            <a:ext cx="4000500" cy="914400"/>
          </a:xfrm>
          <a:prstGeom prst="rect">
            <a:avLst/>
          </a:prstGeom>
          <a:solidFill>
            <a:srgbClr val="D8EDFB"/>
          </a:solidFill>
          <a:ln w="0">
            <a:solidFill>
              <a:srgbClr val="D8EDFB"/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B5B1C43-9817-4372-ACF8-A9D7CE64F02A}"/>
              </a:ext>
            </a:extLst>
          </p:cNvPr>
          <p:cNvSpPr>
            <a:spLocks noGrp="1"/>
          </p:cNvSpPr>
          <p:nvPr/>
        </p:nvSpPr>
        <p:spPr>
          <a:xfrm>
            <a:off x="571500" y="5029200"/>
            <a:ext cx="161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当前研究边界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B7F5FC7-4EAB-46DB-95DD-70BF49F94604}"/>
              </a:ext>
            </a:extLst>
          </p:cNvPr>
          <p:cNvSpPr>
            <a:spLocks noGrp="1"/>
          </p:cNvSpPr>
          <p:nvPr/>
        </p:nvSpPr>
        <p:spPr>
          <a:xfrm>
            <a:off x="571500" y="5334000"/>
            <a:ext cx="35242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8039"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决策级资源分配，不替代高保真雷达、通信与弹道仿真</a:t>
            </a: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676305" y="1619250"/>
            <a:ext cx="4982766" cy="442912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19446B3-3687-4ACF-8C36-0BCEAB1BD59A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数据来源：AirDefenseResourceAssignmentEnv v1.0，seed=0</a:t>
            </a:r>
          </a:p>
        </p:txBody>
      </p:sp>
    </p:spTree>
    <p:extLst>
      <p:ext uri="{BB962C8B-B14F-4D97-AF65-F5344CB8AC3E}">
        <p14:creationId xmlns:p14="http://schemas.microsoft.com/office/powerpoint/2010/main" val="2393800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>
            <a:extLst>
              <a:ext uri="{FF2B5EF4-FFF2-40B4-BE49-F238E27FC236}">
                <a16:creationId xmlns:a16="http://schemas.microsoft.com/office/drawing/2014/main" id="{8DFD7360-5A27-4B70-A5D8-4A9E7DB067FE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 工作阶段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025E178D-62E1-4C68-A26E-A83F85E9337D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这几天完成的不是一个模型，而是一条创新证据链</a:t>
            </a:r>
            <a:endParaRPr sz="285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DCA7A39B-6DE0-443E-870D-9B39ACF68374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819150" y="3209925"/>
            <a:ext cx="9572625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sp>
        <p:nvSpPr>
          <p:cNvPr id="6" name="椭圆 5">
            <a:extLst>
              <a:ext uri="{FF2B5EF4-FFF2-40B4-BE49-F238E27FC236}">
                <a16:creationId xmlns:a16="http://schemas.microsoft.com/office/drawing/2014/main" id="{3DABA452-AB18-41B5-817C-2A7883462B22}"/>
              </a:ext>
            </a:extLst>
          </p:cNvPr>
          <p:cNvSpPr>
            <a:spLocks noGrp="1"/>
          </p:cNvSpPr>
          <p:nvPr/>
        </p:nvSpPr>
        <p:spPr>
          <a:xfrm>
            <a:off x="762000" y="3095625"/>
            <a:ext cx="228600" cy="2286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3389F7E-9C60-4E0D-865A-5EBDF6E2A15D}"/>
              </a:ext>
            </a:extLst>
          </p:cNvPr>
          <p:cNvSpPr>
            <a:spLocks noGrp="1"/>
          </p:cNvSpPr>
          <p:nvPr/>
        </p:nvSpPr>
        <p:spPr>
          <a:xfrm>
            <a:off x="571500" y="25241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联合动作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BE063A4-1980-495F-AAEB-9280BE3CE62F}"/>
              </a:ext>
            </a:extLst>
          </p:cNvPr>
          <p:cNvSpPr>
            <a:spLocks noGrp="1"/>
          </p:cNvSpPr>
          <p:nvPr/>
        </p:nvSpPr>
        <p:spPr>
          <a:xfrm>
            <a:off x="571500" y="3571875"/>
            <a:ext cx="1571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冲突严格归零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6A5EE755-1D00-49AF-B267-BBC1DE2A7620}"/>
              </a:ext>
            </a:extLst>
          </p:cNvPr>
          <p:cNvSpPr>
            <a:spLocks noGrp="1"/>
          </p:cNvSpPr>
          <p:nvPr/>
        </p:nvSpPr>
        <p:spPr>
          <a:xfrm>
            <a:off x="2571750" y="3095625"/>
            <a:ext cx="228600" cy="2286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AFF5564-1FF4-4A2D-9132-07F1BCAC4B25}"/>
              </a:ext>
            </a:extLst>
          </p:cNvPr>
          <p:cNvSpPr>
            <a:spLocks noGrp="1"/>
          </p:cNvSpPr>
          <p:nvPr/>
        </p:nvSpPr>
        <p:spPr>
          <a:xfrm>
            <a:off x="2381250" y="25241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顺序/关系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47C2BA7-B433-4D09-B923-57EFD8235EAA}"/>
              </a:ext>
            </a:extLst>
          </p:cNvPr>
          <p:cNvSpPr>
            <a:spLocks noGrp="1"/>
          </p:cNvSpPr>
          <p:nvPr/>
        </p:nvSpPr>
        <p:spPr>
          <a:xfrm>
            <a:off x="2381250" y="3571875"/>
            <a:ext cx="1571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定位单元塌缩</a:t>
            </a: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536EFF36-5EB3-4F88-AF36-C54710E6D77F}"/>
              </a:ext>
            </a:extLst>
          </p:cNvPr>
          <p:cNvSpPr>
            <a:spLocks noGrp="1"/>
          </p:cNvSpPr>
          <p:nvPr/>
        </p:nvSpPr>
        <p:spPr>
          <a:xfrm>
            <a:off x="4381500" y="3095625"/>
            <a:ext cx="228600" cy="2286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5FEF47F7-EADC-4351-A001-B8607F4C57EB}"/>
              </a:ext>
            </a:extLst>
          </p:cNvPr>
          <p:cNvSpPr>
            <a:spLocks noGrp="1"/>
          </p:cNvSpPr>
          <p:nvPr/>
        </p:nvSpPr>
        <p:spPr>
          <a:xfrm>
            <a:off x="4191000" y="25241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no-op机理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2AD9964-0646-47EC-97AF-20F035317B67}"/>
              </a:ext>
            </a:extLst>
          </p:cNvPr>
          <p:cNvSpPr>
            <a:spLocks noGrp="1"/>
          </p:cNvSpPr>
          <p:nvPr/>
        </p:nvSpPr>
        <p:spPr>
          <a:xfrm>
            <a:off x="4191000" y="3571875"/>
            <a:ext cx="1571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argmax + PPO分叉</a:t>
            </a: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C6C0D47-D132-4B2A-B55E-99B37EC7B614}"/>
              </a:ext>
            </a:extLst>
          </p:cNvPr>
          <p:cNvSpPr>
            <a:spLocks noGrp="1"/>
          </p:cNvSpPr>
          <p:nvPr/>
        </p:nvSpPr>
        <p:spPr>
          <a:xfrm>
            <a:off x="6191250" y="3095625"/>
            <a:ext cx="228600" cy="2286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A2CA9AF-9667-4802-88EE-A3A22C49F405}"/>
              </a:ext>
            </a:extLst>
          </p:cNvPr>
          <p:cNvSpPr>
            <a:spLocks noGrp="1"/>
          </p:cNvSpPr>
          <p:nvPr/>
        </p:nvSpPr>
        <p:spPr>
          <a:xfrm>
            <a:off x="6000750" y="25241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反事实信用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9A41FA3-ABDD-48B2-93CA-E89CBB9BFBE6}"/>
              </a:ext>
            </a:extLst>
          </p:cNvPr>
          <p:cNvSpPr>
            <a:spLocks noGrp="1"/>
          </p:cNvSpPr>
          <p:nvPr/>
        </p:nvSpPr>
        <p:spPr>
          <a:xfrm>
            <a:off x="6000750" y="3571875"/>
            <a:ext cx="1571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排除统一阈值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82623A23-14CB-4D97-B1CE-75C57C0118E2}"/>
              </a:ext>
            </a:extLst>
          </p:cNvPr>
          <p:cNvSpPr>
            <a:spLocks noGrp="1"/>
          </p:cNvSpPr>
          <p:nvPr/>
        </p:nvSpPr>
        <p:spPr>
          <a:xfrm>
            <a:off x="8001000" y="3095625"/>
            <a:ext cx="228600" cy="228600"/>
          </a:xfrm>
          <a:prstGeom prst="ellipse">
            <a:avLst/>
          </a:prstGeom>
          <a:solidFill>
            <a:srgbClr val="3D8DFF"/>
          </a:solidFill>
          <a:ln w="0">
            <a:solidFill>
              <a:srgbClr val="3D8DFF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09C71D6-5E87-4677-9163-AED1A8E3903E}"/>
              </a:ext>
            </a:extLst>
          </p:cNvPr>
          <p:cNvSpPr>
            <a:spLocks noGrp="1"/>
          </p:cNvSpPr>
          <p:nvPr/>
        </p:nvSpPr>
        <p:spPr>
          <a:xfrm>
            <a:off x="7810500" y="25241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双价值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611CFB4-C60C-4E16-A96A-AA02F5701E69}"/>
              </a:ext>
            </a:extLst>
          </p:cNvPr>
          <p:cNvSpPr>
            <a:spLocks noGrp="1"/>
          </p:cNvSpPr>
          <p:nvPr/>
        </p:nvSpPr>
        <p:spPr>
          <a:xfrm>
            <a:off x="7810500" y="3571875"/>
            <a:ext cx="1571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总体门控3/3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1EDF6072-877D-44B3-9955-A3C0D6D77146}"/>
              </a:ext>
            </a:extLst>
          </p:cNvPr>
          <p:cNvSpPr>
            <a:spLocks noGrp="1"/>
          </p:cNvSpPr>
          <p:nvPr/>
        </p:nvSpPr>
        <p:spPr>
          <a:xfrm>
            <a:off x="9810750" y="3095625"/>
            <a:ext cx="228600" cy="228600"/>
          </a:xfrm>
          <a:prstGeom prst="ellipse">
            <a:avLst/>
          </a:prstGeom>
          <a:solidFill>
            <a:srgbClr val="C9484A"/>
          </a:solidFill>
          <a:ln w="0">
            <a:solidFill>
              <a:srgbClr val="C9484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60D88655-607A-4732-A5EE-8E515382A8A6}"/>
              </a:ext>
            </a:extLst>
          </p:cNvPr>
          <p:cNvSpPr>
            <a:spLocks noGrp="1"/>
          </p:cNvSpPr>
          <p:nvPr/>
        </p:nvSpPr>
        <p:spPr>
          <a:xfrm>
            <a:off x="9620250" y="2524125"/>
            <a:ext cx="1428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多批次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A0566C8-7CD3-4BF8-AAF9-9B5BE39DDDBF}"/>
              </a:ext>
            </a:extLst>
          </p:cNvPr>
          <p:cNvSpPr>
            <a:spLocks noGrp="1"/>
          </p:cNvSpPr>
          <p:nvPr/>
        </p:nvSpPr>
        <p:spPr>
          <a:xfrm>
            <a:off x="9620250" y="3571875"/>
            <a:ext cx="1571625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暴露过度交战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9CDE194-EFA0-4BDF-A391-3CEBC6151568}"/>
              </a:ext>
            </a:extLst>
          </p:cNvPr>
          <p:cNvSpPr>
            <a:spLocks noGrp="1"/>
          </p:cNvSpPr>
          <p:nvPr/>
        </p:nvSpPr>
        <p:spPr>
          <a:xfrm>
            <a:off x="762000" y="4953000"/>
            <a:ext cx="1000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每一步都冻结环境、奖励或模型主体，只改变一个机制并用门控决定是否继续。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8E87286D-70A9-4B1F-8FA2-2CB0F1E492EF}"/>
              </a:ext>
            </a:extLst>
          </p:cNvPr>
          <p:cNvSpPr>
            <a:spLocks noGrp="1"/>
          </p:cNvSpPr>
          <p:nvPr/>
        </p:nvSpPr>
        <p:spPr>
          <a:xfrm>
            <a:off x="762000" y="5543550"/>
            <a:ext cx="809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这使正结果和负结果都能转化为下一步研究依据。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DE58912-6AA6-4AFF-A412-0BEC52EC1F87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数据来源：任务八至任务十四实验记录</a:t>
            </a:r>
          </a:p>
        </p:txBody>
      </p:sp>
    </p:spTree>
    <p:extLst>
      <p:ext uri="{BB962C8B-B14F-4D97-AF65-F5344CB8AC3E}">
        <p14:creationId xmlns:p14="http://schemas.microsoft.com/office/powerpoint/2010/main" val="1575469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DDD566D7-1ECA-4CDE-8F04-7543CB07A062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 基准证据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F7BE135-B7E2-433E-925E-A4A0E509F79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动作掩码显著改善 PPO，但尚未稳定超越强规则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275D62F9-F522-4CCA-BF55-3D0390B128C9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400050" y="1695450"/>
          <a:ext cx="6191250" cy="4048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864E50D3-99B8-454F-94DF-CE20194E93F9}"/>
              </a:ext>
            </a:extLst>
          </p:cNvPr>
          <p:cNvSpPr>
            <a:spLocks noGrp="1"/>
          </p:cNvSpPr>
          <p:nvPr/>
        </p:nvSpPr>
        <p:spPr>
          <a:xfrm>
            <a:off x="7124700" y="1762125"/>
            <a:ext cx="4191000" cy="1200150"/>
          </a:xfrm>
          <a:prstGeom prst="rect">
            <a:avLst/>
          </a:prstGeom>
          <a:solidFill>
            <a:srgbClr val="DCEFE7"/>
          </a:solidFill>
          <a:ln w="0">
            <a:solidFill>
              <a:srgbClr val="DCE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09714B-0BBE-42EA-89C1-552A5BAF8FF1}"/>
              </a:ext>
            </a:extLst>
          </p:cNvPr>
          <p:cNvSpPr>
            <a:spLocks noGrp="1"/>
          </p:cNvSpPr>
          <p:nvPr/>
        </p:nvSpPr>
        <p:spPr>
          <a:xfrm>
            <a:off x="7296150" y="1914525"/>
            <a:ext cx="3848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+50.60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D75ADD7-8425-4DF1-859A-203FC7CB1D50}"/>
              </a:ext>
            </a:extLst>
          </p:cNvPr>
          <p:cNvSpPr>
            <a:spLocks noGrp="1"/>
          </p:cNvSpPr>
          <p:nvPr/>
        </p:nvSpPr>
        <p:spPr>
          <a:xfrm>
            <a:off x="7296150" y="2486025"/>
            <a:ext cx="3848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37"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Maskable PPO 相对普通 PPO 的奖励差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95% CI [8.24, 92.95]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5CB8281-9478-4304-B561-EAF763F6C64F}"/>
              </a:ext>
            </a:extLst>
          </p:cNvPr>
          <p:cNvSpPr>
            <a:spLocks noGrp="1"/>
          </p:cNvSpPr>
          <p:nvPr/>
        </p:nvSpPr>
        <p:spPr>
          <a:xfrm>
            <a:off x="7124700" y="3190875"/>
            <a:ext cx="4191000" cy="120015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EE683BF-3958-45E8-BB16-407655F39EE5}"/>
              </a:ext>
            </a:extLst>
          </p:cNvPr>
          <p:cNvSpPr>
            <a:spLocks noGrp="1"/>
          </p:cNvSpPr>
          <p:nvPr/>
        </p:nvSpPr>
        <p:spPr>
          <a:xfrm>
            <a:off x="7296150" y="3343275"/>
            <a:ext cx="38481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D996172-B7B6-4144-9D86-BAD7A00C07E4}"/>
              </a:ext>
            </a:extLst>
          </p:cNvPr>
          <p:cNvSpPr>
            <a:spLocks noGrp="1"/>
          </p:cNvSpPr>
          <p:nvPr/>
        </p:nvSpPr>
        <p:spPr>
          <a:xfrm>
            <a:off x="7296150" y="3914775"/>
            <a:ext cx="38481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3137"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Maskable PPO 最终非法动作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普通 PPO 平均 6.84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32D698F7-4085-4FA8-9750-AF68EDC3EB47}"/>
              </a:ext>
            </a:extLst>
          </p:cNvPr>
          <p:cNvSpPr>
            <a:spLocks noGrp="1"/>
          </p:cNvSpPr>
          <p:nvPr/>
        </p:nvSpPr>
        <p:spPr>
          <a:xfrm>
            <a:off x="7124700" y="4686300"/>
            <a:ext cx="4191000" cy="1066800"/>
          </a:xfrm>
          <a:prstGeom prst="rect">
            <a:avLst/>
          </a:prstGeom>
          <a:solidFill>
            <a:srgbClr val="F8E9C8"/>
          </a:solidFill>
          <a:ln w="0">
            <a:solidFill>
              <a:srgbClr val="F8E9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FF89402B-A307-4953-8AD9-D4774ADA8FBF}"/>
              </a:ext>
            </a:extLst>
          </p:cNvPr>
          <p:cNvSpPr>
            <a:spLocks noGrp="1"/>
          </p:cNvSpPr>
          <p:nvPr/>
        </p:nvSpPr>
        <p:spPr>
          <a:xfrm>
            <a:off x="7296150" y="485775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研究结论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5B0D405-833F-4792-AC4F-CA44084976AE}"/>
              </a:ext>
            </a:extLst>
          </p:cNvPr>
          <p:cNvSpPr>
            <a:spLocks noGrp="1"/>
          </p:cNvSpPr>
          <p:nvPr/>
        </p:nvSpPr>
        <p:spPr>
          <a:xfrm>
            <a:off x="7296150" y="5181600"/>
            <a:ext cx="3714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达到强规则基线区间，但对 greedy-damage 的优势区间仍跨0。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ADB4112-726C-448A-957B-5789D07714F9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数据来源：formal_benchmark_100k，100k×5 seeds</a:t>
            </a:r>
          </a:p>
        </p:txBody>
      </p:sp>
    </p:spTree>
    <p:extLst>
      <p:ext uri="{BB962C8B-B14F-4D97-AF65-F5344CB8AC3E}">
        <p14:creationId xmlns:p14="http://schemas.microsoft.com/office/powerpoint/2010/main" val="2133539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6C84975-78C1-446A-88AF-18B41466B6FD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04 联合动作机制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068EACB-435D-4DB5-BF9B-7C1246EB3991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联合冲突已解决，资源效率决定动作机制优劣</a:t>
            </a: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56AE0D17-67EE-4780-873E-7E40C9AE0BDA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graphicFrame>
        <p:nvGraphicFramePr>
          <p:cNvPr id="14" name="表格 13"/>
          <p:cNvGraphicFramePr/>
          <p:nvPr/>
        </p:nvGraphicFramePr>
        <p:xfrm>
          <a:off x="400050" y="1809750"/>
          <a:ext cx="11391900" cy="2571752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90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动作机制</a:t>
                      </a:r>
                    </a:p>
                  </a:txBody>
                  <a:tcPr marL="76200" marR="76200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冲突/过度分配</a:t>
                      </a:r>
                    </a:p>
                  </a:txBody>
                  <a:tcPr marL="76200" marR="76200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time-pressure资源</a:t>
                      </a:r>
                    </a:p>
                  </a:txBody>
                  <a:tcPr marL="76200" marR="76200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结论</a:t>
                      </a:r>
                    </a:p>
                  </a:txBody>
                  <a:tcPr marL="76200" marR="76200" marT="66675" marB="66675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原始 MultiDiscrete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仍有0.46%～1.30%冲突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较节制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单资源合法，不保证联合合法</a:t>
                      </a:r>
                    </a:p>
                  </a:txBody>
                  <a:tcPr marL="76200" marR="76200" marT="66675" marB="666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Discrete(136)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严格为0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相对原始 +3.49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工程可行，资源效率失败</a:t>
                      </a:r>
                    </a:p>
                  </a:txBody>
                  <a:tcPr marL="76200" marR="76200" marT="66675" marB="666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自回归条件动作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450回合严格为0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相对Discrete -4.963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保留为无冲突动作基线</a:t>
                      </a:r>
                    </a:p>
                  </a:txBody>
                  <a:tcPr marL="76200" marR="76200" marT="66675" marB="666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187903D8-B45D-4C87-A94D-D58149F3740C}"/>
              </a:ext>
            </a:extLst>
          </p:cNvPr>
          <p:cNvSpPr>
            <a:spLocks noGrp="1"/>
          </p:cNvSpPr>
          <p:nvPr/>
        </p:nvSpPr>
        <p:spPr>
          <a:xfrm>
            <a:off x="400050" y="4810125"/>
            <a:ext cx="11391900" cy="990600"/>
          </a:xfrm>
          <a:prstGeom prst="rect">
            <a:avLst/>
          </a:prstGeom>
          <a:solidFill>
            <a:srgbClr val="D8EDFB"/>
          </a:solidFill>
          <a:ln w="0">
            <a:solidFill>
              <a:srgbClr val="D8EDF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3BE5F1-7CB9-459A-9277-BF6CAB5FD0C4}"/>
              </a:ext>
            </a:extLst>
          </p:cNvPr>
          <p:cNvSpPr>
            <a:spLocks noGrp="1"/>
          </p:cNvSpPr>
          <p:nvPr/>
        </p:nvSpPr>
        <p:spPr>
          <a:xfrm>
            <a:off x="609600" y="5010150"/>
            <a:ext cx="114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稳定成果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55C8ACF-14AE-4346-835D-33A94C1F73CD}"/>
              </a:ext>
            </a:extLst>
          </p:cNvPr>
          <p:cNvSpPr>
            <a:spLocks noGrp="1"/>
          </p:cNvSpPr>
          <p:nvPr/>
        </p:nvSpPr>
        <p:spPr>
          <a:xfrm>
            <a:off x="1809750" y="4943475"/>
            <a:ext cx="95250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自回归动作机制同时实现动态合法、一对一分配和资源节制；剩余高威胁突防不再能归因于动作冲突。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8DBBC00-99A2-484D-8C14-0CD86CF8B30F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数据来源：任务七、任务八、任务九正式实验</a:t>
            </a:r>
          </a:p>
        </p:txBody>
      </p:sp>
    </p:spTree>
    <p:extLst>
      <p:ext uri="{BB962C8B-B14F-4D97-AF65-F5344CB8AC3E}">
        <p14:creationId xmlns:p14="http://schemas.microsoft.com/office/powerpoint/2010/main" val="1950985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3ABBF9D1-EC21-4D62-89A7-90CDACF58DF7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05 失稳机理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B38F31A-9828-41F9-A84B-3E2AA3508368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no-op 不是单一类别，而是 argmax 与 PPO 分叉叠加</a:t>
            </a: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F69FAF4-D42F-49D0-BC63-E601592FCDFC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="400050" y="1809750"/>
          <a:ext cx="657225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FD106A43-C75D-4BA2-86FF-3D9CC26D8DC0}"/>
              </a:ext>
            </a:extLst>
          </p:cNvPr>
          <p:cNvSpPr>
            <a:spLocks noGrp="1"/>
          </p:cNvSpPr>
          <p:nvPr/>
        </p:nvSpPr>
        <p:spPr>
          <a:xfrm>
            <a:off x="7524750" y="1809750"/>
            <a:ext cx="3790950" cy="1257300"/>
          </a:xfrm>
          <a:prstGeom prst="rect">
            <a:avLst/>
          </a:prstGeom>
          <a:solidFill>
            <a:srgbClr val="F8E9C8"/>
          </a:solidFill>
          <a:ln w="0">
            <a:solidFill>
              <a:srgbClr val="F8E9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266573F-D6ED-4551-ACF9-BAD2D643E048}"/>
              </a:ext>
            </a:extLst>
          </p:cNvPr>
          <p:cNvSpPr>
            <a:spLocks noGrp="1"/>
          </p:cNvSpPr>
          <p:nvPr/>
        </p:nvSpPr>
        <p:spPr>
          <a:xfrm>
            <a:off x="7696200" y="1962150"/>
            <a:ext cx="3448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0.4726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D2469AC-56EB-4D58-9814-56B10FF586AA}"/>
              </a:ext>
            </a:extLst>
          </p:cNvPr>
          <p:cNvSpPr>
            <a:spLocks noGrp="1"/>
          </p:cNvSpPr>
          <p:nvPr/>
        </p:nvSpPr>
        <p:spPr>
          <a:xfrm>
            <a:off x="7696200" y="253365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看似全 no-op 模型的平均交战概率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3D9F7F3-87A4-48C7-9A91-3C0CAD39B5F9}"/>
              </a:ext>
            </a:extLst>
          </p:cNvPr>
          <p:cNvSpPr>
            <a:spLocks noGrp="1"/>
          </p:cNvSpPr>
          <p:nvPr/>
        </p:nvSpPr>
        <p:spPr>
          <a:xfrm>
            <a:off x="7524750" y="3295650"/>
            <a:ext cx="3790950" cy="1257300"/>
          </a:xfrm>
          <a:prstGeom prst="rect">
            <a:avLst/>
          </a:prstGeom>
          <a:solidFill>
            <a:srgbClr val="F5DEDE"/>
          </a:solidFill>
          <a:ln w="0">
            <a:solidFill>
              <a:srgbClr val="F5DED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12CA8FC-6E89-4618-A562-3AD485977D79}"/>
              </a:ext>
            </a:extLst>
          </p:cNvPr>
          <p:cNvSpPr>
            <a:spLocks noGrp="1"/>
          </p:cNvSpPr>
          <p:nvPr/>
        </p:nvSpPr>
        <p:spPr>
          <a:xfrm>
            <a:off x="7696200" y="3448050"/>
            <a:ext cx="34480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rPr>
              <a:t>3 / 5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C9D3F23-6B31-41F7-B575-58E601EAFFB7}"/>
              </a:ext>
            </a:extLst>
          </p:cNvPr>
          <p:cNvSpPr>
            <a:spLocks noGrp="1"/>
          </p:cNvSpPr>
          <p:nvPr/>
        </p:nvSpPr>
        <p:spPr>
          <a:xfrm>
            <a:off x="7696200" y="4019550"/>
            <a:ext cx="34480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10k训练后进入 all-noop 的种子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58E2B43-4DE8-425E-8495-4503A813BBE0}"/>
              </a:ext>
            </a:extLst>
          </p:cNvPr>
          <p:cNvSpPr>
            <a:spLocks noGrp="1"/>
          </p:cNvSpPr>
          <p:nvPr/>
        </p:nvSpPr>
        <p:spPr>
          <a:xfrm>
            <a:off x="7524750" y="4905375"/>
            <a:ext cx="952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CF2A3B7-0AB9-4114-B1F2-275E6732D454}"/>
              </a:ext>
            </a:extLst>
          </p:cNvPr>
          <p:cNvSpPr>
            <a:spLocks noGrp="1"/>
          </p:cNvSpPr>
          <p:nvPr/>
        </p:nvSpPr>
        <p:spPr>
          <a:xfrm>
            <a:off x="7524750" y="5257800"/>
            <a:ext cx="379095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908"/>
          </a:bodyPr>
          <a:lstStyle/>
          <a:p>
            <a:pPr algn="l">
              <a:lnSpc>
                <a:spcPct val="100000"/>
              </a:lnSpc>
              <a:buNone/>
              <a:def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目标概率碎片化使 deterministic argmax 偏向 no-op；训练又把不同种子推向相反的 margin。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9BF791D5-437E-47AC-A82F-2834C10F4737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数据来源：任务十二固定探针与10k×5 seeds动态诊断</a:t>
            </a:r>
          </a:p>
        </p:txBody>
      </p:sp>
    </p:spTree>
    <p:extLst>
      <p:ext uri="{BB962C8B-B14F-4D97-AF65-F5344CB8AC3E}">
        <p14:creationId xmlns:p14="http://schemas.microsoft.com/office/powerpoint/2010/main" val="16078775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>
            <a:extLst>
              <a:ext uri="{FF2B5EF4-FFF2-40B4-BE49-F238E27FC236}">
                <a16:creationId xmlns:a16="http://schemas.microsoft.com/office/drawing/2014/main" id="{E51CB659-53CF-47FB-8D3D-690EEAEAC121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06 候选创新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165216E-C007-4728-A770-3411EE61BCB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MCH-PPO 假设由失效证据推出，而不是模块拼接</a:t>
            </a:r>
          </a:p>
        </p:txBody>
      </p:sp>
      <p:cxnSp>
        <p:nvCxnSpPr>
          <p:cNvPr id="27" name="直接箭头连接符 26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6229B14-B96D-49E2-897E-0247A19ED3F4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cxnSp>
        <p:nvCxnSpPr>
          <p:cNvPr id="29" name="直接箭头连接符 28"/>
          <p:cNvCxnSpPr/>
          <p:nvPr/>
        </p:nvCxnSpPr>
        <p:spPr>
          <a:xfrm>
            <a:off x="2095500" y="3143250"/>
            <a:ext cx="12382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cxnSp>
        <p:nvCxnSpPr>
          <p:cNvPr id="30" name="直接箭头连接符 29"/>
          <p:cNvCxnSpPr>
            <a:cxnSpLocks/>
            <a:stCxn id="12" idx="3"/>
            <a:endCxn id="14" idx="1"/>
          </p:cNvCxnSpPr>
          <p:nvPr/>
        </p:nvCxnSpPr>
        <p:spPr>
          <a:xfrm flipV="1">
            <a:off x="5000625" y="2095500"/>
            <a:ext cx="1047750" cy="104775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cxnSp>
        <p:nvCxnSpPr>
          <p:cNvPr id="31" name="直接箭头连接符 30"/>
          <p:cNvCxnSpPr/>
          <p:nvPr/>
        </p:nvCxnSpPr>
        <p:spPr>
          <a:xfrm>
            <a:off x="5000625" y="3143250"/>
            <a:ext cx="1047750" cy="104775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cxnSp>
        <p:nvCxnSpPr>
          <p:cNvPr id="32" name="直接箭头连接符 31"/>
          <p:cNvCxnSpPr/>
          <p:nvPr/>
        </p:nvCxnSpPr>
        <p:spPr>
          <a:xfrm>
            <a:off x="7810500" y="2095500"/>
            <a:ext cx="10477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cxnSp>
        <p:nvCxnSpPr>
          <p:cNvPr id="33" name="直接箭头连接符 32"/>
          <p:cNvCxnSpPr/>
          <p:nvPr/>
        </p:nvCxnSpPr>
        <p:spPr>
          <a:xfrm>
            <a:off x="7810500" y="4191000"/>
            <a:ext cx="10477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7C63A470-6D8D-4923-87EB-6EC9469144D2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1485900" cy="11430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15A3084-DC87-4D9B-8041-289615AA487C}"/>
              </a:ext>
            </a:extLst>
          </p:cNvPr>
          <p:cNvSpPr>
            <a:spLocks noGrp="1"/>
          </p:cNvSpPr>
          <p:nvPr/>
        </p:nvSpPr>
        <p:spPr>
          <a:xfrm>
            <a:off x="781050" y="2809875"/>
            <a:ext cx="1143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 s</a:t>
            </a: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动态合法集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B1F055F-9E24-4A05-A18C-29D18CFC596F}"/>
              </a:ext>
            </a:extLst>
          </p:cNvPr>
          <p:cNvSpPr>
            <a:spLocks noGrp="1"/>
          </p:cNvSpPr>
          <p:nvPr/>
        </p:nvSpPr>
        <p:spPr>
          <a:xfrm>
            <a:off x="3333750" y="2428875"/>
            <a:ext cx="1666875" cy="1428750"/>
          </a:xfrm>
          <a:prstGeom prst="rect">
            <a:avLst/>
          </a:prstGeom>
          <a:solidFill>
            <a:srgbClr val="D8EDFB"/>
          </a:solidFill>
          <a:ln w="0">
            <a:solidFill>
              <a:srgbClr val="D8EDFB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D5ABD0-FF1C-40EE-85A6-8997D7D8FBDF}"/>
              </a:ext>
            </a:extLst>
          </p:cNvPr>
          <p:cNvSpPr>
            <a:spLocks noGrp="1"/>
          </p:cNvSpPr>
          <p:nvPr/>
        </p:nvSpPr>
        <p:spPr>
          <a:xfrm>
            <a:off x="3543300" y="2667000"/>
            <a:ext cx="1257300" cy="904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资源 i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局部反事实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Q(s,hᵢ,aᵢ)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F2E2F84-4D7F-4F64-9389-43D78D5C0778}"/>
              </a:ext>
            </a:extLst>
          </p:cNvPr>
          <p:cNvSpPr>
            <a:spLocks noGrp="1"/>
          </p:cNvSpPr>
          <p:nvPr/>
        </p:nvSpPr>
        <p:spPr>
          <a:xfrm>
            <a:off x="6048375" y="1504950"/>
            <a:ext cx="1762125" cy="1181100"/>
          </a:xfrm>
          <a:prstGeom prst="rect">
            <a:avLst/>
          </a:prstGeom>
          <a:solidFill>
            <a:srgbClr val="DCEFE7"/>
          </a:solidFill>
          <a:ln w="0">
            <a:solidFill>
              <a:srgbClr val="DCEFE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8001E1F-5F03-49A6-A6AD-BDDFD475F005}"/>
              </a:ext>
            </a:extLst>
          </p:cNvPr>
          <p:cNvSpPr>
            <a:spLocks noGrp="1"/>
          </p:cNvSpPr>
          <p:nvPr/>
        </p:nvSpPr>
        <p:spPr>
          <a:xfrm>
            <a:off x="6238875" y="1800225"/>
            <a:ext cx="1381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384"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交战层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engage / no-op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EE31843-A63A-4EBE-A5E9-704CFFE0C24B}"/>
              </a:ext>
            </a:extLst>
          </p:cNvPr>
          <p:cNvSpPr>
            <a:spLocks noGrp="1"/>
          </p:cNvSpPr>
          <p:nvPr/>
        </p:nvSpPr>
        <p:spPr>
          <a:xfrm>
            <a:off x="6048375" y="3600450"/>
            <a:ext cx="1762125" cy="1181100"/>
          </a:xfrm>
          <a:prstGeom prst="rect">
            <a:avLst/>
          </a:prstGeom>
          <a:solidFill>
            <a:srgbClr val="D8EDFB"/>
          </a:solidFill>
          <a:ln w="0">
            <a:solidFill>
              <a:srgbClr val="D8EDFB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A250215-50DA-441B-8736-C7F03BAAAB76}"/>
              </a:ext>
            </a:extLst>
          </p:cNvPr>
          <p:cNvSpPr>
            <a:spLocks noGrp="1"/>
          </p:cNvSpPr>
          <p:nvPr/>
        </p:nvSpPr>
        <p:spPr>
          <a:xfrm>
            <a:off x="6238875" y="3895725"/>
            <a:ext cx="1381125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2593"/>
          </a:bodyPr>
          <a:lstStyle/>
          <a:p>
            <a:pPr algn="ctr">
              <a:lnSpc>
                <a:spcPct val="100000"/>
              </a:lnSpc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目标层</a:t>
            </a:r>
          </a:p>
          <a:p>
            <a:pPr algn="ctr">
              <a:lnSpc>
                <a:spcPct val="100000"/>
              </a:lnSpc>
              <a:buNone/>
              <a:def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conditional target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A89C5BC-3480-4088-961B-A39B9B6E0827}"/>
              </a:ext>
            </a:extLst>
          </p:cNvPr>
          <p:cNvSpPr>
            <a:spLocks noGrp="1"/>
          </p:cNvSpPr>
          <p:nvPr/>
        </p:nvSpPr>
        <p:spPr>
          <a:xfrm>
            <a:off x="8858250" y="1504950"/>
            <a:ext cx="2476500" cy="11811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509B8764-9AFA-4059-943E-269FE167BB07}"/>
              </a:ext>
            </a:extLst>
          </p:cNvPr>
          <p:cNvSpPr>
            <a:spLocks noGrp="1"/>
          </p:cNvSpPr>
          <p:nvPr/>
        </p:nvSpPr>
        <p:spPr>
          <a:xfrm>
            <a:off x="9086850" y="1809750"/>
            <a:ext cx="20193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安全收益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资源预算约束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D9F403EA-4030-4713-9F5F-990C6C98BC0B}"/>
              </a:ext>
            </a:extLst>
          </p:cNvPr>
          <p:cNvSpPr>
            <a:spLocks noGrp="1"/>
          </p:cNvSpPr>
          <p:nvPr/>
        </p:nvSpPr>
        <p:spPr>
          <a:xfrm>
            <a:off x="8858250" y="3600450"/>
            <a:ext cx="2476500" cy="11811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510DDF6-3359-499A-9B7E-6FD07EAC542F}"/>
              </a:ext>
            </a:extLst>
          </p:cNvPr>
          <p:cNvSpPr>
            <a:spLocks noGrp="1"/>
          </p:cNvSpPr>
          <p:nvPr/>
        </p:nvSpPr>
        <p:spPr>
          <a:xfrm>
            <a:off x="9048750" y="3857625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合法目标内重归一化</a:t>
            </a:r>
          </a:p>
          <a:p>
            <a:pPr algn="ctr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保持联合无冲突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08933D9-8BB7-4888-B127-9D0ED1D0C550}"/>
              </a:ext>
            </a:extLst>
          </p:cNvPr>
          <p:cNvSpPr>
            <a:spLocks noGrp="1"/>
          </p:cNvSpPr>
          <p:nvPr/>
        </p:nvSpPr>
        <p:spPr>
          <a:xfrm>
            <a:off x="609600" y="5286375"/>
            <a:ext cx="10725150" cy="666750"/>
          </a:xfrm>
          <a:prstGeom prst="rect">
            <a:avLst/>
          </a:prstGeom>
          <a:solidFill>
            <a:srgbClr val="F8E9C8"/>
          </a:solidFill>
          <a:ln w="0">
            <a:solidFill>
              <a:srgbClr val="F8E9C8"/>
            </a:solidFill>
            <a:prstDash val="solid"/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D23A90E-36A3-4EFF-BCB2-0EB1029DFAD6}"/>
              </a:ext>
            </a:extLst>
          </p:cNvPr>
          <p:cNvSpPr>
            <a:spLocks noGrp="1"/>
          </p:cNvSpPr>
          <p:nvPr/>
        </p:nvSpPr>
        <p:spPr>
          <a:xfrm>
            <a:off x="800100" y="5438775"/>
            <a:ext cx="103441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583"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创新焦点：让每个资源获得“是否交战”和“选哪个目标”的可分辨局部信用，并让该信用服从动态掩码与资源约束。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732D97-3352-4F4E-AC1D-1D11F0FE8320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数据来源：masked_counterfactual_hierarchical_ppo.md</a:t>
            </a:r>
          </a:p>
        </p:txBody>
      </p:sp>
    </p:spTree>
    <p:extLst>
      <p:ext uri="{BB962C8B-B14F-4D97-AF65-F5344CB8AC3E}">
        <p14:creationId xmlns:p14="http://schemas.microsoft.com/office/powerpoint/2010/main" val="1389433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5ACAA33B-5359-4360-A39A-676DF6126AB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07 机制证据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223F0AE-CCD3-4731-9E68-731FD83DCBA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统一阈值与 V(s) 都无法提供所需的局部信用</a:t>
            </a:r>
          </a:p>
        </p:txBody>
      </p:sp>
      <p:cxnSp>
        <p:nvCxnSpPr>
          <p:cNvPr id="20" name="直接箭头连接符 19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A470561-9CBB-4512-85EC-F0D50B31F45D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7B009D1-CAE9-44B8-9E29-ED4703E4E348}"/>
              </a:ext>
            </a:extLst>
          </p:cNvPr>
          <p:cNvSpPr>
            <a:spLocks noGrp="1"/>
          </p:cNvSpPr>
          <p:nvPr/>
        </p:nvSpPr>
        <p:spPr>
          <a:xfrm>
            <a:off x="400050" y="1847850"/>
            <a:ext cx="3371850" cy="1714500"/>
          </a:xfrm>
          <a:prstGeom prst="rect">
            <a:avLst/>
          </a:prstGeom>
          <a:solidFill>
            <a:srgbClr val="F5DEDE"/>
          </a:solidFill>
          <a:ln w="0">
            <a:solidFill>
              <a:srgbClr val="F5DEDE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2CFAD66-EF88-432F-8B2F-2532FC089BF8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3028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rPr>
              <a:t>0 / 17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1089293-680F-4CCC-835E-86A1120BF104}"/>
              </a:ext>
            </a:extLst>
          </p:cNvPr>
          <p:cNvSpPr>
            <a:spLocks noGrp="1"/>
          </p:cNvSpPr>
          <p:nvPr/>
        </p:nvSpPr>
        <p:spPr>
          <a:xfrm>
            <a:off x="571500" y="2571750"/>
            <a:ext cx="3028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统一阈值通过全部18个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种子×场景组合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9271035-D623-461A-9000-F24C013E2BBE}"/>
              </a:ext>
            </a:extLst>
          </p:cNvPr>
          <p:cNvSpPr>
            <a:spLocks noGrp="1"/>
          </p:cNvSpPr>
          <p:nvPr/>
        </p:nvSpPr>
        <p:spPr>
          <a:xfrm>
            <a:off x="4095750" y="1847850"/>
            <a:ext cx="3371850" cy="1714500"/>
          </a:xfrm>
          <a:prstGeom prst="rect">
            <a:avLst/>
          </a:prstGeom>
          <a:solidFill>
            <a:srgbClr val="F8E9C8"/>
          </a:solidFill>
          <a:ln w="0">
            <a:solidFill>
              <a:srgbClr val="F8E9C8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69E20F1-AEB5-4CD2-9E97-5533132A77EB}"/>
              </a:ext>
            </a:extLst>
          </p:cNvPr>
          <p:cNvSpPr>
            <a:spLocks noGrp="1"/>
          </p:cNvSpPr>
          <p:nvPr/>
        </p:nvSpPr>
        <p:spPr>
          <a:xfrm>
            <a:off x="4267200" y="2000250"/>
            <a:ext cx="30289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8 / 18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C61508B-E7DA-4F60-B4B5-EC0DD86EDA34}"/>
              </a:ext>
            </a:extLst>
          </p:cNvPr>
          <p:cNvSpPr>
            <a:spLocks noGrp="1"/>
          </p:cNvSpPr>
          <p:nvPr/>
        </p:nvSpPr>
        <p:spPr>
          <a:xfrm>
            <a:off x="4267200" y="2571750"/>
            <a:ext cx="30289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最佳阈值0.6仍只通过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部分组合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2C4578D6-03BA-473F-994D-8952B1F9A17D}"/>
              </a:ext>
            </a:extLst>
          </p:cNvPr>
          <p:cNvSpPr>
            <a:spLocks noGrp="1"/>
          </p:cNvSpPr>
          <p:nvPr/>
        </p:nvSpPr>
        <p:spPr>
          <a:xfrm>
            <a:off x="7791450" y="1847850"/>
            <a:ext cx="3524250" cy="171450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C673BFD-7B38-4500-8183-54BB98E39724}"/>
              </a:ext>
            </a:extLst>
          </p:cNvPr>
          <p:cNvSpPr>
            <a:spLocks noGrp="1"/>
          </p:cNvSpPr>
          <p:nvPr/>
        </p:nvSpPr>
        <p:spPr>
          <a:xfrm>
            <a:off x="7962900" y="2000250"/>
            <a:ext cx="31813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10～34.6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16CAEDF-7924-476A-A7AD-DF6AD98B269F}"/>
              </a:ext>
            </a:extLst>
          </p:cNvPr>
          <p:cNvSpPr>
            <a:spLocks noGrp="1"/>
          </p:cNvSpPr>
          <p:nvPr/>
        </p:nvSpPr>
        <p:spPr>
          <a:xfrm>
            <a:off x="7962900" y="2571750"/>
            <a:ext cx="318135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联合 advantage 组内标准差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均值差仅0.31～2.67</a:t>
            </a:r>
          </a:p>
        </p:txBody>
      </p:sp>
      <p:cxnSp>
        <p:nvCxnSpPr>
          <p:cNvPr id="31" name="直接箭头连接符 30"/>
          <p:cNvCxnSpPr/>
          <p:nvPr/>
        </p:nvCxnSpPr>
        <p:spPr>
          <a:xfrm>
            <a:off x="400050" y="4114800"/>
            <a:ext cx="1091565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id="{78D2431C-9E1E-45B9-9244-79942B219E30}"/>
              </a:ext>
            </a:extLst>
          </p:cNvPr>
          <p:cNvSpPr>
            <a:spLocks noGrp="1"/>
          </p:cNvSpPr>
          <p:nvPr/>
        </p:nvSpPr>
        <p:spPr>
          <a:xfrm>
            <a:off x="400050" y="4457700"/>
            <a:ext cx="1714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结构缺口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676650D9-A0E5-4A31-8879-087F9111CB10}"/>
              </a:ext>
            </a:extLst>
          </p:cNvPr>
          <p:cNvSpPr>
            <a:spLocks noGrp="1"/>
          </p:cNvSpPr>
          <p:nvPr/>
        </p:nvSpPr>
        <p:spPr>
          <a:xfrm>
            <a:off x="400050" y="4914900"/>
            <a:ext cx="1066800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现有 PPO Critic 只输出 V(s)。同一状态下所有候选动作共享同一个 baseline，无法直接回答本资源是否应交战，也无法比较合法目标。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BDFB053-359B-4D34-9A68-A363F80945B7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数据来源：任务十三：17阈值扫描与3,648条逐单元信用样本</a:t>
            </a:r>
          </a:p>
        </p:txBody>
      </p:sp>
    </p:spTree>
    <p:extLst>
      <p:ext uri="{BB962C8B-B14F-4D97-AF65-F5344CB8AC3E}">
        <p14:creationId xmlns:p14="http://schemas.microsoft.com/office/powerpoint/2010/main" val="919478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ED2855C-8ABF-444B-9E0E-DF8D0315237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08 任务十四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D97A05F-25A3-4F8C-AD6F-523E399F3E7C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离线价值研究逐步收敛到安全收益与资源成本双价值</a:t>
            </a:r>
          </a:p>
        </p:txBody>
      </p:sp>
      <p:cxnSp>
        <p:nvCxnSpPr>
          <p:cNvPr id="11" name="直接箭头连接符 10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4810DDF-0003-4323-A913-188686CF599D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13" name="表格 12"/>
          <p:cNvGraphicFramePr/>
          <p:nvPr/>
        </p:nvGraphicFramePr>
        <p:xfrm>
          <a:off x="400050" y="1733550"/>
          <a:ext cx="11391900" cy="3476628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09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100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43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原型</a:t>
                      </a:r>
                    </a:p>
                  </a:txBody>
                  <a:tcPr marL="76200" marR="76200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验证重点</a:t>
                      </a:r>
                    </a:p>
                  </a:txBody>
                  <a:tcPr marL="76200" marR="76200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门控</a:t>
                      </a:r>
                    </a:p>
                  </a:txBody>
                  <a:tcPr marL="76200" marR="76200" marT="66675" marB="66675" anchor="ctr"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得到的结论</a:t>
                      </a:r>
                    </a:p>
                  </a:txBody>
                  <a:tcPr marL="76200" marR="76200" marT="66675" marB="66675" anchor="ctr">
                    <a:solidFill>
                      <a:srgbClr val="1118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动作条件 Q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候选动作价值与排序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0/3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MAE改善，排序/符号不足</a:t>
                      </a:r>
                    </a:p>
                  </a:txBody>
                  <a:tcPr marL="76200" marR="76200" marT="66675" marB="6667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分层 Q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Q_engage / Q_target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0/3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目标层改善，交战层退化</a:t>
                      </a:r>
                    </a:p>
                  </a:txBody>
                  <a:tcPr marL="76200" marR="76200" marT="66675" marB="6667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风险效用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均值、CVaR、资源代价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0/3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正类稀少，绝对回归受多数类主导</a:t>
                      </a:r>
                    </a:p>
                  </a:txBody>
                  <a:tcPr marL="76200" marR="76200" marT="66675" marB="66675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临界状态平衡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engage/no-op符号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0/3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必要交战恢复，但出现过度交战</a:t>
                      </a:r>
                    </a:p>
                  </a:txBody>
                  <a:tcPr marL="76200" marR="76200" marT="66675" marB="66675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9438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状态条件双价值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安全收益 + 资源预算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总体3/3</a:t>
                      </a:r>
                    </a:p>
                  </a:txBody>
                  <a:tcPr marL="76200" marR="76200" marT="66675" marB="66675" anchor="ctr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11827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首次同时改善交战与停止</a:t>
                      </a:r>
                    </a:p>
                  </a:txBody>
                  <a:tcPr marL="76200" marR="76200" marT="66675" marB="66675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44AEB393-E230-49D9-ABB8-C105D6D7C32B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11391900" cy="571500"/>
          </a:xfrm>
          <a:prstGeom prst="rect">
            <a:avLst/>
          </a:prstGeom>
          <a:solidFill>
            <a:srgbClr val="D8EDFB"/>
          </a:solidFill>
          <a:ln w="0">
            <a:solidFill>
              <a:srgbClr val="D8EDFB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D26FBD3-CF53-4C6D-A0BB-5159DFD8A163}"/>
              </a:ext>
            </a:extLst>
          </p:cNvPr>
          <p:cNvSpPr>
            <a:spLocks noGrp="1"/>
          </p:cNvSpPr>
          <p:nvPr/>
        </p:nvSpPr>
        <p:spPr>
          <a:xfrm>
            <a:off x="590550" y="5600700"/>
            <a:ext cx="11010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关键收敛：目标排序不是当前最难部分，跨状态稳定决定“是否值得交战”才是核心。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64E233B-504A-429E-833B-7E1BF74E433F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数据来源：任务十四系列离线反事实价值实验</a:t>
            </a:r>
          </a:p>
        </p:txBody>
      </p:sp>
    </p:spTree>
    <p:extLst>
      <p:ext uri="{BB962C8B-B14F-4D97-AF65-F5344CB8AC3E}">
        <p14:creationId xmlns:p14="http://schemas.microsoft.com/office/powerpoint/2010/main" val="2119212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FC4CDF11-9A19-437B-97BC-AA7C66BAF91B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09 局部正结果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6EEF544-AE36-4364-9BA6-D9D456FBFEAB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状态条件双价值首次实现总体门控 3/3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3B56EC41-69C7-4C8B-BEBF-98E02386E605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400050" y="1714500"/>
          <a:ext cx="7000875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91DCDE39-5894-42E7-BF85-0B57CAAD4DF0}"/>
              </a:ext>
            </a:extLst>
          </p:cNvPr>
          <p:cNvSpPr>
            <a:spLocks noGrp="1"/>
          </p:cNvSpPr>
          <p:nvPr/>
        </p:nvSpPr>
        <p:spPr>
          <a:xfrm>
            <a:off x="7858125" y="1790700"/>
            <a:ext cx="3457575" cy="1162050"/>
          </a:xfrm>
          <a:prstGeom prst="rect">
            <a:avLst/>
          </a:prstGeom>
          <a:solidFill>
            <a:srgbClr val="DCEFE7"/>
          </a:solidFill>
          <a:ln w="0">
            <a:solidFill>
              <a:srgbClr val="DCEFE7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FC476F1-63D4-4F24-BFF9-94BD55DDF0C8}"/>
              </a:ext>
            </a:extLst>
          </p:cNvPr>
          <p:cNvSpPr>
            <a:spLocks noGrp="1"/>
          </p:cNvSpPr>
          <p:nvPr/>
        </p:nvSpPr>
        <p:spPr>
          <a:xfrm>
            <a:off x="8029575" y="1943100"/>
            <a:ext cx="31146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0.768～0.834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A882DA8-3CE7-46CD-AA6F-D5952B6D4A47}"/>
              </a:ext>
            </a:extLst>
          </p:cNvPr>
          <p:cNvSpPr>
            <a:spLocks noGrp="1"/>
          </p:cNvSpPr>
          <p:nvPr/>
        </p:nvSpPr>
        <p:spPr>
          <a:xfrm>
            <a:off x="8029575" y="2514600"/>
            <a:ext cx="3114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三种子 balanced accuracy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1038A4-A730-4FF4-BFC2-AC88DA378C71}"/>
              </a:ext>
            </a:extLst>
          </p:cNvPr>
          <p:cNvSpPr>
            <a:spLocks noGrp="1"/>
          </p:cNvSpPr>
          <p:nvPr/>
        </p:nvSpPr>
        <p:spPr>
          <a:xfrm>
            <a:off x="7858125" y="3181350"/>
            <a:ext cx="3457575" cy="1162050"/>
          </a:xfrm>
          <a:prstGeom prst="rect">
            <a:avLst/>
          </a:prstGeom>
          <a:solidFill>
            <a:srgbClr val="DCEFE7"/>
          </a:solidFill>
          <a:ln w="0">
            <a:solidFill>
              <a:srgbClr val="DCEFE7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A0CD262-B49D-4B87-92A7-820495921700}"/>
              </a:ext>
            </a:extLst>
          </p:cNvPr>
          <p:cNvSpPr>
            <a:spLocks noGrp="1"/>
          </p:cNvSpPr>
          <p:nvPr/>
        </p:nvSpPr>
        <p:spPr>
          <a:xfrm>
            <a:off x="8029575" y="3333750"/>
            <a:ext cx="31146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0.263～0.298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9AD6254-2EA8-488E-A26E-4F9BD8116AFF}"/>
              </a:ext>
            </a:extLst>
          </p:cNvPr>
          <p:cNvSpPr>
            <a:spLocks noGrp="1"/>
          </p:cNvSpPr>
          <p:nvPr/>
        </p:nvSpPr>
        <p:spPr>
          <a:xfrm>
            <a:off x="8029575" y="3905250"/>
            <a:ext cx="3114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3333"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wasteful-engage</a:t>
            </a:r>
          </a:p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此前为0.62～0.68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D76991-CB73-4660-9F07-5D8605B32543}"/>
              </a:ext>
            </a:extLst>
          </p:cNvPr>
          <p:cNvSpPr>
            <a:spLocks noGrp="1"/>
          </p:cNvSpPr>
          <p:nvPr/>
        </p:nvSpPr>
        <p:spPr>
          <a:xfrm>
            <a:off x="7858125" y="4629150"/>
            <a:ext cx="3457575" cy="1085850"/>
          </a:xfrm>
          <a:prstGeom prst="rect">
            <a:avLst/>
          </a:prstGeom>
          <a:solidFill>
            <a:srgbClr val="F8E9C8"/>
          </a:solidFill>
          <a:ln w="0">
            <a:solidFill>
              <a:srgbClr val="F8E9C8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B54102A-2D84-46CF-8C86-6A5BD542F059}"/>
              </a:ext>
            </a:extLst>
          </p:cNvPr>
          <p:cNvSpPr>
            <a:spLocks noGrp="1"/>
          </p:cNvSpPr>
          <p:nvPr/>
        </p:nvSpPr>
        <p:spPr>
          <a:xfrm>
            <a:off x="8029575" y="4800600"/>
            <a:ext cx="8572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9E2783-7A47-48A8-A32B-6D387F9C8B7C}"/>
              </a:ext>
            </a:extLst>
          </p:cNvPr>
          <p:cNvSpPr>
            <a:spLocks noGrp="1"/>
          </p:cNvSpPr>
          <p:nvPr/>
        </p:nvSpPr>
        <p:spPr>
          <a:xfrm>
            <a:off x="8029575" y="5105400"/>
            <a:ext cx="30765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逐场景完整门控仍为0/3；成本差相关性仅 -0.04～0.13。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951C609-D8A4-4562-A58D-60BF6D57792A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数据来源：72个独立状态，state-conditioned value正式实验</a:t>
            </a:r>
          </a:p>
        </p:txBody>
      </p:sp>
    </p:spTree>
    <p:extLst>
      <p:ext uri="{BB962C8B-B14F-4D97-AF65-F5344CB8AC3E}">
        <p14:creationId xmlns:p14="http://schemas.microsoft.com/office/powerpoint/2010/main" val="1863318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20A25BC3-79CB-4108-BF8F-BC72D99793F4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10 泛化压力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007F060-8170-4BF1-A3EA-BAFED8AB95E7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新批次使异质场景的错误方向发生翻转</a:t>
            </a:r>
          </a:p>
        </p:txBody>
      </p:sp>
      <p:cxnSp>
        <p:nvCxnSpPr>
          <p:cNvPr id="14" name="直接箭头连接符 13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9DF609B3-56A2-475E-8087-39EAFE1322B3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="400050" y="1809750"/>
          <a:ext cx="6477000" cy="38576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4F3E986E-C3F7-4A9A-9109-3645C336022E}"/>
              </a:ext>
            </a:extLst>
          </p:cNvPr>
          <p:cNvSpPr>
            <a:spLocks noGrp="1"/>
          </p:cNvSpPr>
          <p:nvPr/>
        </p:nvSpPr>
        <p:spPr>
          <a:xfrm>
            <a:off x="7477125" y="1952625"/>
            <a:ext cx="3810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同一场景标签并不代表同一临界状态分布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592FB4A-B7F0-4FD8-A2D4-E74A149426C0}"/>
              </a:ext>
            </a:extLst>
          </p:cNvPr>
          <p:cNvSpPr>
            <a:spLocks noGrp="1"/>
          </p:cNvSpPr>
          <p:nvPr/>
        </p:nvSpPr>
        <p:spPr>
          <a:xfrm>
            <a:off x="7477125" y="2876550"/>
            <a:ext cx="3810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普通随机 state folds 共享同一批次生成机制，无法模拟新的边界状态子分布。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C71889E-EE67-4BF7-9CCC-7BE4E1C1A4C1}"/>
              </a:ext>
            </a:extLst>
          </p:cNvPr>
          <p:cNvSpPr>
            <a:spLocks noGrp="1"/>
          </p:cNvSpPr>
          <p:nvPr/>
        </p:nvSpPr>
        <p:spPr>
          <a:xfrm>
            <a:off x="7477125" y="4095750"/>
            <a:ext cx="3810000" cy="1143000"/>
          </a:xfrm>
          <a:prstGeom prst="rect">
            <a:avLst/>
          </a:prstGeom>
          <a:solidFill>
            <a:srgbClr val="F5DEDE"/>
          </a:solidFill>
          <a:ln w="0">
            <a:solidFill>
              <a:srgbClr val="F5DEDE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0ECF0CF-D317-4D1E-98E1-137C5104EFC0}"/>
              </a:ext>
            </a:extLst>
          </p:cNvPr>
          <p:cNvSpPr>
            <a:spLocks noGrp="1"/>
          </p:cNvSpPr>
          <p:nvPr/>
        </p:nvSpPr>
        <p:spPr>
          <a:xfrm>
            <a:off x="7667625" y="4276725"/>
            <a:ext cx="14287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rPr>
              <a:t>方法学升级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869824D-C296-4B26-982E-C129101F6A83}"/>
              </a:ext>
            </a:extLst>
          </p:cNvPr>
          <p:cNvSpPr>
            <a:spLocks noGrp="1"/>
          </p:cNvSpPr>
          <p:nvPr/>
        </p:nvSpPr>
        <p:spPr>
          <a:xfrm>
            <a:off x="7667625" y="4629150"/>
            <a:ext cx="3429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从随机状态折转为独立批次、LOBO 与最终隔离测试。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B844BF9-DCB4-463E-8589-528D7D1C1948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数据来源：cross-scenario robust value正式实验</a:t>
            </a:r>
          </a:p>
        </p:txBody>
      </p:sp>
    </p:spTree>
    <p:extLst>
      <p:ext uri="{BB962C8B-B14F-4D97-AF65-F5344CB8AC3E}">
        <p14:creationId xmlns:p14="http://schemas.microsoft.com/office/powerpoint/2010/main" val="12886501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107937DF-B612-4E1F-8A86-9B45F4B97A29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11 当前门控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CE57C39-F725-4054-8CEA-9D809CEC0D15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多批次修复漏交战，却把模型推向系统性过度交战</a:t>
            </a:r>
          </a:p>
        </p:txBody>
      </p:sp>
      <p:cxnSp>
        <p:nvCxnSpPr>
          <p:cNvPr id="18" name="直接箭头连接符 17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E22CD8EF-1E5F-4700-81DB-CC790FCBB335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="400050" y="1714500"/>
          <a:ext cx="7000875" cy="4000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A2316583-CA3A-4B64-960F-BB5CFBEDB343}"/>
              </a:ext>
            </a:extLst>
          </p:cNvPr>
          <p:cNvSpPr>
            <a:spLocks noGrp="1"/>
          </p:cNvSpPr>
          <p:nvPr/>
        </p:nvSpPr>
        <p:spPr>
          <a:xfrm>
            <a:off x="7858125" y="1790700"/>
            <a:ext cx="3457575" cy="1162050"/>
          </a:xfrm>
          <a:prstGeom prst="rect">
            <a:avLst/>
          </a:prstGeom>
          <a:solidFill>
            <a:srgbClr val="F8E9C8"/>
          </a:solidFill>
          <a:ln w="0">
            <a:solidFill>
              <a:srgbClr val="F8E9C8"/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9E0B2A0-221C-4B0F-B7C2-41C4C8BBFF1F}"/>
              </a:ext>
            </a:extLst>
          </p:cNvPr>
          <p:cNvSpPr>
            <a:spLocks noGrp="1"/>
          </p:cNvSpPr>
          <p:nvPr/>
        </p:nvSpPr>
        <p:spPr>
          <a:xfrm>
            <a:off x="8029575" y="1943100"/>
            <a:ext cx="31146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B7791F"/>
                </a:solidFill>
                <a:latin typeface="Microsoft YaHei"/>
                <a:ea typeface="Microsoft YaHei"/>
                <a:cs typeface="Microsoft YaHei"/>
              </a:rPr>
              <a:t>1 / 3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96CAF89-115E-41DA-BCB5-0F313F36B47E}"/>
              </a:ext>
            </a:extLst>
          </p:cNvPr>
          <p:cNvSpPr>
            <a:spLocks noGrp="1"/>
          </p:cNvSpPr>
          <p:nvPr/>
        </p:nvSpPr>
        <p:spPr>
          <a:xfrm>
            <a:off x="8029575" y="2514600"/>
            <a:ext cx="3114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leave-one-batch-out 可行种子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86C944-1CEB-4FF5-94E0-6C94E888803B}"/>
              </a:ext>
            </a:extLst>
          </p:cNvPr>
          <p:cNvSpPr>
            <a:spLocks noGrp="1"/>
          </p:cNvSpPr>
          <p:nvPr/>
        </p:nvSpPr>
        <p:spPr>
          <a:xfrm>
            <a:off x="7858125" y="3181350"/>
            <a:ext cx="3457575" cy="1162050"/>
          </a:xfrm>
          <a:prstGeom prst="rect">
            <a:avLst/>
          </a:prstGeom>
          <a:solidFill>
            <a:srgbClr val="F5DEDE"/>
          </a:solidFill>
          <a:ln w="0">
            <a:solidFill>
              <a:srgbClr val="F5DEDE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D295B1-D6E8-496C-A3DC-13E9F4C6E4C7}"/>
              </a:ext>
            </a:extLst>
          </p:cNvPr>
          <p:cNvSpPr>
            <a:spLocks noGrp="1"/>
          </p:cNvSpPr>
          <p:nvPr/>
        </p:nvSpPr>
        <p:spPr>
          <a:xfrm>
            <a:off x="8029575" y="3333750"/>
            <a:ext cx="3114675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b">
            <a:normAutofit/>
          </a:bodyPr>
          <a:lstStyle/>
          <a:p>
            <a:pPr algn="l">
              <a:lnSpc>
                <a:spcPct val="100000"/>
              </a:lnSpc>
              <a:buNone/>
              <a:defRPr sz="300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rPr>
              <a:t>0 / 3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4C191A-1D11-4AB1-9F80-94BDE8FC7843}"/>
              </a:ext>
            </a:extLst>
          </p:cNvPr>
          <p:cNvSpPr>
            <a:spLocks noGrp="1"/>
          </p:cNvSpPr>
          <p:nvPr/>
        </p:nvSpPr>
        <p:spPr>
          <a:xfrm>
            <a:off x="8029575" y="3905250"/>
            <a:ext cx="3114675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最终独立批次完整通过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B8503A3-03AF-415B-956D-5E118968DF24}"/>
              </a:ext>
            </a:extLst>
          </p:cNvPr>
          <p:cNvSpPr>
            <a:spLocks noGrp="1"/>
          </p:cNvSpPr>
          <p:nvPr/>
        </p:nvSpPr>
        <p:spPr>
          <a:xfrm>
            <a:off x="7858125" y="4629150"/>
            <a:ext cx="3457575" cy="108585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D81EBDB-BA17-4D8A-B010-B0F455541D16}"/>
              </a:ext>
            </a:extLst>
          </p:cNvPr>
          <p:cNvSpPr>
            <a:spLocks noGrp="1"/>
          </p:cNvSpPr>
          <p:nvPr/>
        </p:nvSpPr>
        <p:spPr>
          <a:xfrm>
            <a:off x="8029575" y="4800600"/>
            <a:ext cx="1143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关键解释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6BBC915-7742-48A8-8A3F-56FD8AE3AA32}"/>
              </a:ext>
            </a:extLst>
          </p:cNvPr>
          <p:cNvSpPr>
            <a:spLocks noGrp="1"/>
          </p:cNvSpPr>
          <p:nvPr/>
        </p:nvSpPr>
        <p:spPr>
          <a:xfrm>
            <a:off x="8029575" y="5105400"/>
            <a:ext cx="3076575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数据功效全部通过；当前瓶颈是安全交战与资源停止缺少共同边界。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2C21369-9861-400B-8384-2F89C8E0F5BC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数据来源：3×48训练状态 + 72最终状态，多批次LOBO实验</a:t>
            </a:r>
          </a:p>
        </p:txBody>
      </p:sp>
    </p:spTree>
    <p:extLst>
      <p:ext uri="{BB962C8B-B14F-4D97-AF65-F5344CB8AC3E}">
        <p14:creationId xmlns:p14="http://schemas.microsoft.com/office/powerpoint/2010/main" val="768899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F741E529-6B64-4C4C-A2A7-F503FB13EF0C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12 当前定位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6A0B53EF-E821-44E5-9008-A4BDBE44913A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创新机制已有阶段性成效，但完整算法结论仍需克制</a:t>
            </a:r>
          </a:p>
        </p:txBody>
      </p:sp>
      <p:cxnSp>
        <p:nvCxnSpPr>
          <p:cNvPr id="15" name="直接箭头连接符 14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FC8ED355-1D4F-4BD0-B7C7-161F85E950C6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4B144B-648B-46FE-A062-A1B0CFF5F997}"/>
              </a:ext>
            </a:extLst>
          </p:cNvPr>
          <p:cNvSpPr>
            <a:spLocks noGrp="1"/>
          </p:cNvSpPr>
          <p:nvPr/>
        </p:nvSpPr>
        <p:spPr>
          <a:xfrm>
            <a:off x="400050" y="176212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已经形成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526FBC-4742-4847-9961-C34B26D44CD4}"/>
              </a:ext>
            </a:extLst>
          </p:cNvPr>
          <p:cNvSpPr>
            <a:spLocks noGrp="1"/>
          </p:cNvSpPr>
          <p:nvPr/>
        </p:nvSpPr>
        <p:spPr>
          <a:xfrm>
            <a:off x="400050" y="2343150"/>
            <a:ext cx="4953000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无冲突自回归联合动作机制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no-op放大与PPO分叉的实验证据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动态掩码下的分层反事实信用定义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状态条件安全/资源双价值原型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独立批次与LOBO门控协议</a:t>
            </a:r>
          </a:p>
        </p:txBody>
      </p:sp>
      <p:cxnSp>
        <p:nvCxnSpPr>
          <p:cNvPr id="19" name="直接箭头连接符 18"/>
          <p:cNvCxnSpPr/>
          <p:nvPr/>
        </p:nvCxnSpPr>
        <p:spPr>
          <a:xfrm>
            <a:off x="5953125" y="1714500"/>
            <a:ext cx="0" cy="390525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72B6667B-1E77-465D-9B64-C0190BD9DCD1}"/>
              </a:ext>
            </a:extLst>
          </p:cNvPr>
          <p:cNvSpPr>
            <a:spLocks noGrp="1"/>
          </p:cNvSpPr>
          <p:nvPr/>
        </p:nvSpPr>
        <p:spPr>
          <a:xfrm>
            <a:off x="6496050" y="1762125"/>
            <a:ext cx="49530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025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rPr>
              <a:t>仍不能宣称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BF9E29-E5D7-4396-BE6C-F41A76ED5640}"/>
              </a:ext>
            </a:extLst>
          </p:cNvPr>
          <p:cNvSpPr>
            <a:spLocks noGrp="1"/>
          </p:cNvSpPr>
          <p:nvPr/>
        </p:nvSpPr>
        <p:spPr>
          <a:xfrm>
            <a:off x="6496050" y="2343150"/>
            <a:ext cx="4953000" cy="2714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完整 MCH-PPO 已经有效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已稳定解决 no-op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创新点已被证明绝对新颖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现阶段应立即进入 GNN</a:t>
            </a:r>
          </a:p>
          <a:p>
            <a:pPr algn="l">
              <a:lnSpc>
                <a:spcPct val="118000"/>
              </a:lnSpc>
              <a:buNone/>
              <a:def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已具备完整论文录用证据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E9F141C-2C2A-4D33-8CC8-E0D5A95D11B8}"/>
              </a:ext>
            </a:extLst>
          </p:cNvPr>
          <p:cNvSpPr>
            <a:spLocks noGrp="1"/>
          </p:cNvSpPr>
          <p:nvPr/>
        </p:nvSpPr>
        <p:spPr>
          <a:xfrm>
            <a:off x="400050" y="5476875"/>
            <a:ext cx="11049000" cy="571500"/>
          </a:xfrm>
          <a:prstGeom prst="rect">
            <a:avLst/>
          </a:prstGeom>
          <a:solidFill>
            <a:srgbClr val="D8EDFB"/>
          </a:solidFill>
          <a:ln w="0">
            <a:solidFill>
              <a:srgbClr val="D8EDFB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6158B11-1354-4519-8443-0C7E810C622B}"/>
              </a:ext>
            </a:extLst>
          </p:cNvPr>
          <p:cNvSpPr>
            <a:spLocks noGrp="1"/>
          </p:cNvSpPr>
          <p:nvPr/>
        </p:nvSpPr>
        <p:spPr>
          <a:xfrm>
            <a:off x="590550" y="5600700"/>
            <a:ext cx="10668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当前阶段：创新机制原型与离线证据积累，尚未进入完整 Actor-Critic 闭环验证。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930B321-971F-46CD-91E2-095B5289D52B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数据来源：项目创新路线与任务十三、十四门控结论</a:t>
            </a:r>
          </a:p>
        </p:txBody>
      </p:sp>
    </p:spTree>
    <p:extLst>
      <p:ext uri="{BB962C8B-B14F-4D97-AF65-F5344CB8AC3E}">
        <p14:creationId xmlns:p14="http://schemas.microsoft.com/office/powerpoint/2010/main" val="20348058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EF4F84A8-43F4-4D8A-B7AF-BEEFC5F10910}"/>
              </a:ext>
            </a:extLst>
          </p:cNvPr>
          <p:cNvSpPr>
            <a:spLocks noGrp="1"/>
          </p:cNvSpPr>
          <p:nvPr/>
        </p:nvSpPr>
        <p:spPr>
          <a:xfrm>
            <a:off x="400050" y="266700"/>
            <a:ext cx="2667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13 后续开展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2B488F6-1A0B-4F84-B732-097251172682}"/>
              </a:ext>
            </a:extLst>
          </p:cNvPr>
          <p:cNvSpPr>
            <a:spLocks noGrp="1"/>
          </p:cNvSpPr>
          <p:nvPr/>
        </p:nvSpPr>
        <p:spPr>
          <a:xfrm>
            <a:off x="400050" y="552450"/>
            <a:ext cx="11049000" cy="704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下一步先回答：现有输出是否存在共同可行边界？</a:t>
            </a:r>
          </a:p>
        </p:txBody>
      </p:sp>
      <p:cxnSp>
        <p:nvCxnSpPr>
          <p:cNvPr id="23" name="直接箭头连接符 22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4" name="矩形 3">
            <a:extLst>
              <a:ext uri="{FF2B5EF4-FFF2-40B4-BE49-F238E27FC236}">
                <a16:creationId xmlns:a16="http://schemas.microsoft.com/office/drawing/2014/main" id="{869A2416-2F2E-429E-9F20-B063F5295C03}"/>
              </a:ext>
            </a:extLst>
          </p:cNvPr>
          <p:cNvSpPr>
            <a:spLocks noGrp="1"/>
          </p:cNvSpPr>
          <p:nvPr/>
        </p:nvSpPr>
        <p:spPr>
          <a:xfrm>
            <a:off x="11258550" y="6448425"/>
            <a:ext cx="5334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lnSpc>
                <a:spcPct val="100000"/>
              </a:lnSpc>
              <a:buNone/>
              <a:def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2571750" y="3095625"/>
            <a:ext cx="1428750" cy="0"/>
          </a:xfrm>
          <a:prstGeom prst="straightConnector1">
            <a:avLst/>
          </a:prstGeom>
          <a:ln w="19050">
            <a:solidFill>
              <a:srgbClr val="111827"/>
            </a:solidFill>
            <a:prstDash val="solid"/>
          </a:ln>
        </p:spPr>
      </p:cxnSp>
      <p:cxnSp>
        <p:nvCxnSpPr>
          <p:cNvPr id="26" name="直接箭头连接符 25"/>
          <p:cNvCxnSpPr>
            <a:cxnSpLocks/>
            <a:stCxn id="10" idx="3"/>
            <a:endCxn id="12" idx="1"/>
          </p:cNvCxnSpPr>
          <p:nvPr/>
        </p:nvCxnSpPr>
        <p:spPr>
          <a:xfrm flipV="1">
            <a:off x="6191250" y="1981200"/>
            <a:ext cx="1285875" cy="1114425"/>
          </a:xfrm>
          <a:prstGeom prst="straightConnector1">
            <a:avLst/>
          </a:prstGeom>
          <a:ln w="19050">
            <a:solidFill>
              <a:srgbClr val="16845B"/>
            </a:solidFill>
            <a:prstDash val="solid"/>
          </a:ln>
        </p:spPr>
      </p:cxnSp>
      <p:cxnSp>
        <p:nvCxnSpPr>
          <p:cNvPr id="27" name="直接箭头连接符 26"/>
          <p:cNvCxnSpPr/>
          <p:nvPr/>
        </p:nvCxnSpPr>
        <p:spPr>
          <a:xfrm>
            <a:off x="6191250" y="3095625"/>
            <a:ext cx="1285875" cy="1143000"/>
          </a:xfrm>
          <a:prstGeom prst="straightConnector1">
            <a:avLst/>
          </a:prstGeom>
          <a:ln w="19050">
            <a:solidFill>
              <a:srgbClr val="C9484A"/>
            </a:solidFill>
            <a:prstDash val="solid"/>
          </a:ln>
        </p:spPr>
      </p:cxnSp>
      <p:sp>
        <p:nvSpPr>
          <p:cNvPr id="8" name="矩形 7">
            <a:extLst>
              <a:ext uri="{FF2B5EF4-FFF2-40B4-BE49-F238E27FC236}">
                <a16:creationId xmlns:a16="http://schemas.microsoft.com/office/drawing/2014/main" id="{7D431DDA-6575-4D14-A8DE-7197AE81260D}"/>
              </a:ext>
            </a:extLst>
          </p:cNvPr>
          <p:cNvSpPr>
            <a:spLocks noGrp="1"/>
          </p:cNvSpPr>
          <p:nvPr/>
        </p:nvSpPr>
        <p:spPr>
          <a:xfrm>
            <a:off x="514350" y="2457450"/>
            <a:ext cx="2057400" cy="1276350"/>
          </a:xfrm>
          <a:prstGeom prst="rect">
            <a:avLst/>
          </a:prstGeom>
          <a:solidFill>
            <a:srgbClr val="D8EDFB"/>
          </a:solidFill>
          <a:ln w="0">
            <a:solidFill>
              <a:srgbClr val="D8EDFB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573028-BC1E-49BF-8F27-ECC447DD1135}"/>
              </a:ext>
            </a:extLst>
          </p:cNvPr>
          <p:cNvSpPr>
            <a:spLocks noGrp="1"/>
          </p:cNvSpPr>
          <p:nvPr/>
        </p:nvSpPr>
        <p:spPr>
          <a:xfrm>
            <a:off x="723900" y="2771775"/>
            <a:ext cx="1638300" cy="723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1787"/>
          </a:bodyPr>
          <a:lstStyle/>
          <a:p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复用现有 rollout</a:t>
            </a:r>
          </a:p>
          <a:p>
            <a:pPr algn="ctr">
              <a:lnSpc>
                <a:spcPct val="100000"/>
              </a:lnSpc>
              <a:buNone/>
              <a:def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OOB Pareto 审计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07CA0E1-6F7F-4226-912B-15058B8DD7AF}"/>
              </a:ext>
            </a:extLst>
          </p:cNvPr>
          <p:cNvSpPr>
            <a:spLocks noGrp="1"/>
          </p:cNvSpPr>
          <p:nvPr/>
        </p:nvSpPr>
        <p:spPr>
          <a:xfrm>
            <a:off x="4000500" y="2362200"/>
            <a:ext cx="2190750" cy="1466850"/>
          </a:xfrm>
          <a:prstGeom prst="rect">
            <a:avLst/>
          </a:prstGeom>
          <a:solidFill>
            <a:srgbClr val="F1F3F5"/>
          </a:solidFill>
          <a:ln w="0">
            <a:solidFill>
              <a:srgbClr val="F1F3F5"/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60C210C-7F18-4EAF-9420-41864C7C95F9}"/>
              </a:ext>
            </a:extLst>
          </p:cNvPr>
          <p:cNvSpPr>
            <a:spLocks noGrp="1"/>
          </p:cNvSpPr>
          <p:nvPr/>
        </p:nvSpPr>
        <p:spPr>
          <a:xfrm>
            <a:off x="4229100" y="2705100"/>
            <a:ext cx="1733550" cy="800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跨批次 × 跨场景</a:t>
            </a:r>
          </a:p>
          <a:p>
            <a:pPr algn="ctr">
              <a:lnSpc>
                <a:spcPct val="100000"/>
              </a:lnSpc>
              <a:buNone/>
              <a:def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安全召回 × 停止召回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A11116-AA11-4E78-9E71-F4CAA66F0929}"/>
              </a:ext>
            </a:extLst>
          </p:cNvPr>
          <p:cNvSpPr>
            <a:spLocks noGrp="1"/>
          </p:cNvSpPr>
          <p:nvPr/>
        </p:nvSpPr>
        <p:spPr>
          <a:xfrm>
            <a:off x="7477125" y="1304925"/>
            <a:ext cx="3857625" cy="1352550"/>
          </a:xfrm>
          <a:prstGeom prst="rect">
            <a:avLst/>
          </a:prstGeom>
          <a:solidFill>
            <a:srgbClr val="DCEFE7"/>
          </a:solidFill>
          <a:ln w="0">
            <a:solidFill>
              <a:srgbClr val="DCEFE7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A80E536-8D3A-4459-95F8-830426B883D4}"/>
              </a:ext>
            </a:extLst>
          </p:cNvPr>
          <p:cNvSpPr>
            <a:spLocks noGrp="1"/>
          </p:cNvSpPr>
          <p:nvPr/>
        </p:nvSpPr>
        <p:spPr>
          <a:xfrm>
            <a:off x="7686675" y="1533525"/>
            <a:ext cx="1714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6845B"/>
                </a:solidFill>
                <a:latin typeface="Microsoft YaHei"/>
                <a:ea typeface="Microsoft YaHei"/>
                <a:cs typeface="Microsoft YaHei"/>
              </a:rPr>
              <a:t>存在共同边界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941419-E035-4A8E-AE6E-B0443C5882D7}"/>
              </a:ext>
            </a:extLst>
          </p:cNvPr>
          <p:cNvSpPr>
            <a:spLocks noGrp="1"/>
          </p:cNvSpPr>
          <p:nvPr/>
        </p:nvSpPr>
        <p:spPr>
          <a:xfrm>
            <a:off x="7686675" y="1952625"/>
            <a:ext cx="3381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冻结规则 → 独立确认 → 最小MCH-PPO 30k×3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A35C012-B1E6-4DED-A88F-C0BEEA426265}"/>
              </a:ext>
            </a:extLst>
          </p:cNvPr>
          <p:cNvSpPr>
            <a:spLocks noGrp="1"/>
          </p:cNvSpPr>
          <p:nvPr/>
        </p:nvSpPr>
        <p:spPr>
          <a:xfrm>
            <a:off x="7477125" y="3686175"/>
            <a:ext cx="3857625" cy="1352550"/>
          </a:xfrm>
          <a:prstGeom prst="rect">
            <a:avLst/>
          </a:prstGeom>
          <a:solidFill>
            <a:srgbClr val="F5DEDE"/>
          </a:solidFill>
          <a:ln w="0">
            <a:solidFill>
              <a:srgbClr val="F5DEDE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43E2767-4180-4E72-AC87-A53E53EB9832}"/>
              </a:ext>
            </a:extLst>
          </p:cNvPr>
          <p:cNvSpPr>
            <a:spLocks noGrp="1"/>
          </p:cNvSpPr>
          <p:nvPr/>
        </p:nvSpPr>
        <p:spPr>
          <a:xfrm>
            <a:off x="7686675" y="3914775"/>
            <a:ext cx="1905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65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C9484A"/>
                </a:solidFill>
                <a:latin typeface="Microsoft YaHei"/>
                <a:ea typeface="Microsoft YaHei"/>
                <a:cs typeface="Microsoft YaHei"/>
              </a:rPr>
              <a:t>不存在共同边界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0B62021-85EC-42BE-BF29-A5B6371ED47D}"/>
              </a:ext>
            </a:extLst>
          </p:cNvPr>
          <p:cNvSpPr>
            <a:spLocks noGrp="1"/>
          </p:cNvSpPr>
          <p:nvPr/>
        </p:nvSpPr>
        <p:spPr>
          <a:xfrm>
            <a:off x="7686675" y="4333875"/>
            <a:ext cx="3381375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修改价值语义或显式约束，不继续扩大标量阈值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5D92F7B-2700-4390-B985-4C892937DA9E}"/>
              </a:ext>
            </a:extLst>
          </p:cNvPr>
          <p:cNvSpPr>
            <a:spLocks noGrp="1"/>
          </p:cNvSpPr>
          <p:nvPr/>
        </p:nvSpPr>
        <p:spPr>
          <a:xfrm>
            <a:off x="514350" y="5391150"/>
            <a:ext cx="10820400" cy="609600"/>
          </a:xfrm>
          <a:prstGeom prst="rect">
            <a:avLst/>
          </a:prstGeom>
          <a:solidFill>
            <a:srgbClr val="F8E9C8"/>
          </a:solidFill>
          <a:ln w="0">
            <a:solidFill>
              <a:srgbClr val="F8E9C8"/>
            </a:solidFill>
            <a:prstDash val="solid"/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98C94AEF-C1B5-4B8C-863D-39BE359C2473}"/>
              </a:ext>
            </a:extLst>
          </p:cNvPr>
          <p:cNvSpPr>
            <a:spLocks noGrp="1"/>
          </p:cNvSpPr>
          <p:nvPr/>
        </p:nvSpPr>
        <p:spPr>
          <a:xfrm>
            <a:off x="704850" y="5524500"/>
            <a:ext cx="104394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主线保持不变：MCH-PPO离线门控通过后再训练；GNN等待关系估值或跨规模泛化成为主要瓶颈。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55364BE-AB10-498D-9F1C-2A403A554ABF}"/>
              </a:ext>
            </a:extLst>
          </p:cNvPr>
          <p:cNvSpPr>
            <a:spLocks noGrp="1"/>
          </p:cNvSpPr>
          <p:nvPr/>
        </p:nvSpPr>
        <p:spPr>
          <a:xfrm>
            <a:off x="400050" y="6429375"/>
            <a:ext cx="952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596273"/>
                </a:solidFill>
                <a:latin typeface="Microsoft YaHei"/>
                <a:ea typeface="Microsoft YaHei"/>
                <a:cs typeface="Microsoft YaHei"/>
              </a:rPr>
              <a:t>数据来源：现有研究创新路线，不新增或改动主线任务</a:t>
            </a:r>
          </a:p>
        </p:txBody>
      </p:sp>
    </p:spTree>
    <p:extLst>
      <p:ext uri="{BB962C8B-B14F-4D97-AF65-F5344CB8AC3E}">
        <p14:creationId xmlns:p14="http://schemas.microsoft.com/office/powerpoint/2010/main" val="764284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15">
            <a:extLst>
              <a:ext uri="{FF2B5EF4-FFF2-40B4-BE49-F238E27FC236}">
                <a16:creationId xmlns:a16="http://schemas.microsoft.com/office/drawing/2014/main" id="{4D1B85E5-CB99-42B2-AF13-CB5FAA81688E}"/>
              </a:ext>
            </a:extLst>
          </p:cNvPr>
          <p:cNvSpPr>
            <a:spLocks noGrp="1"/>
          </p:cNvSpPr>
          <p:nvPr/>
        </p:nvSpPr>
        <p:spPr>
          <a:xfrm>
            <a:off x="400050" y="400050"/>
            <a:ext cx="809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buNone/>
              <a:defRPr sz="345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3450" b="1" dirty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疑问？</a:t>
            </a:r>
            <a:endParaRPr sz="3450" b="1" dirty="0">
              <a:solidFill>
                <a:srgbClr val="111827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>
            <a:off x="400050" y="1352550"/>
            <a:ext cx="11391900" cy="0"/>
          </a:xfrm>
          <a:prstGeom prst="straightConnector1">
            <a:avLst/>
          </a:prstGeom>
          <a:ln w="9525">
            <a:solidFill>
              <a:srgbClr val="B8BCC4"/>
            </a:solidFill>
            <a:prstDash val="solid"/>
          </a:ln>
        </p:spPr>
      </p:cxnSp>
      <p:sp>
        <p:nvSpPr>
          <p:cNvPr id="3" name="矩形 2">
            <a:extLst>
              <a:ext uri="{FF2B5EF4-FFF2-40B4-BE49-F238E27FC236}">
                <a16:creationId xmlns:a16="http://schemas.microsoft.com/office/drawing/2014/main" id="{44B950F0-93C8-41D2-A9B2-25D01DDCF694}"/>
              </a:ext>
            </a:extLst>
          </p:cNvPr>
          <p:cNvSpPr>
            <a:spLocks noGrp="1"/>
          </p:cNvSpPr>
          <p:nvPr/>
        </p:nvSpPr>
        <p:spPr>
          <a:xfrm>
            <a:off x="400050" y="177165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0A4C3C-AF9B-403C-8E3A-95CD58743B7E}"/>
              </a:ext>
            </a:extLst>
          </p:cNvPr>
          <p:cNvSpPr>
            <a:spLocks noGrp="1"/>
          </p:cNvSpPr>
          <p:nvPr/>
        </p:nvSpPr>
        <p:spPr>
          <a:xfrm>
            <a:off x="1238250" y="17716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创新叙事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00C3487-28E5-4DA0-8CCE-2C37DB7F383F}"/>
              </a:ext>
            </a:extLst>
          </p:cNvPr>
          <p:cNvSpPr>
            <a:spLocks noGrp="1"/>
          </p:cNvSpPr>
          <p:nvPr/>
        </p:nvSpPr>
        <p:spPr>
          <a:xfrm>
            <a:off x="3238500" y="1771650"/>
            <a:ext cx="809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第一篇论文更应强调动态掩码下的分层反事实信用，还是安全收益与资源预算约束？</a:t>
            </a:r>
          </a:p>
        </p:txBody>
      </p:sp>
      <p:cxnSp>
        <p:nvCxnSpPr>
          <p:cNvPr id="21" name="直接箭头连接符 20"/>
          <p:cNvCxnSpPr/>
          <p:nvPr/>
        </p:nvCxnSpPr>
        <p:spPr>
          <a:xfrm>
            <a:off x="400050" y="2762250"/>
            <a:ext cx="11391900" cy="0"/>
          </a:xfrm>
          <a:prstGeom prst="straightConnector1">
            <a:avLst/>
          </a:prstGeom>
          <a:ln w="9525">
            <a:solidFill>
              <a:srgbClr val="D7DADE"/>
            </a:solidFill>
            <a:prstDash val="solid"/>
          </a:ln>
        </p:spPr>
      </p:cxnSp>
      <p:sp>
        <p:nvSpPr>
          <p:cNvPr id="7" name="矩形 6">
            <a:extLst>
              <a:ext uri="{FF2B5EF4-FFF2-40B4-BE49-F238E27FC236}">
                <a16:creationId xmlns:a16="http://schemas.microsoft.com/office/drawing/2014/main" id="{6CDC4C43-A61F-490B-9770-0786A95E200F}"/>
              </a:ext>
            </a:extLst>
          </p:cNvPr>
          <p:cNvSpPr>
            <a:spLocks noGrp="1"/>
          </p:cNvSpPr>
          <p:nvPr/>
        </p:nvSpPr>
        <p:spPr>
          <a:xfrm>
            <a:off x="400050" y="310515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139232-B5E4-4A1A-993C-77C89ADF1012}"/>
              </a:ext>
            </a:extLst>
          </p:cNvPr>
          <p:cNvSpPr>
            <a:spLocks noGrp="1"/>
          </p:cNvSpPr>
          <p:nvPr/>
        </p:nvSpPr>
        <p:spPr>
          <a:xfrm>
            <a:off x="1238250" y="31051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验证顺序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7DC3CD-1D4C-4BAF-978A-F3DA302CA8A6}"/>
              </a:ext>
            </a:extLst>
          </p:cNvPr>
          <p:cNvSpPr>
            <a:spLocks noGrp="1"/>
          </p:cNvSpPr>
          <p:nvPr/>
        </p:nvSpPr>
        <p:spPr>
          <a:xfrm>
            <a:off x="3238500" y="3105150"/>
            <a:ext cx="809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是否认可先离线验证局部 advantage，再进入完整 PPO 训练？</a:t>
            </a:r>
          </a:p>
        </p:txBody>
      </p:sp>
      <p:cxnSp>
        <p:nvCxnSpPr>
          <p:cNvPr id="25" name="直接箭头连接符 24"/>
          <p:cNvCxnSpPr/>
          <p:nvPr/>
        </p:nvCxnSpPr>
        <p:spPr>
          <a:xfrm>
            <a:off x="400050" y="4095750"/>
            <a:ext cx="11391900" cy="0"/>
          </a:xfrm>
          <a:prstGeom prst="straightConnector1">
            <a:avLst/>
          </a:prstGeom>
          <a:ln w="9525">
            <a:solidFill>
              <a:srgbClr val="D7DADE"/>
            </a:solidFill>
            <a:prstDash val="solid"/>
          </a:ln>
        </p:spPr>
      </p:cxnSp>
      <p:sp>
        <p:nvSpPr>
          <p:cNvPr id="11" name="矩形 10">
            <a:extLst>
              <a:ext uri="{FF2B5EF4-FFF2-40B4-BE49-F238E27FC236}">
                <a16:creationId xmlns:a16="http://schemas.microsoft.com/office/drawing/2014/main" id="{736A2B82-5FBA-4D48-AE5E-06C10F98802D}"/>
              </a:ext>
            </a:extLst>
          </p:cNvPr>
          <p:cNvSpPr>
            <a:spLocks noGrp="1"/>
          </p:cNvSpPr>
          <p:nvPr/>
        </p:nvSpPr>
        <p:spPr>
          <a:xfrm>
            <a:off x="400050" y="4438650"/>
            <a:ext cx="6667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D8D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FFB9F59-EB42-4FC1-9B1E-E426268AABD8}"/>
              </a:ext>
            </a:extLst>
          </p:cNvPr>
          <p:cNvSpPr>
            <a:spLocks noGrp="1"/>
          </p:cNvSpPr>
          <p:nvPr/>
        </p:nvSpPr>
        <p:spPr>
          <a:xfrm>
            <a:off x="1238250" y="4438650"/>
            <a:ext cx="171450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论文边界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5E87135-9EE0-4409-9B0C-4C2DC82A0E52}"/>
              </a:ext>
            </a:extLst>
          </p:cNvPr>
          <p:cNvSpPr>
            <a:spLocks noGrp="1"/>
          </p:cNvSpPr>
          <p:nvPr/>
        </p:nvSpPr>
        <p:spPr>
          <a:xfrm>
            <a:off x="3238500" y="4438650"/>
            <a:ext cx="809625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lnSpc>
                <a:spcPct val="100000"/>
              </a:lnSpc>
              <a:buNone/>
              <a:def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三场景、四批次是否足够，是否需要增加第二类任务作为外部验证？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0DAA925-E772-42E7-A19A-C0EA6488B0F2}"/>
              </a:ext>
            </a:extLst>
          </p:cNvPr>
          <p:cNvSpPr>
            <a:spLocks noGrp="1"/>
          </p:cNvSpPr>
          <p:nvPr/>
        </p:nvSpPr>
        <p:spPr>
          <a:xfrm>
            <a:off x="400050" y="5829300"/>
            <a:ext cx="11391900" cy="514350"/>
          </a:xfrm>
          <a:prstGeom prst="rect">
            <a:avLst/>
          </a:prstGeom>
          <a:solidFill>
            <a:srgbClr val="111827"/>
          </a:solidFill>
          <a:ln w="0">
            <a:solidFill>
              <a:srgbClr val="111827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4361CA0-96A8-4448-BB9E-63BDD2F6AD82}"/>
              </a:ext>
            </a:extLst>
          </p:cNvPr>
          <p:cNvSpPr>
            <a:spLocks noGrp="1"/>
          </p:cNvSpPr>
          <p:nvPr/>
        </p:nvSpPr>
        <p:spPr>
          <a:xfrm>
            <a:off x="590550" y="5924550"/>
            <a:ext cx="110109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lnSpc>
                <a:spcPct val="100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当前最关键的不是增加复杂度，而是证明局部交战信用能跨掩码、资源约束和批次漂移保持稳定。</a:t>
            </a:r>
          </a:p>
        </p:txBody>
      </p:sp>
    </p:spTree>
    <p:extLst>
      <p:ext uri="{BB962C8B-B14F-4D97-AF65-F5344CB8AC3E}">
        <p14:creationId xmlns:p14="http://schemas.microsoft.com/office/powerpoint/2010/main" val="182059275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817</Words>
  <Application>Microsoft Office PowerPoint</Application>
  <DocSecurity>0</DocSecurity>
  <PresentationFormat>宽屏</PresentationFormat>
  <Paragraphs>242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Microsoft YaHei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自康 黄</cp:lastModifiedBy>
  <cp:revision>1</cp:revision>
  <dcterms:created xsi:type="dcterms:W3CDTF">2026-07-21T12:03:36Z</dcterms:created>
  <dcterms:modified xsi:type="dcterms:W3CDTF">2026-07-21T12:19:13Z</dcterms:modified>
</cp:coreProperties>
</file>