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30f05a89ed4252" /><Relationship Type="http://schemas.openxmlformats.org/officeDocument/2006/relationships/extended-properties" Target="/docProps/app.xml" Id="Rc71ebe2050554e05" /><Relationship Type="http://schemas.openxmlformats.org/officeDocument/2006/relationships/officeDocument" Target="/ppt/presentation.xml" Id="Rfb3dccb9f3d6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a1e2f838a14858"/>
  </p:sldMasterIdLst>
  <p:notesMasterIdLst>
    <p:notesMasterId xmlns:r="http://schemas.openxmlformats.org/officeDocument/2006/relationships" r:id="R5e24e804598b40aa"/>
  </p:notesMasterIdLst>
  <p:sldIdLst>
    <p:sldId xmlns:r="http://schemas.openxmlformats.org/officeDocument/2006/relationships" id="256" r:id="Rcb9c0c56441540d9"/>
    <p:sldId xmlns:r="http://schemas.openxmlformats.org/officeDocument/2006/relationships" id="257" r:id="R0f7a3cfeec5e40b4"/>
    <p:sldId xmlns:r="http://schemas.openxmlformats.org/officeDocument/2006/relationships" id="258" r:id="Rb2f9bdd44bea4417"/>
    <p:sldId xmlns:r="http://schemas.openxmlformats.org/officeDocument/2006/relationships" id="259" r:id="Rae69eda1e3c14880"/>
    <p:sldId xmlns:r="http://schemas.openxmlformats.org/officeDocument/2006/relationships" id="260" r:id="R3a545f58aebd470b"/>
    <p:sldId xmlns:r="http://schemas.openxmlformats.org/officeDocument/2006/relationships" id="261" r:id="Ra9ea7b72260e45d4"/>
    <p:sldId xmlns:r="http://schemas.openxmlformats.org/officeDocument/2006/relationships" id="262" r:id="R94cfd0e469fc4814"/>
    <p:sldId xmlns:r="http://schemas.openxmlformats.org/officeDocument/2006/relationships" id="263" r:id="R34c350e6d4964468"/>
    <p:sldId xmlns:r="http://schemas.openxmlformats.org/officeDocument/2006/relationships" id="264" r:id="Re68b06f82ebd4289"/>
    <p:sldId xmlns:r="http://schemas.openxmlformats.org/officeDocument/2006/relationships" id="265" r:id="Rd78a1a513ebb4ea2"/>
    <p:sldId xmlns:r="http://schemas.openxmlformats.org/officeDocument/2006/relationships" id="266" r:id="Rd63220af9a824035"/>
    <p:sldId xmlns:r="http://schemas.openxmlformats.org/officeDocument/2006/relationships" id="267" r:id="Rb5258f67c44144a9"/>
    <p:sldId xmlns:r="http://schemas.openxmlformats.org/officeDocument/2006/relationships" id="268" r:id="Ra1a7c439444e4e80"/>
    <p:sldId xmlns:r="http://schemas.openxmlformats.org/officeDocument/2006/relationships" id="269" r:id="Rb56ae9bfbf564762"/>
    <p:sldId xmlns:r="http://schemas.openxmlformats.org/officeDocument/2006/relationships" id="270" r:id="R7460be2488a648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448c6c98941d6" /><Relationship Type="http://schemas.openxmlformats.org/officeDocument/2006/relationships/slideMaster" Target="/ppt/slideMasters/slideMaster1.xml" Id="Rf5a1e2f838a14858" /><Relationship Type="http://schemas.openxmlformats.org/officeDocument/2006/relationships/notesMaster" Target="/ppt/notesMasters/notesMaster1.xml" Id="R5e24e804598b40aa" /><Relationship Type="http://schemas.openxmlformats.org/officeDocument/2006/relationships/presProps" Target="/ppt/presProps.xml" Id="R044fa6b352ee4258" /><Relationship Type="http://schemas.openxmlformats.org/officeDocument/2006/relationships/tableStyles" Target="/ppt/tableStyles.xml" Id="Rcbc99e4538874ce8" /><Relationship Type="http://schemas.openxmlformats.org/officeDocument/2006/relationships/slide" Target="/ppt/slides/slide1.xml" Id="Rcb9c0c56441540d9" /><Relationship Type="http://schemas.openxmlformats.org/officeDocument/2006/relationships/slide" Target="/ppt/slides/slide2.xml" Id="R0f7a3cfeec5e40b4" /><Relationship Type="http://schemas.openxmlformats.org/officeDocument/2006/relationships/slide" Target="/ppt/slides/slide3.xml" Id="Rb2f9bdd44bea4417" /><Relationship Type="http://schemas.openxmlformats.org/officeDocument/2006/relationships/slide" Target="/ppt/slides/slide4.xml" Id="Rae69eda1e3c14880" /><Relationship Type="http://schemas.openxmlformats.org/officeDocument/2006/relationships/slide" Target="/ppt/slides/slide5.xml" Id="R3a545f58aebd470b" /><Relationship Type="http://schemas.openxmlformats.org/officeDocument/2006/relationships/slide" Target="/ppt/slides/slide6.xml" Id="Ra9ea7b72260e45d4" /><Relationship Type="http://schemas.openxmlformats.org/officeDocument/2006/relationships/slide" Target="/ppt/slides/slide7.xml" Id="R94cfd0e469fc4814" /><Relationship Type="http://schemas.openxmlformats.org/officeDocument/2006/relationships/slide" Target="/ppt/slides/slide8.xml" Id="R34c350e6d4964468" /><Relationship Type="http://schemas.openxmlformats.org/officeDocument/2006/relationships/slide" Target="/ppt/slides/slide9.xml" Id="Re68b06f82ebd4289" /><Relationship Type="http://schemas.openxmlformats.org/officeDocument/2006/relationships/slide" Target="/ppt/slides/slide10.xml" Id="Rd78a1a513ebb4ea2" /><Relationship Type="http://schemas.openxmlformats.org/officeDocument/2006/relationships/slide" Target="/ppt/slides/slide11.xml" Id="Rd63220af9a824035" /><Relationship Type="http://schemas.openxmlformats.org/officeDocument/2006/relationships/slide" Target="/ppt/slides/slide12.xml" Id="Rb5258f67c44144a9" /><Relationship Type="http://schemas.openxmlformats.org/officeDocument/2006/relationships/slide" Target="/ppt/slides/slide13.xml" Id="Ra1a7c439444e4e80" /><Relationship Type="http://schemas.openxmlformats.org/officeDocument/2006/relationships/slide" Target="/ppt/slides/slide14.xml" Id="Rb56ae9bfbf564762" /><Relationship Type="http://schemas.openxmlformats.org/officeDocument/2006/relationships/slide" Target="/ppt/slides/slide15.xml" Id="R7460be2488a648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5a238d83e347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b6ba446cb34b1c" /><Relationship Type="http://schemas.openxmlformats.org/officeDocument/2006/relationships/notesMaster" Target="/ppt/notesMasters/notesMaster1.xml" Id="Rccd8e746e3ec4c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b820b6a92d491c" /><Relationship Type="http://schemas.openxmlformats.org/officeDocument/2006/relationships/notesMaster" Target="/ppt/notesMasters/notesMaster1.xml" Id="Rb0d9daa368934e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85e7e6ba547d3" /><Relationship Type="http://schemas.openxmlformats.org/officeDocument/2006/relationships/notesMaster" Target="/ppt/notesMasters/notesMaster1.xml" Id="R1f2c8c7fdc3d45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defb4ab914499d" /><Relationship Type="http://schemas.openxmlformats.org/officeDocument/2006/relationships/notesMaster" Target="/ppt/notesMasters/notesMaster1.xml" Id="R5e68a9618cf342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1808d387d14b12" /><Relationship Type="http://schemas.openxmlformats.org/officeDocument/2006/relationships/notesMaster" Target="/ppt/notesMasters/notesMaster1.xml" Id="R736350c485584c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ee7d23b16d4a6f" /><Relationship Type="http://schemas.openxmlformats.org/officeDocument/2006/relationships/notesMaster" Target="/ppt/notesMasters/notesMaster1.xml" Id="R6bac26322a174e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18ebe8baa14812" /><Relationship Type="http://schemas.openxmlformats.org/officeDocument/2006/relationships/notesMaster" Target="/ppt/notesMasters/notesMaster1.xml" Id="R2c8b34d4660747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4e2136e0e2469c" /><Relationship Type="http://schemas.openxmlformats.org/officeDocument/2006/relationships/notesMaster" Target="/ppt/notesMasters/notesMaster1.xml" Id="R65c8b472b69e4e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27b4ecb73c4963" /><Relationship Type="http://schemas.openxmlformats.org/officeDocument/2006/relationships/notesMaster" Target="/ppt/notesMasters/notesMaster1.xml" Id="Rf0af17bba77e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2900b37d1d94892" /><Relationship Type="http://schemas.openxmlformats.org/officeDocument/2006/relationships/notesMaster" Target="/ppt/notesMasters/notesMaster1.xml" Id="R55597566ef704d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7176dcddd43405e" /><Relationship Type="http://schemas.openxmlformats.org/officeDocument/2006/relationships/notesMaster" Target="/ppt/notesMasters/notesMaster1.xml" Id="Rf6619ba7f4d24e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0a1fe4169c4867" /><Relationship Type="http://schemas.openxmlformats.org/officeDocument/2006/relationships/notesMaster" Target="/ppt/notesMasters/notesMaster1.xml" Id="Raabfcf44e24d44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6cf70ff10f471a" /><Relationship Type="http://schemas.openxmlformats.org/officeDocument/2006/relationships/notesMaster" Target="/ppt/notesMasters/notesMaster1.xml" Id="R4382dfa6b5f845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80aa625d434c6b" /><Relationship Type="http://schemas.openxmlformats.org/officeDocument/2006/relationships/notesMaster" Target="/ppt/notesMasters/notesMaster1.xml" Id="R7cb8bddf1b1241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ef5055b4f3409d" /><Relationship Type="http://schemas.openxmlformats.org/officeDocument/2006/relationships/notesMaster" Target="/ppt/notesMasters/notesMaster1.xml" Id="R71367f98b54a48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开场强调：这不是普通 PPO 变体，而是把 trust region 的单调改进理论推进到合作 MARL，并自然对应异构防空资源。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把论文问题映射到防空编组：每类资源都是 agent，但动作和约束明显异质，参数共享并不自然。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 PPO/IPPO/MAPPO 的层级：PPO 稳定单智能体更新，IPPO 独立套用，MAPPO 引入集中价值函数，但论文指出仍缺少多智能体 trust region 的单调改进保证。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这是论文最重要的反例图：局部 trust region update 不等价于联合 trust region update。对应防空场景，雷达、火力、干扰各自朝局部收益更新，可能破坏总体拦截链路。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用这一页建立主线：分解引理给出理论结构，顺序更新把结构落成算法，再由 HATRPO/HAPPO 转为深度学习实现。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强调区别：论文不是做价值函数分解，而是在 advantage 层面构造分解。因此对异质资源更友好。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Algorithm 1 的本质是每轮选择一个资源更新顺序。对防空编组，可以理解为资源类型或平台按顺序协调。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这页帮听众判断选择：HATRPO 理论硬但成本高，HAPPO 更适合先落地。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作者并不否认 MAPPO 在 SMAC 上强，而是认为 SMAC 同质性强，不能充分展示 HATRPO/HAPPO 的优势。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 MuJoCo 的机器人部件理解成防空系统中的不同资源类型：它们共享目标，但策略和动作空间不同。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这页给出正式建模入口：如果能把目标函数设计成团队共享 reward，就能更直接承接论文理论。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训练时可以用 CTDE，执行时仍保持平台分散决策。HAPPO 的价值是把异质 actor 和顺序更新合到一个可实现框架里。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不要把论文算法直接等同于可部署系统。防空场景必须显式处理安全、资源和实时性约束。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这里转成你后续可执行的研究路线。不要直接从复杂仿真开始，先建一个能体现异质性和资源约束的简化环境。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收束到迁移价值：这篇论文真正可复用的是理论更新协议和异质 agent 设定。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85e7a7c9549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acac73e128468e" /><Relationship Type="http://schemas.openxmlformats.org/officeDocument/2006/relationships/slideLayout" Target="/ppt/slideLayouts/slideLayout1.xml" Id="Rb4337ac0704b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37ac0704b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60822330846a2" /><Relationship Type="http://schemas.openxmlformats.org/officeDocument/2006/relationships/notesSlide" Target="/ppt/notesSlides/notesSlide1.xml" Id="Ref64c6019eea42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7769ec0064423" /><Relationship Type="http://schemas.openxmlformats.org/officeDocument/2006/relationships/notesSlide" Target="/ppt/notesSlides/notesSlide2.xml" Id="Rf535743db7994e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988c0efa84b09" /><Relationship Type="http://schemas.openxmlformats.org/officeDocument/2006/relationships/notesSlide" Target="/ppt/notesSlides/notesSlide3.xml" Id="R89eabd3c98c142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fff4d1e10428e" /><Relationship Type="http://schemas.openxmlformats.org/officeDocument/2006/relationships/image" Target="/ppt/media/image.png" Id="Rfac739f6f316419e" /><Relationship Type="http://schemas.openxmlformats.org/officeDocument/2006/relationships/notesSlide" Target="/ppt/notesSlides/notesSlide4.xml" Id="R08c6ad72bdc749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49abdb9ab4524" /><Relationship Type="http://schemas.openxmlformats.org/officeDocument/2006/relationships/notesSlide" Target="/ppt/notesSlides/notesSlide5.xml" Id="R101731ef616c4c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7e9139d1d43ed" /><Relationship Type="http://schemas.openxmlformats.org/officeDocument/2006/relationships/notesSlide" Target="/ppt/notesSlides/notesSlide6.xml" Id="R7830dec6714145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fe0ed69b14853" /><Relationship Type="http://schemas.openxmlformats.org/officeDocument/2006/relationships/notesSlide" Target="/ppt/notesSlides/notesSlide7.xml" Id="R1f955bf5265d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5a768e26948ee" /><Relationship Type="http://schemas.openxmlformats.org/officeDocument/2006/relationships/notesSlide" Target="/ppt/notesSlides/notesSlide8.xml" Id="Rfbc21faeef3445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6dca0a63e4c0f" /><Relationship Type="http://schemas.openxmlformats.org/officeDocument/2006/relationships/image" Target="/ppt/media/image2.png" Id="Rb79a50693efd452e" /><Relationship Type="http://schemas.openxmlformats.org/officeDocument/2006/relationships/notesSlide" Target="/ppt/notesSlides/notesSlide9.xml" Id="Redba941890c348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4dee9da4e4d37" /><Relationship Type="http://schemas.openxmlformats.org/officeDocument/2006/relationships/image" Target="/ppt/media/image3.png" Id="R33646341a69b4cbf" /><Relationship Type="http://schemas.openxmlformats.org/officeDocument/2006/relationships/notesSlide" Target="/ppt/notesSlides/notesSlide10.xml" Id="Rf15578f8757246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548ec1f434b01" /><Relationship Type="http://schemas.openxmlformats.org/officeDocument/2006/relationships/notesSlide" Target="/ppt/notesSlides/notesSlide11.xml" Id="R2a7fbcb73b774a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f783b1ab046ce" /><Relationship Type="http://schemas.openxmlformats.org/officeDocument/2006/relationships/notesSlide" Target="/ppt/notesSlides/notesSlide12.xml" Id="Rf2d7f73f35804f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4067119004d6f" /><Relationship Type="http://schemas.openxmlformats.org/officeDocument/2006/relationships/notesSlide" Target="/ppt/notesSlides/notesSlide13.xml" Id="R2e3098f9e68343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0d9b5e824f58" /><Relationship Type="http://schemas.openxmlformats.org/officeDocument/2006/relationships/notesSlide" Target="/ppt/notesSlides/notesSlide14.xml" Id="R9caf95bec55f41e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345f2fc7346e7" /><Relationship Type="http://schemas.openxmlformats.org/officeDocument/2006/relationships/notesSlide" Target="/ppt/notesSlides/notesSlide15.xml" Id="Rdbf6fcb796ae48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6F3844-899E-4ECB-873E-4040A10B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HATRPO / HAPPO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B6EAA-A701-400A-BF9F-34988C5C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Trust Region MARL 的理论创新</a:t>
            </a:r>
          </a:p>
          <a:p xmlns:a="http://schemas.openxmlformats.org/drawingml/2006/main">
            <a:pPr algn="l">
              <a:defRPr sz="23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与防空编组启发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1BCC9-3781-4F81-B21B-CC4C7B2D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基于 ICLR 2022 论文精读整理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4B547A-C3CF-4F8A-A5F6-E0B69CF2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19150"/>
            <a:ext cx="371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F1F3F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00710-F893-4EC8-B3EF-D3CFCF65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3350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从单调改进理论</a:t>
            </a:r>
          </a:p>
          <a:p xmlns:a="http://schemas.openxmlformats.org/drawingml/2006/main">
            <a:pPr algn="ctr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到异质资源协同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35A41-2C47-4C17-A2AB-C3479DF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论文核心创新点</a:t>
            </a:r>
          </a:p>
          <a:p xmlns:a="http://schemas.openxmlformats.org/drawingml/2006/main">
            <a:pPr algn="ctr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背景知识</a:t>
            </a:r>
          </a:p>
          <a:p xmlns:a="http://schemas.openxmlformats.org/drawingml/2006/main">
            <a:pPr algn="ctr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防空编组场景映射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B251B-8804-4536-81F8-C2453402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14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E7EB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E336E-C0DB-43C2-B0F6-218B706B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MARL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64A6F-437B-4DDD-823D-7381262F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19700"/>
            <a:ext cx="1676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E7EB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4C079-55D4-4520-B23C-B4D057DC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28637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Trust Region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A057E-ED80-470A-8C3B-D8FD6CFA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E7EB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E5BA8-E9D9-4DFC-BE7D-ADAA4523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8637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Heterogeneous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A8739-0EEB-4FF1-9658-37536E38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79621-0E4E-4206-BB28-B743951A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76407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87B6D-9479-439F-AC32-F2965AF4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01 背景动机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523B1-6921-42EA-BEA4-DC13F1CC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防空编组天然是异质多智能体协同问题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2DC58-A023-4BC5-8E14-45BCBAF7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98780-2E30-4703-B35A-41C5D912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59258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0F420-5CF3-4E06-9364-EC10ACB5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140208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资源/Agent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CB233-A903-4A4D-9FB1-2F13AF83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380" y="1733550"/>
            <a:ext cx="24612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A7D63-15F1-4EE9-A598-D32CB6B3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" y="1828800"/>
            <a:ext cx="22707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典型动作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303761-257E-4799-88AB-567D4F4C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1733550"/>
            <a:ext cx="31851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4F33A-2FC7-4026-BC76-36200B1C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1828800"/>
            <a:ext cx="29946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协同难点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D4E4F-A09D-4EB8-9928-F6DC0F28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9830"/>
            <a:ext cx="159258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606BD9-33CE-4630-80E6-84731E01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5080"/>
            <a:ext cx="140208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预警雷达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D20AF-C971-40F7-B7F8-CAC35108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380" y="2449830"/>
            <a:ext cx="24612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68804-8285-454D-B989-48193E16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" y="2545080"/>
            <a:ext cx="22707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搜索、跟踪、功率/波束调度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5DC8F-9319-483B-9944-F6EB93AE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2449830"/>
            <a:ext cx="31851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4430C1-9BDE-4068-AB07-28837A1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2545080"/>
            <a:ext cx="29946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信息贡献间接，动作不直接杀伤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63D97-B2FF-43AE-B169-0439EBC1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6110"/>
            <a:ext cx="159258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A5DF65-391F-492A-A513-FF59F8E9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1360"/>
            <a:ext cx="140208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火控雷达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D08F9C-47D6-4D2D-92EF-96FEF4D4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380" y="3166110"/>
            <a:ext cx="24612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F4E9E1-6627-432A-8742-B0F91A7A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" y="3261360"/>
            <a:ext cx="22707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目标指示、照射、通道分配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CEEAE9-D520-433D-9F33-C2A2C1D5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3166110"/>
            <a:ext cx="31851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3A828-5753-4A13-BC1C-169C4128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3261360"/>
            <a:ext cx="29946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与拦截器强耦合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E36DBB-57E9-483A-A3D4-7C414455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2390"/>
            <a:ext cx="159258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770D04-4ACB-4BA3-BA69-FE653C0E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77640"/>
            <a:ext cx="140208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拦截武器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8B7311-29E3-43F2-A2C3-DCF249BE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380" y="3882390"/>
            <a:ext cx="24612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67CAB-49A4-40BD-8713-97E5A687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" y="3977640"/>
            <a:ext cx="22707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发射、目标选择、时机控制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B36545-262B-47CE-AE64-52C451F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3882390"/>
            <a:ext cx="31851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E5D27-9280-4209-9EC4-0DD7FF5E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3977640"/>
            <a:ext cx="29946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资源不可逆，约束强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45E92-7969-43BD-8F71-658802EF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8670"/>
            <a:ext cx="159258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42502-B45F-471E-B25C-14EBE72A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3920"/>
            <a:ext cx="140208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电子干扰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6CB77-F672-41BF-918E-490C5850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380" y="4598670"/>
            <a:ext cx="24612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D83CD-1AE9-486D-98BB-1C6756AD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630" y="4693920"/>
            <a:ext cx="22707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压制、欺骗、频段选择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FED1E3-7A36-41C4-ACD6-0032FEA7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9640" y="4598670"/>
            <a:ext cx="3185160" cy="716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AF27C1-E139-4D28-8B39-08E570B1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4693920"/>
            <a:ext cx="2994660" cy="544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效果不确定，易与探测冲突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A4B24-854A-4029-B855-EA93EB67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66900"/>
            <a:ext cx="27813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2C784C-8EA4-4268-9E55-C1226156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为什么不是简单参数共享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D714DF-5477-4DAD-8C2C-FED19EBB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8605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动作空间不同</a:t>
            </a:r>
          </a:p>
          <a:p xmlns:a="http://schemas.openxmlformats.org/drawingml/2006/main">
            <a:pPr algn="l">
              <a:def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观测信息不同</a:t>
            </a:r>
          </a:p>
          <a:p xmlns:a="http://schemas.openxmlformats.org/drawingml/2006/main">
            <a:pPr algn="l">
              <a:def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资源约束不同</a:t>
            </a:r>
          </a:p>
          <a:p xmlns:a="http://schemas.openxmlformats.org/drawingml/2006/main">
            <a:pPr algn="l">
              <a:def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收益贡献路径不同</a:t>
            </a:r>
          </a:p>
          <a:p xmlns:a="http://schemas.openxmlformats.org/drawingml/2006/main">
            <a:pPr algn="l">
              <a:def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同时更新可能互相抵消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836076-1BF4-47AA-AB09-DFC2A90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4D403F-42D5-4CAA-8A93-3180E345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7801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6CDE3-26FE-4657-9B53-5EF18BDA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02 背景知识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CB5D0-99D4-422D-86D5-71496467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PPO 到 MAPPO 的关键假设没有解决联合单调改进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09676-811B-4602-8BF9-C8F77721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C02843-101F-4F5F-B46D-DB729705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55746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4554E-E29A-4278-99BB-C5615D28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rPr>
              <a:t>PPO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D4B57-AC02-4602-A186-AD9B3D63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225266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actor-critic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clip 限制单体策略更新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A09BE-3662-4B2E-AE98-02A8BB65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28479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49517C-DD67-4785-84FA-388487A2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2076450"/>
            <a:ext cx="255746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305A2-A303-49A1-A865-10FD8CAD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247900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IPPO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50267-A0C4-480F-9F49-1FF32ACA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705100"/>
            <a:ext cx="225266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每个 agent 独立 PPO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把其他 agent 当环境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1E0D1-107D-47B2-9FF2-35C5DC16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479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520223-975F-40FD-9271-89746751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76450"/>
            <a:ext cx="255746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76E82-8E08-4359-8123-0FB51A83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47900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MAPPO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C2C92-D644-4DFF-892B-DB63F4A8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225266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集中 critic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分散 actor 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6B2F2-536D-48EF-AD4B-C2611CB9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28479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CB553-CEFD-4315-8CAD-C1D935FC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638" y="2076450"/>
            <a:ext cx="2557463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55D93-C861-48EC-898C-938C3DDF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247900"/>
            <a:ext cx="22526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3A8B3-9886-4E9A-AB2F-4C49F98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705100"/>
            <a:ext cx="2252663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局部变好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不保证联合策略变好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BF0C1-E619-429E-B771-85113431F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论文关注点不是 MAPPO 能不能跑得好，而是它是否继承 trust region 的理论保证。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9CE715-C8DA-4685-A5A4-F712E6FF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7E991-E870-4BD7-A68C-04518E4E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55808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3F9CF-D31B-4224-8251-86EDE0A9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03 核心瓶颈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095F8-B26C-4CCC-B618-F18E640A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同时局部更新可能让联合回报下降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25083-B2C5-4CBE-9B46-A2D08982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739f6f316419e"/>
          <a:stretch xmlns:a="http://schemas.openxmlformats.org/drawingml/2006/main"/>
        </p:blipFill>
        <p:spPr>
          <a:xfrm xmlns:a="http://schemas.openxmlformats.org/drawingml/2006/main">
            <a:off x="1463488" y="1771650"/>
            <a:ext cx="2864224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25D27-7506-4520-B56F-CF3E1C2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E9BDC9-07BC-43F0-9301-226BDEB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52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反例直觉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064F9-4618-49F9-8002-A14C03C9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4191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每个 agent 的一维方向看似提升</a:t>
            </a:r>
          </a:p>
          <a:p xmlns:a="http://schemas.openxmlformats.org/drawingml/2006/main">
            <a:pPr algn="l">
              <a:def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合成的二维联合方向可能变差</a:t>
            </a:r>
          </a:p>
          <a:p xmlns:a="http://schemas.openxmlformats.org/drawingml/2006/main">
            <a:pPr algn="l">
              <a:def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参数不共享也不能自动获得保证</a:t>
            </a:r>
          </a:p>
          <a:p xmlns:a="http://schemas.openxmlformats.org/drawingml/2006/main">
            <a:pPr algn="l">
              <a:def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需要改变多 agent 更新协议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DBBD2-F5E3-4F6D-8026-1F0F9112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Source: paper Fig. 1, p.4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B4272-6745-496C-92C9-62C7016C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262509-E52B-4A55-B8DC-5F5D6D92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09707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E088A3-7667-44F5-8FEB-7F27C9D5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04 核心创新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D037F-0DA9-429D-BDA2-F97DFBAC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论文创新由一个分解引理和一个顺序更新协议支撑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59F24-0E4C-4975-A089-D89A22BC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AA5FF-32B5-4FA0-8E50-E9D7F412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40B51-E396-4C52-91CE-61716857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Lemma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70650-374B-4E81-8461-354EB71F0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联合 advantage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拆成顺序局部 advantage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2D706-F008-44B2-88EC-B7DD64E3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7336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5E176-2648-4FE4-8493-963820F2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86690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C7F6A-8B5A-4885-A8D2-3DC68FF9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3835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F6FEB"/>
                </a:solidFill>
                <a:latin typeface="Microsoft YaHei"/>
                <a:ea typeface="Microsoft YaHei"/>
                <a:cs typeface="Microsoft YaHei"/>
              </a:rPr>
              <a:t>Algorithm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079D60-BF77-44D7-97C2-1461EEF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9555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随机排列 agent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逐个更新策略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7B04D-F478-41EF-B1B8-9890436A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336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D78D2-9402-4E68-ADBC-7153FE99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6690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FCB564-AACE-4869-A5F9-06335E39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3835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Theorem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3C255-BB54-4192-9BC9-C9440EBF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9555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每轮联合策略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单调不降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4420A-9A3C-45D6-AB14-60501920E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27336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B9DDE-AF08-4A64-BF8B-6BBC496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186690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F5EAF-C766-4C4B-AA38-FC034C90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3835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HATRPO/HAPPO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40E55-44DF-43A4-8E6A-FA082DA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49555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深度 MARL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可实现版本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03320-E078-4EE7-8761-D174AB2A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625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创新点不在“加一个模块”，而在重新定义多智能体策略更新的顺序和目标。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9836D9-634F-4280-9A4E-310AE1C9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556976-3A1D-4A41-8B23-14D9DBE2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48580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A36E8F-7648-4A9B-ABF3-7D2300C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05 理论层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5986D-0539-4E51-BC5D-FCAD36DE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Advantage decomposition 不要求联合 Q 函数可分解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13771-6A9C-4298-B114-B742B385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837FA-C748-480F-905B-D995CCCF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10363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99269-D7D0-4E48-AFBD-5FC379F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24100"/>
            <a:ext cx="975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0F19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1">
                <a:solidFill>
                  <a:srgbClr val="0B0F19"/>
                </a:solidFill>
                <a:latin typeface="Cambria Math"/>
                <a:ea typeface="Cambria Math"/>
                <a:cs typeface="Cambria Math"/>
              </a:rPr>
              <a:t>A^{i1:m}_π(s, a_{i1:m}) = Σ_j A^{ij}_π(s, a_{i1:j-1}, a_{ij})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F0BD31-840D-4002-8DD8-FD739C3C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3000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0AB95-2B70-4F82-92CE-54517578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29050"/>
            <a:ext cx="3000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CE6C2-E249-4F15-A04A-8AA2E44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30003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23D52-7769-44F1-85B7-E925031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不是 VDN/QMIX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826C06-D964-4073-98B1-090D95A0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14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不假设 Q 可加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而是 advantage 望远镜分解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A626F-9106-4E9A-8592-16B3C90C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顺序是内生的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C481-31CC-44E2-B83E-6183F513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14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第 j 个 agent 的优势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依赖前序 agent 动作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9C1B8-2247-4853-8405-A2E670E0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95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适合异质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74E5F-A8EF-4C31-B749-381967BB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148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不要求动作空间</a:t>
            </a:r>
          </a:p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和参数完全同质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06184-9B97-4697-A5D1-C0BF3525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3BEDC-546C-4B78-B3AE-1659A987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570251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DDDF47-6847-4288-A476-B74816F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06 算法协议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441BB-26F3-4CD8-85F0-51434C72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顺序更新把联合策略改进拆成可保证的局部改进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46DB8-E476-4E64-8218-309607AB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9FC9C-79AC-4A10-8FC1-2B744FB5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566988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F64BE-1AA3-482A-9C78-CB849822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采样轨迹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03DE8-9FDF-45B8-A0B1-720594FA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226218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估计 joint advantage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和状态分布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86F945-5B08-4CAD-B802-BB0660E6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86702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3992E-2D9E-404B-9066-71FB1FD7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924050"/>
            <a:ext cx="2566988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8CD4F-37D6-47A2-804A-1F5032F9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0955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随机排序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AE06E-D400-4F68-AEDF-F70C11A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552700"/>
            <a:ext cx="226218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抽取 agent permutation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避免固定顺序偏置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DC321-9E86-407B-ADBE-94513047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6702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06CDD-F083-4A45-8A70-100725D0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24050"/>
            <a:ext cx="2566988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3A676-5B76-4917-AD3F-C62FA23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逐个更新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C9283-E6DC-4094-8C55-EC2D763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52700"/>
            <a:ext cx="226218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后续 agent 条件在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前序 agent 新策略上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DA88F-C496-4A49-B018-DFD279DB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286702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1ED77-7C8A-4BD8-A961-D768114A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1924050"/>
            <a:ext cx="2566988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4538B-62E3-461E-919B-E2B696F6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0955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合并策略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92C20-A1A3-4D5E-B319-2BB37B4C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552700"/>
            <a:ext cx="2262188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形成 π_{k+1}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保证 J 不下降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C19917-40CE-40F0-894D-C194480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防空类比：先更新探测/跟踪资源，再把新态势条件传给火力/干扰策略，而非全系统同时乱动。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84B79-2EF9-487B-B683-2AAD415E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33E386-C56C-41BA-888F-905B949B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69510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4C9B5-8998-4BE6-A96A-C716DF4B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07 实用算法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822E2-A432-4F1B-AE1D-FB40CC45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HATRPO 更贴近理论，HAPPO 更适合作工程基线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9CCB0-BA3D-4560-A458-E6AA80FE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B95FE-D3B7-4DAB-89CB-C54BFBEA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0955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3016D-5536-49A0-8669-2F482C0D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9050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F4BB5-D0C8-4A41-A41B-62286275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D3802-15BE-4B78-BF1C-D809749B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0500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HATRPO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952C6-DCBD-492B-B4E8-DF7F11D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0975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D199EC-11A4-42BB-AFA1-D803A656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HAPPO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289BC3-4898-40C2-B337-18AEA60E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2690"/>
            <a:ext cx="20955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CB8AC-CED2-478C-B0E8-162FE1BA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7940"/>
            <a:ext cx="19050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优化思想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4E1A71-71AA-4165-88C9-357CBB4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7269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0B8D9-B5FA-4CA5-8FE7-95064014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6794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TRPO 式 KL 信任域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51B606-4DAE-40F9-8151-71E18430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7269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865E3-882E-47E5-B7B0-19EFE157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6794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PPO 式 clip objective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D9629-1A27-4DEE-AB53-2B81B922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35630"/>
            <a:ext cx="20955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5DCCAE-D900-4D15-854B-0F02CD5C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0880"/>
            <a:ext cx="19050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计算代价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CD71A-EAD4-4D96-A64E-E54F436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3563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D9576-47C2-4748-B1BB-9787C90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3088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二阶近似/共轭梯度，成本高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2B163-6164-4873-895A-FDFEF5E2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3563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6CE49-0AC9-471A-9528-D7191116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088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一阶 Adam 更新，易实现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054D0E-E584-4AEF-8F59-FF297F3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8570"/>
            <a:ext cx="20955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5FC3DA-C2F4-48A2-BE46-0C1AF6C0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93820"/>
            <a:ext cx="19050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理论贴合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92AA06-B053-46A4-BE1E-0E584843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857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BD6B89-7D9F-455C-91AC-FEAD7AF2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9382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更接近 Algorithm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CBD731-8711-445E-92FC-05FB351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9857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45445-6554-4033-9497-FF9A30FD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9382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保留顺序更新思想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3D6479-BF3D-44BC-95F7-BBF0123B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61510"/>
            <a:ext cx="20955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A6CC13-026D-4005-B5C0-9739B735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6760"/>
            <a:ext cx="19050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防空先验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423B0A-70B8-4E70-B746-CAD68CBE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6151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DB222-E224-4B38-AD66-8E660D26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5676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适合高可靠验证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EA58E5-C123-44E3-9BF2-A68CC02D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61510"/>
            <a:ext cx="4191000" cy="6629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21F31-0481-4B4E-8F1E-52800E42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6760"/>
            <a:ext cx="4000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适合快速原型与大规模仿真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1D133E-7E00-4B70-A5A0-DBC789D4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626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工程路线建议：先用 MAPPO/IPPO 建基线，再以 HAPPO 作为异质资源协同主线。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D65943-A037-42EA-81C0-01C27E3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C056DC-3D70-483C-936F-DEE9DB92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3828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461A73-72FC-46CF-8D83-38C8D69B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08 实验证据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EDDD0-B4FD-4AAE-807C-96CD77D9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SMAC 结果说明：同质任务会掩盖异质算法优势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83143-DA36-4482-9986-3138F9E3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9a50693efd452e"/>
          <a:stretch xmlns:a="http://schemas.openxmlformats.org/drawingml/2006/main"/>
        </p:blipFill>
        <p:spPr>
          <a:xfrm xmlns:a="http://schemas.openxmlformats.org/drawingml/2006/main">
            <a:off x="838200" y="1857491"/>
            <a:ext cx="8191500" cy="224766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1BDB0-EC59-4F14-8963-94DBADEC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88595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49DB7-1871-4556-8C53-5783BAB5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38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读图要点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E069A-A8A9-4639-96CE-0918A6DC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95550"/>
            <a:ext cx="1428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最终均可 100% 胜率</a:t>
            </a:r>
          </a:p>
          <a:p xmlns:a="http://schemas.openxmlformats.org/drawingml/2006/main">
            <a:pPr algn="l">
              <a:defRPr sz="12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SMAC 区分度不足</a:t>
            </a:r>
          </a:p>
          <a:p xmlns:a="http://schemas.openxmlformats.org/drawingml/2006/main">
            <a:pPr algn="l">
              <a:defRPr sz="12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参数共享在同质单位中有效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41071-1BD7-495F-A273-03F75ED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Source: paper Fig. 2, p.8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CF8FD-E0E2-4D56-AE9A-12928080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567A4-F612-473B-8887-AB31FD7D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024011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F06C2-99E9-4984-82A3-31E0AC1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09 实验证据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F63D8-F8BB-47B1-BDDE-DFC4001E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MuJoCo 结果更接近异构资源：agent 越多差距越明显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9480A-3260-41EB-9F1C-22B036AA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46341a69b4cbf"/>
          <a:stretch xmlns:a="http://schemas.openxmlformats.org/drawingml/2006/main"/>
        </p:blipFill>
        <p:spPr>
          <a:xfrm xmlns:a="http://schemas.openxmlformats.org/drawingml/2006/main">
            <a:off x="2203032" y="1657350"/>
            <a:ext cx="3556836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C234C-F973-4B4B-BF10-AC805408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3143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819C6-CA6A-4BB1-858E-29C832B6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DAC15-3F4D-43D3-8A89-C913E057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667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多数任务领先</a:t>
            </a:r>
          </a:p>
          <a:p xmlns:a="http://schemas.openxmlformats.org/drawingml/2006/main">
            <a:pPr algn="l">
              <a:def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身体部件类比异质资源</a:t>
            </a:r>
          </a:p>
          <a:p xmlns:a="http://schemas.openxmlformats.org/drawingml/2006/main">
            <a:pPr algn="l">
              <a:def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agent 越多优势越明显</a:t>
            </a:r>
          </a:p>
          <a:p xmlns:a="http://schemas.openxmlformats.org/drawingml/2006/main">
            <a:pPr algn="l">
              <a:def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HATRPO 通常强于 HAPPO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5F4FB-BAB3-45B7-A759-AD8EB0B3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864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Source: paper Fig. 3, p.9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ACD46B-8F9E-4083-834A-ED2A261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C0BE69-9D61-46F9-A15E-5BFE00D1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16120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5CD32-4C43-4C8F-A95C-7501EC1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10 场景映射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99AD78-DBD2-4009-BB26-11708708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防空编组可建模为 fully cooperative Markov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C8595-213B-41EF-87CE-457E8C47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5A19E-2A09-4E48-9CFD-BAFD8567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94081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00E9E-A6FA-443E-845A-4F772E7D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75031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论文对象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23787-B86D-4926-AB62-E66F8F84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64" y="1676400"/>
            <a:ext cx="4528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0F396-21BE-453D-B176-B831BB0B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14" y="1771650"/>
            <a:ext cx="433806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防空编组解释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CB948-1CC4-4E52-A0AA-4FE0A353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1676400"/>
            <a:ext cx="43129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67935F-4CE7-4264-86DF-11B0D23A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771650"/>
            <a:ext cx="41224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建模提示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98FAB-3078-4214-98E4-CCEE7E56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194081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8BCD7-218A-449E-ACED-F7A2B3C5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175031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state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02EAB-F6F8-4501-A93C-92F8A1A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64" y="2419350"/>
            <a:ext cx="4528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372B2-2739-4543-B196-ACEAAD77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14" y="2514600"/>
            <a:ext cx="433806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空情态势、资源状态、链路状态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7C09A-6872-4226-B0BD-E4212F78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2419350"/>
            <a:ext cx="43129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08CB8-36FA-4AC1-9F8F-0758ECBA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514600"/>
            <a:ext cx="41224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可含全局态势或局部观测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27FBC-EFBE-4C19-B44E-835230FA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194081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B167E-BDF1-4CE6-A139-3BC7447B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75031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agent 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9AC822-99D3-453F-B235-DACB56A7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64" y="3162300"/>
            <a:ext cx="4528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F0209-6BB5-4DD5-B65A-DA2A95E2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14" y="3257550"/>
            <a:ext cx="433806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雷达、拦截单元、干扰单元、指挥节点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29714-D100-456E-97EB-2A85411F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3162300"/>
            <a:ext cx="43129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C3F790-1935-4607-9875-FCD0A582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57550"/>
            <a:ext cx="41224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按资源类型或平台建模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10A47-BCF4-4944-9798-09FDF9B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94081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3D6A04-6F29-450B-B1FE-557C6E1C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75031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action a_i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4F4474-73CB-4A20-B65A-1C2CD3AB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64" y="3905250"/>
            <a:ext cx="4528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58693E-C249-434A-80D4-E88EAA73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14" y="4000500"/>
            <a:ext cx="433806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搜索、分配、发射、干扰、通信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DEC32-75A2-43D6-AAFA-2F522677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3905250"/>
            <a:ext cx="43129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F19B52-1CDD-4C38-9CF6-C81B13A8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000500"/>
            <a:ext cx="41224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允许异质动作空间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374416-9C50-4FB5-AC59-85E00484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48200"/>
            <a:ext cx="1940814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A3F75F-DA0E-4DA3-8539-8DF8498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43450"/>
            <a:ext cx="1750314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reward 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DC93A-C6F0-48B6-BCF4-2A764D4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5664" y="4648200"/>
            <a:ext cx="4528566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00C99-F8FB-4D9A-9446-B351B96F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0914" y="4743450"/>
            <a:ext cx="433806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拦截成功、威胁降低、消耗惩罚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117324-9DC7-47D5-AE63-2CA9589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4230" y="4648200"/>
            <a:ext cx="431292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4067CD-3752-4736-A29A-7421DC3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4743450"/>
            <a:ext cx="412242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团队共享收益更贴合论文假设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0FF17C-E92D-4656-BC18-7891C402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859DC-64A5-4029-AC81-D1A89EA0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966959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72C1E6-8C92-4FC1-B59F-10B8D9B4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11 应用架构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3C10F-0FAB-4A72-9552-0B7DE228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HAPPO 可作为异构防空资源协同训练框架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DF4B8-F027-4270-BBEF-5BC60DED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E6172-A7B5-4649-B2B5-DDBD0350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66900"/>
            <a:ext cx="208026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9B835-01A3-46DA-BE89-69BFE8F9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7754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态势输入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3CF56-6E8F-40EF-8286-91FC58C6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7754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目标轨迹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威胁等级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资源余量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E424D-5CA3-46C4-8343-430C04FC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235" y="27717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13FA3-DC3B-4759-9660-053A49EE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160" y="1866900"/>
            <a:ext cx="208026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54073-3498-43AF-B3D5-FB906104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038350"/>
            <a:ext cx="17754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联合 critic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49D2B8-2586-42E7-8138-CE74D35B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560" y="2495550"/>
            <a:ext cx="17754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训练时读取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全局态势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64359-EFB7-453A-A565-5A2511BE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27717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9AFC42-1EBB-46F8-9609-ED5AFB1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5870" y="1866900"/>
            <a:ext cx="208026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EFE8C-0B5D-407E-90D0-86975898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038350"/>
            <a:ext cx="17754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异质 actor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64417-C3A0-4749-B71F-9F06076D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2495550"/>
            <a:ext cx="17754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雷达/火力/干扰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各自策略网络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511AE-CF51-42F5-BE52-055356E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5655" y="27717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477A65-7F9C-487C-B930-344CD246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1866900"/>
            <a:ext cx="208026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7D6E5-EAD8-408B-89F5-56A8FCA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038350"/>
            <a:ext cx="17754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顺序更新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B49E8D-42A2-407A-A24C-6EE18B8E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495550"/>
            <a:ext cx="17754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按资源排列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逐个优化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6EC9FE-253B-44D7-B971-487E875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7365" y="277177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33152-A616-406D-B5A7-74E6C6CD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9290" y="1866900"/>
            <a:ext cx="208026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42AB56-72D7-4275-AC65-2FCD7138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038350"/>
            <a:ext cx="177546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分散执行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334C64-DD69-40D0-97EA-5274C391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1690" y="2495550"/>
            <a:ext cx="177546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各平台按本地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观测输出动作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FD321E-EB12-423D-B30F-02ED7EBC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关键不是让所有平台学同一个策略，而是让不同资源在统一团队收益下学会互补。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C84AF3-1E8B-4119-9453-F32B7658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4A874C-F7EB-45B8-A989-52588E72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75184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01540-2CE8-487F-9FB9-D19D2B14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12 工程边界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CCF49-A235-4DAB-B6B3-59FAD814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落地时要补上论文没有覆盖的硬约束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453F-D21E-4C7A-A936-6C0C2AC2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C5DD8-452C-491E-8FA3-2D2EBFB9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2110740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E02AF-A335-4A54-A5CD-FD5CA7F3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192024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缺口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4E9B4-0525-42DD-9074-F616B0D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1733550"/>
            <a:ext cx="4010406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C896C-9F4F-4234-89AA-7EEE868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828800"/>
            <a:ext cx="3819906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防空中为什么重要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A1FE3-5732-40FD-A89A-86FD4E1D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733550"/>
            <a:ext cx="4432554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BE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30928-355C-41A9-A2A4-971D9560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46" y="1828800"/>
            <a:ext cx="4242054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建议处理方式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81DA1C-0481-48E7-90DE-C5D887D1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1730"/>
            <a:ext cx="2110740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D4DFE-930F-4AE2-ADD6-A4E2FAF1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6980"/>
            <a:ext cx="192024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安全约束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89B36-425A-4DFC-8808-FF204E60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2411730"/>
            <a:ext cx="4010406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F2020-C3A7-4323-AE8F-715706BE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2506980"/>
            <a:ext cx="3819906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误击/漏击代价极高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1A5946-681B-4E80-A878-1FBC8EB2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2411730"/>
            <a:ext cx="4432554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699F1-8353-4F33-AC7A-C8D83B80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46" y="2506980"/>
            <a:ext cx="4242054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约束 RL 或规则屏蔽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97872-F371-4374-982D-9028F117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9910"/>
            <a:ext cx="2110740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AAA8B3-6185-44D5-830D-E11FDA88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5160"/>
            <a:ext cx="192024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资源不可逆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089BB-A13A-4905-8BA2-31007570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089910"/>
            <a:ext cx="4010406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09850-1895-4E88-8828-089F6FF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185160"/>
            <a:ext cx="3819906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导弹发射后无法回滚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465A1-5F0B-4484-89DE-A84A47C5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089910"/>
            <a:ext cx="4432554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7DB51-5CBB-4B35-A3FD-6B24ABD0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46" y="3185160"/>
            <a:ext cx="4242054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动作 masking 与预算状态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66780-7BCC-47E2-A24A-A0FB39AB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68090"/>
            <a:ext cx="2110740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ED695F-2139-4BD5-8793-86AB3156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3340"/>
            <a:ext cx="192024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通信受限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189FBC-412B-4990-ADA9-A095E0AF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3768090"/>
            <a:ext cx="4010406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48EE63-3415-4836-B7E3-691210A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3863340"/>
            <a:ext cx="3819906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节点间信息不同步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6ABC93-BF43-498B-845C-858AC1F4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3768090"/>
            <a:ext cx="4432554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58AC40-D550-4EC5-92FC-74068F1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46" y="3863340"/>
            <a:ext cx="4242054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部分可观测训练与鲁棒策略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FE9F9C-11F2-4246-B8E3-B91C5E3D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6270"/>
            <a:ext cx="2110740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3BB533-6EAC-439E-8604-2FD4259A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1520"/>
            <a:ext cx="1920240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实时性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B6062-FE98-4366-844F-93A9B2A7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4446270"/>
            <a:ext cx="4010406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F3FF9-F93F-4F21-A42B-38D0120C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4541520"/>
            <a:ext cx="3819906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决策窗口短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950B48-38F5-48D0-BE8A-3A76AA87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4446270"/>
            <a:ext cx="4432554" cy="678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36DB92-2DA6-4D4C-88F4-430A903A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5546" y="4541520"/>
            <a:ext cx="4242054" cy="5067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离线训练 + 在线轻量推理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F817F2-FCAB-41B9-B08C-85ED84AF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论文提供协同学习骨架，工程系统仍需要安全层、约束层和规则层共同托底。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691F37-B8E0-4798-B296-825C71B1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0F4C2F-D8F0-4458-B74D-9CE2C0E2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960872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DEE750-15A4-4671-BA64-6727A975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13 研究设计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874B5-4847-441E-A7FD-011A71FC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建议实验路线：从可控仿真到异构协同验证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83F3CA-5EAF-49C3-A8AB-CC7AE912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0BEE3-D5F5-4EC9-92BE-7E4E646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6215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73E02-05C1-489D-8CB0-5725CAEC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阶段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F706A-117F-4425-AEC5-D9907463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构建简化空情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目标-资源-奖励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E2407-AEB4-4D94-BE51-EAE963EF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82892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3E1D5-DB1C-4C75-BD6D-0361ABF2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288" y="196215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6C9A4-77ED-4409-872B-88F3B232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1336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AC82A-0C92-4E7F-9D1D-BF00DA62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59080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IPPO/MAPPO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作为强基线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2782B-A5EA-4D4B-B263-E10D8E85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2892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9F857-7EB8-4614-AF66-2546DAF2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6215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EF98C-49A8-4A1E-B69C-BA2A92BF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336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AE0B4-62A4-472F-A423-9A938AA0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9080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引入 HAPPO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异质 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E8578-AB58-4821-99C0-6903E7E6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2828925"/>
            <a:ext cx="152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2E2FB8-D206-4549-8663-13ED2108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163" y="1962150"/>
            <a:ext cx="2566988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6D76A-028C-466D-8443-01F33B88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133600"/>
            <a:ext cx="22621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阶段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EB19C-2451-47ED-8519-D18EC039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2563" y="2590800"/>
            <a:ext cx="2262188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加入约束</a:t>
            </a:r>
          </a:p>
          <a:p xmlns:a="http://schemas.openxmlformats.org/drawingml/2006/main">
            <a:pPr algn="ctr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安全与资源预算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0A64E8-FFB5-4604-B167-2E1ABCAC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评价指标：拦截成功率、资源消耗、响应时间、协同冲突率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• 关键消融：参数共享/非共享、固定顺序/随机顺序、无约束/有约束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2DEF4D-D37B-42F0-84E6-4F3A85DB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FBFC8-8B12-46E2-ACAD-75CA7C1B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14425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74A2D2-1FC2-412C-8D37-CDAB69BA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14 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427E3-0C94-4E0F-9BF8-04589BB4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结论：这篇论文最值得迁移的是更新协议，而不只是算法名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084A0-0EB4-49DD-95C1-03FA8605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11125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3C415-833C-491D-B504-C86F052A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2923F-ABC6-4AB7-8488-F4622D36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39B8F-6C66-4B45-BF23-34124855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AEB4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69341-F3D1-484F-BBF6-2D9EECE2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33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理论贡献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FE530-1E82-4B4C-AF1B-8AED0C74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优势分解 + 顺序更新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把 TRPO 单调改进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推广到合作 MARL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9511B-1458-45FE-97D3-8519D4B4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算法价值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0BC8F1-FE64-4887-BE0B-87F11523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HATRPO 理论更硬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HAPPO 更适合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大规模工程原型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8E0FF-6F89-4DE5-9E11-7C91134A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336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防空启发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8812C-293C-44C3-9B42-A2B7401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异质资源不宜强行同质化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应围绕团队 reward</a:t>
            </a:r>
          </a:p>
          <a:p xmlns:a="http://schemas.openxmlformats.org/drawingml/2006/main">
            <a:pPr algn="l">
              <a:def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设计互补策略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14A96F-38AE-40FE-8998-5ADF54E8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91125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B0F19"/>
                </a:solidFill>
                <a:latin typeface="Microsoft YaHei"/>
                <a:ea typeface="Microsoft YaHei"/>
                <a:cs typeface="Microsoft YaHei"/>
              </a:rPr>
              <a:t>下一步：构建异构防空 MARL 仿真环境，用 MAPPO/HAPPO 做可解释消融。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B0B51-4E2D-44FA-8FF8-28946373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Trust Region MARL | HATRPO/HAPPO | 防空编组映射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1E603B-7EAA-4910-9AB0-C471BB82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60728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2026-07-07T14:30:51.5850000Z</dcterms:created>
  <dcterms:modified xsi:type="dcterms:W3CDTF">2026-07-07T14:30:51.5850000Z</dcterms:modified>
</coreProperties>
</file>