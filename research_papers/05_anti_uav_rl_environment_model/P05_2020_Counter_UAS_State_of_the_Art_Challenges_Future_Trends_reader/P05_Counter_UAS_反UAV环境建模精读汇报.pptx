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0641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本次汇报不把这篇综述当成强化学习算法论文，而是把它当作环境需求说明书。重点回答：环境里有哪些实体、能力、失效条件和安全约束，以及如何映射到异构多智能体模型。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先明确论文定位。它没有提出新的强化学习算法，也没有统一的概率模型。它更像一个工程技术目录，适合用来确定环境实体、能力边界和约束。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论文的威胁分类提醒我们：防御目标不是“击落数量最大”，而是保护对象风险最小。因而威胁度应该随时间和观测更新，而不是预先固定。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论文只显式区分探测与处置，但实际闭环还包含跟踪、识别、威胁评估和资源分配。后续强化学习环境应保留这些信息阶段，否则任务会被过度简化。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五类探测技术的差异必须体现在环境参数里。否则所谓异构 agent 只是名字不同，策略实际上面对完全相同的观测模型。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这张表可以直接转成环境中的能力矩阵。重点不是给每种传感器一个固定好坏分数，而是定义它们在什么环境和目标条件下失效。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强化学习策略不应该直接读取所有传感器原始数据。第一版环境更适合提供融合航迹及其置信度，同时把融合误差、延迟和错误关联作为环境随机性。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这里最重要的不是术语，而是结果类型。安全驱离、接管、失效和坠落应有不同奖励与风险。单一“击毁成功 +1”会抹掉反无人机场景的关键安全差异。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环境中每个动作都应有适用条件。例如目标无线电静默时，通信干扰不能生效；目标不用 GNSS 时，GPS 欺骗不能生效；航迹质量低时，硬杀伤不能直接授权。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这八类瓶颈可以直接转成环境变量、故障模式、动作约束和评价指标。例如天气影响观测，SWaP 影响能量和算力，定向作用与附带损伤影响安全约束。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原论文的统一框架偏民用空域治理。迁移到防空编组后，共享数据立方体可以对应融合航迹，地方协调者可以对应指挥与资源分配节点。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这些工程特征共同指向部分可观测的异构多智能体问题。这里先定义环境，再选择 HAPPO、HARL 或 MAPPO 作为算法基线。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这页是建模边界。真实状态用于环境转移和集中 critic；局部观测用于每个 actor。两者不能完全相同，否则部分可观测问题被消失。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粒度要与研究问题一致。当前课题更适合把装备资源作为 agent，研究异构资源协同；不建议第一版同时学习底层飞控、波束控制和高层任务分配。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真实目标属性可以存在于仿真器和集中 critic 中，但不能全部泄露给 actor。局部观测需要携带不确定性和信息时效，这样策略才能学习何时继续确认、何时授权处置。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第一版先做离散目标分配，便于验证场景和奖励是否正确。动作掩码用于屏蔽物理不可能和规则不允许的动作，但情报不足造成的误判可以保留为随机失败。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最后收束到实施路线。第一步先把环境做对，用规则模型执行底层物理；第二步加入部分可观测和融合误差；第三步再比较异构 MARL 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6A1"/>
          </a:solidFill>
          <a:ln w="12700">
            <a:solidFill>
              <a:srgbClr val="17A6A1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960120"/>
            <a:ext cx="4937760" cy="4937760"/>
          </a:xfrm>
          <a:prstGeom prst="ellipse">
            <a:avLst/>
          </a:prstGeom>
          <a:solidFill>
            <a:srgbClr val="101820">
              <a:alpha val="0"/>
            </a:srgbClr>
          </a:solidFill>
          <a:ln w="16510">
            <a:solidFill>
              <a:srgbClr val="17A6A1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554480"/>
            <a:ext cx="3749040" cy="3749040"/>
          </a:xfrm>
          <a:prstGeom prst="ellipse">
            <a:avLst/>
          </a:prstGeom>
          <a:solidFill>
            <a:srgbClr val="101820">
              <a:alpha val="0"/>
            </a:srgbClr>
          </a:solidFill>
          <a:ln w="16510">
            <a:solidFill>
              <a:srgbClr val="17A6A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2148840"/>
            <a:ext cx="2560320" cy="2560320"/>
          </a:xfrm>
          <a:prstGeom prst="ellipse">
            <a:avLst/>
          </a:prstGeom>
          <a:solidFill>
            <a:srgbClr val="101820">
              <a:alpha val="0"/>
            </a:srgbClr>
          </a:solidFill>
          <a:ln w="16510">
            <a:solidFill>
              <a:srgbClr val="17A6A1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2743200"/>
            <a:ext cx="1371600" cy="1371600"/>
          </a:xfrm>
          <a:prstGeom prst="ellipse">
            <a:avLst/>
          </a:prstGeom>
          <a:solidFill>
            <a:srgbClr val="101820">
              <a:alpha val="0"/>
            </a:srgbClr>
          </a:solidFill>
          <a:ln w="16510">
            <a:solidFill>
              <a:srgbClr val="17A6A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058400" y="2350008"/>
            <a:ext cx="1554480" cy="1051560"/>
          </a:xfrm>
          <a:prstGeom prst="line">
            <a:avLst/>
          </a:prstGeom>
          <a:noFill/>
          <a:ln w="19050">
            <a:solidFill>
              <a:srgbClr val="17A6A1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863072" y="1719072"/>
            <a:ext cx="182880" cy="182880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30768" y="3886200"/>
            <a:ext cx="128016" cy="128016"/>
          </a:xfrm>
          <a:prstGeom prst="ellipse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0" y="4983480"/>
            <a:ext cx="109728" cy="109728"/>
          </a:xfrm>
          <a:prstGeom prst="ellipse">
            <a:avLst/>
          </a:prstGeom>
          <a:solidFill>
            <a:srgbClr val="3B7DDD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594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163B3B"/>
          </a:solidFill>
          <a:ln w="7620">
            <a:solidFill>
              <a:srgbClr val="163B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6035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 REVIEW · C-UAS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1234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Counter-UAS</a:t>
            </a:r>
            <a:endParaRPr lang="en-US" sz="3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965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技术体系与反 UAV 强化学习环境建模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7432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7C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Wang, Liu &amp; Song (2020) 的精读汇报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17242E"/>
          </a:solidFill>
          <a:ln w="12700">
            <a:solidFill>
              <a:srgbClr val="3141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37083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如何把“探测—识别—分配—处置”技术链，转化为可训练的异构 Dec-POMDP？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61996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1A1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研究方向：反无人机动态编组 · 异构多智能体强化学习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PAPER POSITIONING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这篇论文提供的是技术地图，不是 RL 算法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综述的价值在于定义“环境里应该有什么”，而非直接给出训练方法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794760" cy="4343400"/>
          </a:xfrm>
          <a:prstGeom prst="roundRect">
            <a:avLst>
              <a:gd name="adj" fmla="val 1928"/>
            </a:avLst>
          </a:prstGeom>
          <a:solidFill>
            <a:srgbClr val="1D3557"/>
          </a:solidFill>
          <a:ln w="7620">
            <a:solidFill>
              <a:srgbClr val="1D35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7556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C-UAS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871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DE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Counter-Unmanned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DDE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Aircraft System(s)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依法、安全地使无人机失效、受扰或被接管，同时控制附带损伤与单次交战成本。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96112" y="51663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3A3122"/>
          </a:solidFill>
          <a:ln w="7620">
            <a:solidFill>
              <a:srgbClr val="3A31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5175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A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综述 · 工程系统视角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17320"/>
            <a:ext cx="64008" cy="1234440"/>
          </a:xfrm>
          <a:prstGeom prst="rect">
            <a:avLst/>
          </a:prstGeom>
          <a:solidFill>
            <a:srgbClr val="17A6A1"/>
          </a:solidFill>
          <a:ln w="7620">
            <a:solidFill>
              <a:srgbClr val="17A6A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10328" y="1563624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建立技术分类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1947672"/>
            <a:ext cx="28072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五类探测：声学、被动 RF、视觉、雷达、数据融合。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17320"/>
            <a:ext cx="64008" cy="1234440"/>
          </a:xfrm>
          <a:prstGeom prst="rect">
            <a:avLst/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1563624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建立处置分类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1947672"/>
            <a:ext cx="28072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物理捕获、干扰、漏洞利用，并区分驱离/接管与失效坠落。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926080"/>
            <a:ext cx="64008" cy="1234440"/>
          </a:xfrm>
          <a:prstGeom prst="rect">
            <a:avLst/>
          </a:prstGeom>
          <a:solidFill>
            <a:srgbClr val="E0A33A"/>
          </a:solidFill>
          <a:ln w="7620">
            <a:solidFill>
              <a:srgbClr val="E0A3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10328" y="3072384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比较能力边界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10328" y="3456432"/>
            <a:ext cx="28072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射程、识别能力、成本、能耗、环境敏感性与附带影响。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92440" y="292608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2926080"/>
            <a:ext cx="64008" cy="1234440"/>
          </a:xfrm>
          <a:prstGeom prst="rect">
            <a:avLst/>
          </a:prstGeom>
          <a:solidFill>
            <a:srgbClr val="4C9A6A"/>
          </a:solidFill>
          <a:ln w="7620">
            <a:solidFill>
              <a:srgbClr val="4C9A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93608" y="3072384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指向系统协同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93608" y="3456432"/>
            <a:ext cx="28072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单传感器与单效应器均不可靠，需要多源融合和统一协调。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09160" y="4498848"/>
            <a:ext cx="6537960" cy="1261872"/>
          </a:xfrm>
          <a:prstGeom prst="roundRect">
            <a:avLst>
              <a:gd name="adj" fmla="val 5797"/>
            </a:avLst>
          </a:prstGeom>
          <a:solidFill>
            <a:srgbClr val="DDF4F2"/>
          </a:solidFill>
          <a:ln w="7620">
            <a:solidFill>
              <a:srgbClr val="DDF4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56048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对本课题的正确用法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956048" y="507492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用论文确定实体、能力、失效条件和约束；再用后续论文或仿真假设标定探测概率、处置概率、时延与成本。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Wang, Liu &amp; Song, Counter-UAS (2020), p.1–2；蓝绿色框为本研究解读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THREAT MODEL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 UAV 的任务目标不是单一“击落”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论文将威胁分成公共安全、国家安全与个人隐私三类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971800" cy="3429000"/>
          </a:xfrm>
          <a:prstGeom prst="roundRect">
            <a:avLst>
              <a:gd name="adj" fmla="val 2462"/>
            </a:avLst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7556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1764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212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公共安全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163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威胁方式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7238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碰撞、操作失误、受控攻击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730752"/>
            <a:ext cx="2331720" cy="0"/>
          </a:xfrm>
          <a:prstGeom prst="line">
            <a:avLst/>
          </a:prstGeom>
          <a:noFill/>
          <a:ln w="10160">
            <a:solidFill>
              <a:srgbClr val="3B7DDD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914400" y="391363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人员伤亡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设施损坏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航空运行中断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1508760"/>
            <a:ext cx="2971800" cy="3429000"/>
          </a:xfrm>
          <a:prstGeom prst="roundRect">
            <a:avLst>
              <a:gd name="adj" fmla="val 2462"/>
            </a:avLst>
          </a:prstGeom>
          <a:solidFill>
            <a:srgbClr val="FBE7E7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6552" y="17556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16552" y="1764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416552" y="2212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国家安全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8163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威胁方式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07238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侦察测绘、载荷投送、走私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34840" y="3730752"/>
            <a:ext cx="2331720" cy="0"/>
          </a:xfrm>
          <a:prstGeom prst="line">
            <a:avLst/>
          </a:prstGeom>
          <a:noFill/>
          <a:ln w="10160">
            <a:solidFill>
              <a:srgbClr val="D95D5D"/>
            </a:solidFill>
            <a:prstDash val="solid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4434840" y="391363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敏感信息泄露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关键设施受损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任务失败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1508760"/>
            <a:ext cx="2971800" cy="3429000"/>
          </a:xfrm>
          <a:prstGeom prst="roundRect">
            <a:avLst>
              <a:gd name="adj" fmla="val 2462"/>
            </a:avLst>
          </a:prstGeom>
          <a:solidFill>
            <a:srgbClr val="EEE8F6"/>
          </a:solidFill>
          <a:ln w="12700">
            <a:solidFill>
              <a:srgbClr val="7B61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36992" y="17556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36992" y="1764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6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PRIVACY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936992" y="2212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7B6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个人隐私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28163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威胁方式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307238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摄像、实时图传、持续监视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55280" y="3730752"/>
            <a:ext cx="2331720" cy="0"/>
          </a:xfrm>
          <a:prstGeom prst="line">
            <a:avLst/>
          </a:prstGeom>
          <a:noFill/>
          <a:ln w="10160">
            <a:solidFill>
              <a:srgbClr val="7B61A8"/>
            </a:solidFill>
            <a:prstDash val="solid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7955280" y="391363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隐私侵害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信息获取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行为干扰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230368"/>
            <a:ext cx="10012680" cy="68580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 w="7620">
            <a:solidFill>
              <a:srgbClr val="10182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" y="54223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环境建模含义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148840" y="5394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威胁度应由预计到达时间、保护对象价值、载荷/意图信念、航迹质量和突防概率共同决定。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881360" y="5212080"/>
            <a:ext cx="731520" cy="731520"/>
          </a:xfrm>
          <a:prstGeom prst="ellipse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881360" y="5248656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≠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固定标签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论文 Table I–III, p.2–4；底部为强化学习环境推导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END-TO-END CHAIN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C-UAS 是感知与处置耦合的闭环决策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论文写成“探测子系统 + 处置子系统”，实际至少包含六个决策环节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2084832"/>
            <a:ext cx="347472" cy="347472"/>
          </a:xfrm>
          <a:prstGeom prst="ellipse">
            <a:avLst/>
          </a:prstGeom>
          <a:solidFill>
            <a:srgbClr val="3B7DDD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202996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" y="2423160"/>
            <a:ext cx="1325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21408" y="2487168"/>
            <a:ext cx="256032" cy="0"/>
          </a:xfrm>
          <a:prstGeom prst="line">
            <a:avLst/>
          </a:prstGeom>
          <a:noFill/>
          <a:ln w="17780">
            <a:solidFill>
              <a:srgbClr val="82909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04872" y="19202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DDF4F2"/>
          </a:solidFill>
          <a:ln w="12700">
            <a:solidFill>
              <a:srgbClr val="17A6A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1176" y="2084832"/>
            <a:ext cx="347472" cy="347472"/>
          </a:xfrm>
          <a:prstGeom prst="ellipse">
            <a:avLst/>
          </a:prstGeom>
          <a:solidFill>
            <a:srgbClr val="17A6A1"/>
          </a:solidFill>
          <a:ln w="12700">
            <a:solidFill>
              <a:srgbClr val="17A6A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51176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02996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51176" y="2423160"/>
            <a:ext cx="1325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0" y="2487168"/>
            <a:ext cx="256032" cy="0"/>
          </a:xfrm>
          <a:prstGeom prst="line">
            <a:avLst/>
          </a:prstGeom>
          <a:noFill/>
          <a:ln w="17780">
            <a:solidFill>
              <a:srgbClr val="82909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06824" y="19202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EEE8F6"/>
          </a:solidFill>
          <a:ln w="12700">
            <a:solidFill>
              <a:srgbClr val="7B61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3128" y="2084832"/>
            <a:ext cx="347472" cy="347472"/>
          </a:xfrm>
          <a:prstGeom prst="ellipse">
            <a:avLst/>
          </a:prstGeom>
          <a:solidFill>
            <a:srgbClr val="7B61A8"/>
          </a:solidFill>
          <a:ln w="12700">
            <a:solidFill>
              <a:srgbClr val="7B61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53128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873752" y="202996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53128" y="2423160"/>
            <a:ext cx="1325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Identify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25312" y="2487168"/>
            <a:ext cx="256032" cy="0"/>
          </a:xfrm>
          <a:prstGeom prst="line">
            <a:avLst/>
          </a:prstGeom>
          <a:noFill/>
          <a:ln w="17780">
            <a:solidFill>
              <a:srgbClr val="82909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08776" y="19202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1D5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084832"/>
            <a:ext cx="347472" cy="347472"/>
          </a:xfrm>
          <a:prstGeom prst="ellipse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775704" y="202996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威胁评估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423160"/>
            <a:ext cx="1325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27264" y="2487168"/>
            <a:ext cx="256032" cy="0"/>
          </a:xfrm>
          <a:prstGeom prst="line">
            <a:avLst/>
          </a:prstGeom>
          <a:noFill/>
          <a:ln w="17780">
            <a:solidFill>
              <a:srgbClr val="82909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10728" y="19202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E4F3E9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57032" y="2084832"/>
            <a:ext cx="347472" cy="347472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57032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677656" y="202996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资源分配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57032" y="2423160"/>
            <a:ext cx="1325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Assign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729216" y="2487168"/>
            <a:ext cx="256032" cy="0"/>
          </a:xfrm>
          <a:prstGeom prst="line">
            <a:avLst/>
          </a:prstGeom>
          <a:noFill/>
          <a:ln w="17780">
            <a:solidFill>
              <a:srgbClr val="82909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12680" y="19202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BE7E7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58984" y="2084832"/>
            <a:ext cx="347472" cy="347472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158984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579608" y="202996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158984" y="2423160"/>
            <a:ext cx="1325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Mitigate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 flipH="1">
            <a:off x="1691640" y="3310128"/>
            <a:ext cx="9098280" cy="1051560"/>
          </a:xfrm>
          <a:prstGeom prst="line">
            <a:avLst/>
          </a:prstGeom>
          <a:noFill/>
          <a:ln w="15240">
            <a:solidFill>
              <a:srgbClr val="D95D5D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3794760" y="4142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处置失败 / 航迹更新 / 新目标出现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4892040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6112" y="5120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35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关键建模边界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331720" y="5020056"/>
            <a:ext cx="8641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Track、Identify 与 Assign 不能被折叠掉，否则策略会在“全知状态 + 即时处置”的假想世界中学习。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46" name="Text 44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论文 p.1–4 的系统定义；流程重构为本研究推导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DETECTION TAXONOMY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五类探测能力：没有一种传感器可以独立解决问题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能力差异来自物理机理，而不是算法名称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37760" y="2679192"/>
            <a:ext cx="1325880" cy="13258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2724912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航迹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58368" y="1508760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FF1D5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673352"/>
            <a:ext cx="347472" cy="347472"/>
          </a:xfrm>
          <a:prstGeom prst="ellipse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声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1618488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声学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01168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 · 近程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受风噪影响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45920" y="2048256"/>
            <a:ext cx="3950208" cy="1289304"/>
          </a:xfrm>
          <a:prstGeom prst="line">
            <a:avLst/>
          </a:prstGeom>
          <a:noFill/>
          <a:ln w="13970">
            <a:solidFill>
              <a:srgbClr val="B1BCC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57600" y="1234440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DDF4F2"/>
          </a:solidFill>
          <a:ln w="12700">
            <a:solidFill>
              <a:srgbClr val="17A6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1399032"/>
            <a:ext cx="347472" cy="347472"/>
          </a:xfrm>
          <a:prstGeom prst="ellipse">
            <a:avLst/>
          </a:prstGeom>
          <a:solidFill>
            <a:srgbClr val="17A6A1"/>
          </a:solidFill>
          <a:ln w="12700">
            <a:solidFill>
              <a:srgbClr val="17A6A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03904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224528" y="1344168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 RF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803904" y="173736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 · 可识别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依赖通信链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45152" y="1773936"/>
            <a:ext cx="950976" cy="1563624"/>
          </a:xfrm>
          <a:prstGeom prst="line">
            <a:avLst/>
          </a:prstGeom>
          <a:noFill/>
          <a:ln w="13970">
            <a:solidFill>
              <a:srgbClr val="B1BCC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0" y="1234440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EEE8F6"/>
          </a:solidFill>
          <a:ln w="12700">
            <a:solidFill>
              <a:srgbClr val="7B61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44384" y="1399032"/>
            <a:ext cx="347472" cy="347472"/>
          </a:xfrm>
          <a:prstGeom prst="ellipse">
            <a:avLst/>
          </a:prstGeom>
          <a:solidFill>
            <a:srgbClr val="7B61A8"/>
          </a:solidFill>
          <a:ln w="12700">
            <a:solidFill>
              <a:srgbClr val="7B61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4384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光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65008" y="1344168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 / 红外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44384" y="173736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分类信息丰富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受光照遮挡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flipH="1">
            <a:off x="5596128" y="1773936"/>
            <a:ext cx="2889504" cy="1563624"/>
          </a:xfrm>
          <a:prstGeom prst="line">
            <a:avLst/>
          </a:prstGeom>
          <a:noFill/>
          <a:ln w="13970">
            <a:solidFill>
              <a:srgbClr val="B1BCC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29800" y="3108960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76104" y="3273552"/>
            <a:ext cx="347472" cy="347472"/>
          </a:xfrm>
          <a:prstGeom prst="ellipse">
            <a:avLst/>
          </a:prstGeom>
          <a:solidFill>
            <a:srgbClr val="3B7DDD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76104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雷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396728" y="3218688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 / 被动雷达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976104" y="361188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 · 测距测速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成本与杂波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flipH="1" flipV="1">
            <a:off x="5596128" y="3337560"/>
            <a:ext cx="5221224" cy="310896"/>
          </a:xfrm>
          <a:prstGeom prst="line">
            <a:avLst/>
          </a:prstGeom>
          <a:noFill/>
          <a:ln w="13970">
            <a:solidFill>
              <a:srgbClr val="B1BCC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772400" y="4617720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E4F3E9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18704" y="4782312"/>
            <a:ext cx="347472" cy="347472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18704" y="4782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算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339328" y="4727448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多算法融合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918704" y="512064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按状态调度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平衡精度与开销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 flipH="1" flipV="1">
            <a:off x="5596128" y="3337560"/>
            <a:ext cx="3163824" cy="1819656"/>
          </a:xfrm>
          <a:prstGeom prst="line">
            <a:avLst/>
          </a:prstGeom>
          <a:noFill/>
          <a:ln w="13970">
            <a:solidFill>
              <a:srgbClr val="B1BCC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194560" y="4617720"/>
            <a:ext cx="1965960" cy="1078992"/>
          </a:xfrm>
          <a:prstGeom prst="roundRect">
            <a:avLst>
              <a:gd name="adj" fmla="val 6780"/>
            </a:avLst>
          </a:prstGeom>
          <a:solidFill>
            <a:srgbClr val="FBE7E7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40864" y="4782312"/>
            <a:ext cx="347472" cy="347472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340864" y="4782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融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761488" y="4727448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多源数据融合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2340864" y="512064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一致性与权重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异步与误差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 flipV="1">
            <a:off x="3182112" y="3337560"/>
            <a:ext cx="2414016" cy="1819656"/>
          </a:xfrm>
          <a:prstGeom prst="line">
            <a:avLst/>
          </a:prstGeom>
          <a:noFill/>
          <a:ln w="13970">
            <a:solidFill>
              <a:srgbClr val="B1BCC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58368" y="5870448"/>
            <a:ext cx="10927080" cy="329184"/>
          </a:xfrm>
          <a:prstGeom prst="roundRect">
            <a:avLst>
              <a:gd name="adj" fmla="val 11111"/>
            </a:avLst>
          </a:prstGeom>
          <a:solidFill>
            <a:srgbClr val="101820"/>
          </a:solidFill>
          <a:ln w="7620">
            <a:solidFill>
              <a:srgbClr val="10182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8680" y="590702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建模重点：每类传感器都需要独立的覆盖、误差、更新率、环境敏感性和识别能力。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46" name="Text 44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论文 Section III, p.4–10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SENSOR TRADE-OFFS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探测能力矩阵：射程、识别与鲁棒性不可兼得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Table IV 给出了构建传感器参数表的直接依据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78181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6DDE4"/>
            </a:solidFill>
            <a:prstDash val="solid"/>
          </a:ln>
        </p:spPr>
      </p:sp>
      <p:pic>
        <p:nvPicPr>
          <p:cNvPr id="6" name="Image 0" descr="D:\huang\Programs\防空编组\research_papers\05_anti_uav_rl_environment_model\P05_2020_Counter_UAS_State_of_the_Art_Challenges_Future_Trends_reader\P05_CUAS_PPT_output\assets\table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89888"/>
            <a:ext cx="7744968" cy="4453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41080" y="1353312"/>
            <a:ext cx="2953512" cy="4526280"/>
          </a:xfrm>
          <a:prstGeom prst="roundRect">
            <a:avLst>
              <a:gd name="adj" fmla="val 2477"/>
            </a:avLst>
          </a:prstGeom>
          <a:solidFill>
            <a:srgbClr val="101820"/>
          </a:solidFill>
          <a:ln w="7620">
            <a:solidFill>
              <a:srgbClr val="1018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15400" y="16276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读表结论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21762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4688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9E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远程与精度强，但成本、能耗和识别能力受限。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3072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 RF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33649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9E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可识别链路与型号，但静默/加密/跳频会失效。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39684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B6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426110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9E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适合识别和末段跟踪，但受光照、遮挡与鸟类混淆。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9154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C9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数据融合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515721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9E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可靠性最高，但引入算力、时延和关联错误。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论文 Table IV, p.13；原图裁切保留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DATA FUSION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数据融合不止“多传感器求平均”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作者区分同型传感器、异型传感器与多算法调度三个层次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1605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6DDE4"/>
            </a:solidFill>
            <a:prstDash val="solid"/>
          </a:ln>
        </p:spPr>
      </p:sp>
      <p:pic>
        <p:nvPicPr>
          <p:cNvPr id="6" name="Image 0" descr="D:\huang\Programs\防空编组\research_papers\05_anti_uav_rl_environment_model\P05_2020_Counter_UAS_State_of_the_Art_Challenges_Future_Trends_reader\P05_CUAS_PPT_output\assets\fig_data_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453896"/>
            <a:ext cx="4087368" cy="2167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66360" y="1417320"/>
            <a:ext cx="6172200" cy="868680"/>
          </a:xfrm>
          <a:prstGeom prst="roundRect">
            <a:avLst>
              <a:gd name="adj" fmla="val 8421"/>
            </a:avLst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12664" y="1581912"/>
            <a:ext cx="347472" cy="347472"/>
          </a:xfrm>
          <a:prstGeom prst="ellipse">
            <a:avLst/>
          </a:prstGeom>
          <a:solidFill>
            <a:srgbClr val="3B7DDD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12664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733288" y="1527048"/>
            <a:ext cx="5513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同型多传感器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312664" y="1920240"/>
            <a:ext cx="5897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阵列化提高覆盖、测向和定位精度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166360" y="2496312"/>
            <a:ext cx="6172200" cy="868680"/>
          </a:xfrm>
          <a:prstGeom prst="roundRect">
            <a:avLst>
              <a:gd name="adj" fmla="val 8421"/>
            </a:avLst>
          </a:prstGeom>
          <a:solidFill>
            <a:srgbClr val="DDF4F2"/>
          </a:solidFill>
          <a:ln w="12700">
            <a:solidFill>
              <a:srgbClr val="17A6A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12664" y="2660904"/>
            <a:ext cx="347472" cy="347472"/>
          </a:xfrm>
          <a:prstGeom prst="ellipse">
            <a:avLst/>
          </a:prstGeom>
          <a:solidFill>
            <a:srgbClr val="17A6A1"/>
          </a:solidFill>
          <a:ln w="12700">
            <a:solidFill>
              <a:srgbClr val="17A6A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12664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733288" y="2606040"/>
            <a:ext cx="5513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异型传感器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12664" y="2999232"/>
            <a:ext cx="5897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雷达/RF 远程预警，光电/声学中近程确认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166360" y="3575304"/>
            <a:ext cx="6172200" cy="868680"/>
          </a:xfrm>
          <a:prstGeom prst="roundRect">
            <a:avLst>
              <a:gd name="adj" fmla="val 8421"/>
            </a:avLst>
          </a:prstGeom>
          <a:solidFill>
            <a:srgbClr val="E4F3E9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12664" y="3739896"/>
            <a:ext cx="347472" cy="347472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12664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733288" y="3685032"/>
            <a:ext cx="5513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多算法调度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12664" y="4078224"/>
            <a:ext cx="5897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按当前状态切换算法，平衡精度、时延与算力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0080" y="4543699"/>
            <a:ext cx="10698480" cy="1581912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481354"/>
            <a:ext cx="2743200" cy="39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35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融合节点真正需要维护的量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32688" y="5020850"/>
            <a:ext cx="1481328" cy="399011"/>
          </a:xfrm>
          <a:prstGeom prst="roundRect">
            <a:avLst>
              <a:gd name="adj" fmla="val 37500"/>
            </a:avLst>
          </a:prstGeom>
          <a:solidFill>
            <a:srgbClr val="E3EEFC"/>
          </a:solidFill>
          <a:ln w="7620">
            <a:solidFill>
              <a:srgbClr val="E3EEF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5055763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估计状态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615184" y="5020850"/>
            <a:ext cx="1481328" cy="399011"/>
          </a:xfrm>
          <a:prstGeom prst="roundRect">
            <a:avLst>
              <a:gd name="adj" fmla="val 37500"/>
            </a:avLst>
          </a:prstGeom>
          <a:solidFill>
            <a:srgbClr val="DDF4F2"/>
          </a:solidFill>
          <a:ln w="7620">
            <a:solidFill>
              <a:srgbClr val="DDF4F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596896" y="5055763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协方差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297680" y="5020850"/>
            <a:ext cx="1481328" cy="399011"/>
          </a:xfrm>
          <a:prstGeom prst="roundRect">
            <a:avLst>
              <a:gd name="adj" fmla="val 37500"/>
            </a:avLst>
          </a:prstGeom>
          <a:solidFill>
            <a:srgbClr val="EEE8F6"/>
          </a:solidFill>
          <a:ln w="7620">
            <a:solidFill>
              <a:srgbClr val="EEE8F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279392" y="5055763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B6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类别概率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961888" y="5000899"/>
            <a:ext cx="1481328" cy="438912"/>
          </a:xfrm>
          <a:prstGeom prst="roundRect">
            <a:avLst>
              <a:gd name="adj" fmla="val 37500"/>
            </a:avLst>
          </a:prstGeom>
          <a:solidFill>
            <a:srgbClr val="FFF1D5"/>
          </a:solidFill>
          <a:ln w="7620">
            <a:solidFill>
              <a:srgbClr val="FFF1D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80176" y="5068232"/>
            <a:ext cx="1481328" cy="2493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A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意图概率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7644384" y="5000899"/>
            <a:ext cx="1481328" cy="438912"/>
          </a:xfrm>
          <a:prstGeom prst="roundRect">
            <a:avLst>
              <a:gd name="adj" fmla="val 37500"/>
            </a:avLst>
          </a:prstGeom>
          <a:solidFill>
            <a:srgbClr val="E4F3E9"/>
          </a:solidFill>
          <a:ln w="7620">
            <a:solidFill>
              <a:srgbClr val="E4F3E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62672" y="5068232"/>
            <a:ext cx="1481328" cy="2493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9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信息年龄 AoI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326880" y="5000899"/>
            <a:ext cx="1481328" cy="438912"/>
          </a:xfrm>
          <a:prstGeom prst="roundRect">
            <a:avLst>
              <a:gd name="adj" fmla="val 37500"/>
            </a:avLst>
          </a:prstGeom>
          <a:solidFill>
            <a:srgbClr val="FBE7E7"/>
          </a:solidFill>
          <a:ln w="7620">
            <a:solidFill>
              <a:srgbClr val="FBE7E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326880" y="5068232"/>
            <a:ext cx="1481328" cy="2493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来源与关联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914400" y="5569074"/>
            <a:ext cx="996696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难点：异步采样 · 权重选择 · 错误关联 · 通信延迟 · 结果一致性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38" name="Text 35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论文 Figure 9 与 Section III-E, p.8–10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MITIGATION TAXONOMY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处置不是一个动作，而是一组条件化效应器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论文将 UAS negation 分为物理捕获、干扰与漏洞利用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BE7E7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190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282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物理捕获 / EMP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334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网捕 · 投射网 · 拦截 UAV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定向电磁脉冲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481328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FF1D5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7190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7282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A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JAMMING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148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0A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通信与导航干扰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6334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Tone · Sweep · Protocol-aware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 欺骗 · 网络攻击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1481328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EEE8F6"/>
          </a:solidFill>
          <a:ln w="12700">
            <a:solidFill>
              <a:srgbClr val="7B61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7190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92440" y="17282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6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CYBER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148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B6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漏洞利用 / 接管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26334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协议识别 · 命令注入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传感器欺骗 · 系统漏洞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822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处置结果必须区分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" y="42976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E4F3E9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5262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C9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&amp; RETRIEVE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846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驱离、接管或安全回收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8464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低附带损伤，但依赖链路/漏洞与持续控制。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42976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BE7E7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4526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&amp; DROP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846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失效、摧毁并坠落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518464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处置快，但需要计入坠落区、误伤和财产损失。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论文 Section IV, Figure 10–12, p.10–12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EFFECTOR TRADE-OFFS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动作是否有效，取决于目标属性与交战条件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Table V 是设计动作掩码与条件成功率的直接依据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389888"/>
            <a:ext cx="772668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6DDE4"/>
            </a:solidFill>
            <a:prstDash val="solid"/>
          </a:ln>
        </p:spPr>
      </p:sp>
      <p:pic>
        <p:nvPicPr>
          <p:cNvPr id="6" name="Image 0" descr="D:\huang\Programs\防空编组\research_papers\05_anti_uav_rl_environment_model\P05_2020_Counter_UAS_State_of_the_Art_Challenges_Future_Trends_reader\P05_CUAS_PPT_output\assets\table_mit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426464"/>
            <a:ext cx="7653528" cy="42702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389888"/>
            <a:ext cx="3063240" cy="434340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23960" y="16642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5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四个必要条件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796528" y="2176272"/>
            <a:ext cx="347472" cy="347472"/>
          </a:xfrm>
          <a:prstGeom prst="ellipse">
            <a:avLst/>
          </a:prstGeom>
          <a:solidFill>
            <a:srgbClr val="3B7DDD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96528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281160" y="21579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目标可见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281160" y="243230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航迹质量与识别置信度达到阈值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8796528" y="3008376"/>
            <a:ext cx="347472" cy="347472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96528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29900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物理可达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281160" y="326440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距离、射界、波束和到达时间满足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8796528" y="3840480"/>
            <a:ext cx="347472" cy="347472"/>
          </a:xfrm>
          <a:prstGeom prst="ellipse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96528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281160" y="38221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机理匹配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281160" y="40965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链路、频段、导航模式或漏洞可利用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8796528" y="4672584"/>
            <a:ext cx="347472" cy="347472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96528" y="4672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46542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规则允许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281160" y="49286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附带风险、友方频谱与授权满足</a:t>
            </a:r>
            <a:endParaRPr lang="en-US" sz="970" dirty="0"/>
          </a:p>
        </p:txBody>
      </p:sp>
      <p:sp>
        <p:nvSpPr>
          <p:cNvPr id="25" name="Shape 22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论文 Table V, p.15；右侧为环境建模推导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CHALLENGES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作者识别的八类瓶颈，正是环境随机性与约束来源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 C-UAS 需要同时满足 scalable、modular、affordable 与 low-collateral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2542032" cy="1664208"/>
          </a:xfrm>
          <a:prstGeom prst="roundRect">
            <a:avLst>
              <a:gd name="adj" fmla="val 4396"/>
            </a:avLst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" y="16459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7D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1984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414016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大区域、多目标、蜂群使覆盖和容量不足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481328"/>
            <a:ext cx="2542032" cy="1664208"/>
          </a:xfrm>
          <a:prstGeom prst="roundRect">
            <a:avLst>
              <a:gd name="adj" fmla="val 4396"/>
            </a:avLst>
          </a:prstGeom>
          <a:solidFill>
            <a:srgbClr val="DDF4F2"/>
          </a:solidFill>
          <a:ln w="12700">
            <a:solidFill>
              <a:srgbClr val="17A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168" y="16459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1984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414016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传感器、平台与效应器难以快速组合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45352" y="1481328"/>
            <a:ext cx="2542032" cy="1664208"/>
          </a:xfrm>
          <a:prstGeom prst="roundRect">
            <a:avLst>
              <a:gd name="adj" fmla="val 4396"/>
            </a:avLst>
          </a:prstGeom>
          <a:solidFill>
            <a:srgbClr val="FFF1D5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6459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A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984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A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SWaP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414016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尺寸、重量、功耗、算力制约部署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61704" y="1481328"/>
            <a:ext cx="2542032" cy="1664208"/>
          </a:xfrm>
          <a:prstGeom prst="roundRect">
            <a:avLst>
              <a:gd name="adj" fmla="val 4396"/>
            </a:avLst>
          </a:prstGeom>
          <a:solidFill>
            <a:srgbClr val="E4F3E9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62872" y="16459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C9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262872" y="1984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9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2414016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天气、杂波、光照、噪声改变性能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" y="3566160"/>
            <a:ext cx="2542032" cy="1664208"/>
          </a:xfrm>
          <a:prstGeom prst="roundRect">
            <a:avLst>
              <a:gd name="adj" fmla="val 4396"/>
            </a:avLst>
          </a:prstGeom>
          <a:solidFill>
            <a:srgbClr val="EEE8F6"/>
          </a:solidFill>
          <a:ln w="12700">
            <a:solidFill>
              <a:srgbClr val="7B61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" y="3730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B61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B6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" y="4498848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发现不等于识别类别、协议与意图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29000" y="3566160"/>
            <a:ext cx="2542032" cy="1664208"/>
          </a:xfrm>
          <a:prstGeom prst="roundRect">
            <a:avLst>
              <a:gd name="adj" fmla="val 4396"/>
            </a:avLst>
          </a:prstGeom>
          <a:solidFill>
            <a:srgbClr val="FBE7E7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30168" y="3730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630168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定向作用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3630168" y="4498848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干扰与 EMP 难以只作用于单目标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45352" y="3566160"/>
            <a:ext cx="2542032" cy="1664208"/>
          </a:xfrm>
          <a:prstGeom prst="roundRect">
            <a:avLst>
              <a:gd name="adj" fmla="val 4396"/>
            </a:avLst>
          </a:prstGeom>
          <a:solidFill>
            <a:srgbClr val="F7EBDD"/>
          </a:solidFill>
          <a:ln w="12700">
            <a:solidFill>
              <a:srgbClr val="B8682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3730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6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6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附带损伤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498848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坠落、频谱污染与误接管形成二次风险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61704" y="3566160"/>
            <a:ext cx="2542032" cy="1664208"/>
          </a:xfrm>
          <a:prstGeom prst="roundRect">
            <a:avLst>
              <a:gd name="adj" fmla="val 4396"/>
            </a:avLst>
          </a:prstGeom>
          <a:solidFill>
            <a:srgbClr val="E5EEF1"/>
          </a:solidFill>
          <a:ln w="12700">
            <a:solidFill>
              <a:srgbClr val="4C6A7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62872" y="3730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C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262872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6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协同一致性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262872" y="4498848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多源结果冲突，感知与处置争用资源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2648" y="5742432"/>
            <a:ext cx="10991088" cy="411480"/>
          </a:xfrm>
          <a:prstGeom prst="roundRect">
            <a:avLst>
              <a:gd name="adj" fmla="val 8889"/>
            </a:avLst>
          </a:prstGeom>
          <a:solidFill>
            <a:srgbClr val="101820"/>
          </a:solidFill>
          <a:ln w="7620">
            <a:solidFill>
              <a:srgbClr val="10182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" y="5815584"/>
            <a:ext cx="10561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任务不是“忽略这些问题”，而是让策略在这些不确定性与约束中学会动态协调。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40" name="Text 38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论文 Section V, p.13–15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FUTURE TREND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从单设备走向“多源感知—统一协调—多手段处置”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论文的民用安全管理框架，可以迁移为防空编组的指挥闭环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539496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6DDE4"/>
            </a:solidFill>
            <a:prstDash val="solid"/>
          </a:ln>
        </p:spPr>
      </p:sp>
      <p:pic>
        <p:nvPicPr>
          <p:cNvPr id="6" name="Image 0" descr="D:\huang\Programs\防空编组\research_papers\05_anti_uav_rl_environment_model\P05_2020_Counter_UAS_State_of_the_Art_Challenges_Future_Trends_reader\P05_CUAS_PPT_output\assets\fig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389888"/>
            <a:ext cx="5321808" cy="30815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4617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论文原框架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459028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可信信息、法规库、空域管理与地方协调者共享数据，协同管理 UAS 运行。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353312"/>
            <a:ext cx="5349240" cy="4498848"/>
          </a:xfrm>
          <a:prstGeom prst="roundRect">
            <a:avLst>
              <a:gd name="adj" fmla="val 1626"/>
            </a:avLst>
          </a:prstGeom>
          <a:solidFill>
            <a:srgbClr val="101820"/>
          </a:solidFill>
          <a:ln w="7620">
            <a:solidFill>
              <a:srgbClr val="1018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65392" y="16276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迁移到防空编组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583680" y="2176272"/>
            <a:ext cx="420624" cy="420624"/>
          </a:xfrm>
          <a:prstGeom prst="ellipse">
            <a:avLst/>
          </a:prstGeom>
          <a:solidFill>
            <a:srgbClr val="3B7DDD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0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异构传感器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24323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FC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 · RF · 光电 · 声学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93992" y="2633472"/>
            <a:ext cx="0" cy="438912"/>
          </a:xfrm>
          <a:prstGeom prst="line">
            <a:avLst/>
          </a:prstGeom>
          <a:noFill/>
          <a:ln w="15240">
            <a:solidFill>
              <a:srgbClr val="6F879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583680" y="2999232"/>
            <a:ext cx="420624" cy="420624"/>
          </a:xfrm>
          <a:prstGeom prst="ellipse">
            <a:avLst/>
          </a:prstGeom>
          <a:solidFill>
            <a:srgbClr val="17A6A1"/>
          </a:solidFill>
          <a:ln w="12700">
            <a:solidFill>
              <a:srgbClr val="17A6A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2999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178040" y="2962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航迹与威胁融合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78040" y="32552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FC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状态估计 · 置信度 · AoI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93992" y="3456432"/>
            <a:ext cx="0" cy="438912"/>
          </a:xfrm>
          <a:prstGeom prst="line">
            <a:avLst/>
          </a:prstGeom>
          <a:noFill/>
          <a:ln w="15240">
            <a:solidFill>
              <a:srgbClr val="6F879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583680" y="3822192"/>
            <a:ext cx="420624" cy="420624"/>
          </a:xfrm>
          <a:prstGeom prst="ellipse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178040" y="3785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指挥与资源分配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4078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FC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· 授权 · 动态重编组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793992" y="4279392"/>
            <a:ext cx="0" cy="438912"/>
          </a:xfrm>
          <a:prstGeom prst="line">
            <a:avLst/>
          </a:prstGeom>
          <a:noFill/>
          <a:ln w="15240">
            <a:solidFill>
              <a:srgbClr val="6F879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583680" y="4645152"/>
            <a:ext cx="420624" cy="420624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0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178040" y="4608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软硬杀伤效应器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49011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FC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 · 欺骗 · 拦截 · 网捕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565392" y="5376672"/>
            <a:ext cx="4617720" cy="347472"/>
          </a:xfrm>
          <a:prstGeom prst="roundRect">
            <a:avLst>
              <a:gd name="adj" fmla="val 10526"/>
            </a:avLst>
          </a:prstGeom>
          <a:solidFill>
            <a:srgbClr val="173B3B"/>
          </a:solidFill>
          <a:ln w="7620">
            <a:solidFill>
              <a:srgbClr val="173B3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20840" y="54315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闭环反馈：处置结果重新进入航迹与威胁融合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33" name="Text 30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论文 Figure 13 与 Section VI, p.16–17；右侧为本研究迁移</a:t>
            </a:r>
            <a:endParaRPr lang="en-US" sz="750" dirty="0"/>
          </a:p>
        </p:txBody>
      </p:sp>
      <p:sp>
        <p:nvSpPr>
          <p:cNvPr id="34" name="Text 31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WHY MARL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为什么静态规则难以覆盖反 UAV 动态编组？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多目标到达、信息不确定与异构资源耦合，使问题天然具有序贯性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82496"/>
            <a:ext cx="457200" cy="457200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6093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动态到达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19293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威胁数量、航向与任务阶段持续变化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523744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24912"/>
            <a:ext cx="457200" cy="457200"/>
          </a:xfrm>
          <a:prstGeom prst="ellipse">
            <a:avLst/>
          </a:prstGeom>
          <a:solidFill>
            <a:srgbClr val="3B7DDD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651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部分可观测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2971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真实位置、意图、链路和载荷不可直接获得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356616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767328"/>
            <a:ext cx="457200" cy="457200"/>
          </a:xfrm>
          <a:prstGeom prst="ellipse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6941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条件有效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0142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同一动作对不同导航/协议目标效果不同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4608576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809744"/>
            <a:ext cx="457200" cy="457200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7365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资源耦合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50566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探测、频谱、弹药、射界和通信相互制约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57800" y="3273552"/>
            <a:ext cx="713232" cy="0"/>
          </a:xfrm>
          <a:prstGeom prst="line">
            <a:avLst/>
          </a:prstGeom>
          <a:noFill/>
          <a:ln w="25400">
            <a:solidFill>
              <a:srgbClr val="17A6A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72200" y="1572768"/>
            <a:ext cx="5166360" cy="3520440"/>
          </a:xfrm>
          <a:prstGeom prst="roundRect">
            <a:avLst>
              <a:gd name="adj" fmla="val 2078"/>
            </a:avLst>
          </a:prstGeom>
          <a:solidFill>
            <a:srgbClr val="1D3557"/>
          </a:solidFill>
          <a:ln w="7620">
            <a:solidFill>
              <a:srgbClr val="1D35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3952" y="1847088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63B3B"/>
          </a:solidFill>
          <a:ln w="7620">
            <a:solidFill>
              <a:srgbClr val="163B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73952" y="18562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RECOMMENDED MODEL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233172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 Dec-POMDP</a:t>
            </a:r>
            <a:endParaRPr lang="en-US" sz="29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29992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A6A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⟨ I, S, {Oᵢ}, {Aᵢ}, P, R, γ ⟩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367588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3E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异构 agent 与动作空间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3E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局部观测和信念状态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3E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联合转移与团队奖励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3EB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集中训练、分散执行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5376672"/>
            <a:ext cx="5166360" cy="457200"/>
          </a:xfrm>
          <a:prstGeom prst="roundRect">
            <a:avLst>
              <a:gd name="adj" fmla="val 8000"/>
            </a:avLst>
          </a:prstGeom>
          <a:solidFill>
            <a:srgbClr val="DDF4F2"/>
          </a:solidFill>
          <a:ln w="7620">
            <a:solidFill>
              <a:srgbClr val="DDF4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5458968"/>
            <a:ext cx="4800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环境比算法更先决定研究问题是否成立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本页为论文技术结论向 MARL 问题定义的推导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DEC-POMDP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真实状态、局部观测与联合动作必须分开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仿真器知道真值；策略只能看到带误差、延迟和置信度的航迹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2743200" cy="4480560"/>
          </a:xfrm>
          <a:prstGeom prst="roundRect">
            <a:avLst>
              <a:gd name="adj" fmla="val 2667"/>
            </a:avLst>
          </a:prstGeom>
          <a:solidFill>
            <a:srgbClr val="101820"/>
          </a:solidFill>
          <a:ln w="762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STATE  Sₜ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12848"/>
            <a:ext cx="2176272" cy="457200"/>
          </a:xfrm>
          <a:prstGeom prst="roundRect">
            <a:avLst>
              <a:gd name="adj" fmla="val 10000"/>
            </a:avLst>
          </a:prstGeom>
          <a:solidFill>
            <a:srgbClr val="1B2A35"/>
          </a:solidFill>
          <a:ln w="12700">
            <a:solidFill>
              <a:srgbClr val="3446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目标真实运动/意图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2176272" cy="457200"/>
          </a:xfrm>
          <a:prstGeom prst="roundRect">
            <a:avLst>
              <a:gd name="adj" fmla="val 10000"/>
            </a:avLst>
          </a:prstGeom>
          <a:solidFill>
            <a:srgbClr val="1B2A35"/>
          </a:solidFill>
          <a:ln w="12700">
            <a:solidFill>
              <a:srgbClr val="3446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通信与导航模式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456432"/>
            <a:ext cx="2176272" cy="457200"/>
          </a:xfrm>
          <a:prstGeom prst="roundRect">
            <a:avLst>
              <a:gd name="adj" fmla="val 10000"/>
            </a:avLst>
          </a:prstGeom>
          <a:solidFill>
            <a:srgbClr val="1B2A35"/>
          </a:solidFill>
          <a:ln w="12700">
            <a:solidFill>
              <a:srgbClr val="3446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环境与电磁条件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078224"/>
            <a:ext cx="2176272" cy="457200"/>
          </a:xfrm>
          <a:prstGeom prst="roundRect">
            <a:avLst>
              <a:gd name="adj" fmla="val 10000"/>
            </a:avLst>
          </a:prstGeom>
          <a:solidFill>
            <a:srgbClr val="1B2A35"/>
          </a:solidFill>
          <a:ln w="12700">
            <a:solidFill>
              <a:srgbClr val="3446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4151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传感器/效应器状态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700016"/>
            <a:ext cx="2176272" cy="457200"/>
          </a:xfrm>
          <a:prstGeom prst="roundRect">
            <a:avLst>
              <a:gd name="adj" fmla="val 10000"/>
            </a:avLst>
          </a:prstGeom>
          <a:solidFill>
            <a:srgbClr val="1B2A35"/>
          </a:solidFill>
          <a:ln w="12700">
            <a:solidFill>
              <a:srgbClr val="3446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保护对象与任务分配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20440" y="3611880"/>
            <a:ext cx="594360" cy="0"/>
          </a:xfrm>
          <a:prstGeom prst="line">
            <a:avLst/>
          </a:prstGeom>
          <a:noFill/>
          <a:ln w="22860">
            <a:solidFill>
              <a:srgbClr val="17A6A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51960" y="141732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262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D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  Oᵢ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1762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21762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带噪位置/速度/信号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26280" y="2523744"/>
            <a:ext cx="260604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4526280" y="2834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信念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834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协方差、类别与意图概率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26280" y="3182112"/>
            <a:ext cx="260604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4526280" y="34930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3493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AoI、更新率、通信时延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26280" y="3840480"/>
            <a:ext cx="260604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4526280" y="41513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自身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415137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覆盖、弹药、能量、冷却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26280" y="4498848"/>
            <a:ext cx="260604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  <a:tailEnd type="none"/>
          </a:ln>
        </p:spPr>
      </p:sp>
      <p:sp>
        <p:nvSpPr>
          <p:cNvPr id="32" name="Text 30"/>
          <p:cNvSpPr txBox="1"/>
          <p:nvPr/>
        </p:nvSpPr>
        <p:spPr>
          <a:xfrm>
            <a:off x="4526280" y="48097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212080" y="48097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邻居消息与当前任务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26280" y="5157216"/>
            <a:ext cx="260604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7882128" y="3611880"/>
            <a:ext cx="594360" cy="0"/>
          </a:xfrm>
          <a:prstGeom prst="line">
            <a:avLst/>
          </a:prstGeom>
          <a:noFill/>
          <a:ln w="22860">
            <a:solidFill>
              <a:srgbClr val="17A6A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613648" y="1417320"/>
            <a:ext cx="2971800" cy="4480560"/>
          </a:xfrm>
          <a:prstGeom prst="roundRect">
            <a:avLst>
              <a:gd name="adj" fmla="val 2462"/>
            </a:avLst>
          </a:prstGeom>
          <a:solidFill>
            <a:srgbClr val="DDF4F2"/>
          </a:solidFill>
          <a:ln w="12700">
            <a:solidFill>
              <a:srgbClr val="17A6A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87968" y="1691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ACTION  Aₜ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887968" y="215798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34272" y="2322576"/>
            <a:ext cx="347472" cy="347472"/>
          </a:xfrm>
          <a:prstGeom prst="ellipse">
            <a:avLst/>
          </a:prstGeom>
          <a:solidFill>
            <a:srgbClr val="3B7DDD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34272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454896" y="226771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搜索/跟踪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034272" y="2660904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sensor action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887968" y="302666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34272" y="3191256"/>
            <a:ext cx="347472" cy="347472"/>
          </a:xfrm>
          <a:prstGeom prst="ellipse">
            <a:avLst/>
          </a:prstGeom>
          <a:solidFill>
            <a:srgbClr val="E0A33A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034272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9454896" y="313639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干扰/欺骗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9034272" y="3529584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jammer action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887968" y="389534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34272" y="4059936"/>
            <a:ext cx="347472" cy="347472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034272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454896" y="400507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拦截/中止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9034272" y="4398264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interceptor action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887968" y="476402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34272" y="4928616"/>
            <a:ext cx="347472" cy="347472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034272" y="4928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9454896" y="487375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分配/授权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9034272" y="5266944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 action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59" name="Text 57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本页为推荐的异构 Dec-POMDP 环境架构</a:t>
            </a:r>
            <a:endParaRPr lang="en-US" sz="750" dirty="0"/>
          </a:p>
        </p:txBody>
      </p:sp>
      <p:sp>
        <p:nvSpPr>
          <p:cNvPr id="60" name="Text 58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AGENT DESIGN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第一版建议：资源节点即 agent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先学习高层编组与任务分配，底层信号处理和飞行控制由规则模型执行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1208" y="1444752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70078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1709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0664" y="2221992"/>
            <a:ext cx="621792" cy="62179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3B7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0664" y="22219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17627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Sensor agent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0358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实体含义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310128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 / 光电 / 被动 RF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或复合探测节点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4096512"/>
            <a:ext cx="2194560" cy="0"/>
          </a:xfrm>
          <a:prstGeom prst="line">
            <a:avLst/>
          </a:prstGeom>
          <a:noFill/>
          <a:ln w="10160">
            <a:solidFill>
              <a:srgbClr val="3B7DDD"/>
            </a:solidFill>
            <a:prstDash val="solid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749808" y="4343400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观测：局部测量、航迹、环境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动作：搜索、跟踪、模式切换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3401568" y="1444752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FF1D5"/>
          </a:solidFill>
          <a:ln w="12700">
            <a:solidFill>
              <a:srgbClr val="E0A3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21024" y="170078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21024" y="1709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A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JAMMER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21024" y="2221992"/>
            <a:ext cx="621792" cy="62179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0A3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21024" y="22219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217627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A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Jammer agent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630168" y="30358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实体含义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30168" y="3310128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/ 机动干扰设备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30168" y="4096512"/>
            <a:ext cx="2194560" cy="0"/>
          </a:xfrm>
          <a:prstGeom prst="line">
            <a:avLst/>
          </a:prstGeom>
          <a:noFill/>
          <a:ln w="10160">
            <a:solidFill>
              <a:srgbClr val="E0A33A"/>
            </a:solidFill>
            <a:prstDash val="solid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3630168" y="4343400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观测：链路信念、频谱、距离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动作：目标、模式、功率、时长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6281928" y="1444752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BE7E7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01384" y="170078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1384" y="1709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INTERCEPT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01384" y="2221992"/>
            <a:ext cx="621792" cy="62179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95D5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01384" y="22219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217627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Interceptor agent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510528" y="30358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实体含义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510528" y="3310128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导弹 / 网捕 UAV / 火力单元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10528" y="4096512"/>
            <a:ext cx="2194560" cy="0"/>
          </a:xfrm>
          <a:prstGeom prst="line">
            <a:avLst/>
          </a:prstGeom>
          <a:noFill/>
          <a:ln w="10160">
            <a:solidFill>
              <a:srgbClr val="D95D5D"/>
            </a:solidFill>
            <a:prstDash val="solid"/>
            <a:tailEnd type="none"/>
          </a:ln>
        </p:spPr>
      </p:sp>
      <p:sp>
        <p:nvSpPr>
          <p:cNvPr id="34" name="Text 32"/>
          <p:cNvSpPr txBox="1"/>
          <p:nvPr/>
        </p:nvSpPr>
        <p:spPr>
          <a:xfrm>
            <a:off x="6510528" y="4343400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观测：航迹质量、射界、弹药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动作：交战、保持、中止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9162288" y="1444752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E4F3E9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81744" y="170078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381744" y="1709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9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381744" y="2221992"/>
            <a:ext cx="621792" cy="62179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4C9A6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81744" y="22219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9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0" y="217627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9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 agent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390888" y="30358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实体含义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390888" y="3310128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可选的编组指挥节点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390888" y="4096512"/>
            <a:ext cx="2194560" cy="0"/>
          </a:xfrm>
          <a:prstGeom prst="line">
            <a:avLst/>
          </a:prstGeom>
          <a:noFill/>
          <a:ln w="10160">
            <a:solidFill>
              <a:srgbClr val="4C9A6A"/>
            </a:solidFill>
            <a:prstDash val="solid"/>
            <a:tailEnd type="none"/>
          </a:ln>
        </p:spPr>
      </p:sp>
      <p:sp>
        <p:nvSpPr>
          <p:cNvPr id="44" name="Text 42"/>
          <p:cNvSpPr txBox="1"/>
          <p:nvPr/>
        </p:nvSpPr>
        <p:spPr>
          <a:xfrm>
            <a:off x="9390888" y="4343400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观测：融合航迹、资源摘要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动作：分配、授权、重编组</a:t>
            </a:r>
            <a:endParaRPr lang="en-US" sz="1070" dirty="0"/>
          </a:p>
        </p:txBody>
      </p:sp>
      <p:sp>
        <p:nvSpPr>
          <p:cNvPr id="45" name="Shape 43"/>
          <p:cNvSpPr/>
          <p:nvPr/>
        </p:nvSpPr>
        <p:spPr>
          <a:xfrm>
            <a:off x="640080" y="5833872"/>
            <a:ext cx="10972800" cy="347472"/>
          </a:xfrm>
          <a:prstGeom prst="roundRect">
            <a:avLst>
              <a:gd name="adj" fmla="val 10526"/>
            </a:avLst>
          </a:prstGeom>
          <a:solidFill>
            <a:srgbClr val="101820"/>
          </a:solidFill>
          <a:ln w="7620">
            <a:solidFill>
              <a:srgbClr val="10182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41248" y="5897880"/>
            <a:ext cx="10561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若研究重点只是全局分配，可只保留 Command agent；若研究异构协同，则使用前三类资源 agent。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48" name="Text 46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本页为基于论文技术分类的 agent 粒度建议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STATE &amp; OBSERVATION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状态描述真值，观测描述“我知道什么”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置信度、信息年龄与误差协方差，是部分可观测性的核心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101820"/>
          </a:solidFill>
          <a:ln w="762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673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STATE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1488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847088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D5E0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位置、速度、意图、载荷、RCS、链路/导航模式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896112" y="2514600"/>
            <a:ext cx="4709160" cy="0"/>
          </a:xfrm>
          <a:prstGeom prst="line">
            <a:avLst/>
          </a:prstGeom>
          <a:noFill/>
          <a:ln w="7620">
            <a:solidFill>
              <a:srgbClr val="354650"/>
            </a:solidFill>
            <a:prstDash val="solid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896112" y="28072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保护对象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847088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D5E0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位置、价值、脆弱度、禁射/禁干扰区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96112" y="3172968"/>
            <a:ext cx="4709160" cy="0"/>
          </a:xfrm>
          <a:prstGeom prst="line">
            <a:avLst/>
          </a:prstGeom>
          <a:noFill/>
          <a:ln w="7620">
            <a:solidFill>
              <a:srgbClr val="354650"/>
            </a:solidFill>
            <a:prstDash val="solid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89611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847088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D5E0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覆盖、模式、误差、更新率、能耗、健康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96112" y="3831336"/>
            <a:ext cx="4709160" cy="0"/>
          </a:xfrm>
          <a:prstGeom prst="line">
            <a:avLst/>
          </a:prstGeom>
          <a:noFill/>
          <a:ln w="7620">
            <a:solidFill>
              <a:srgbClr val="354650"/>
            </a:solidFill>
            <a:prstDash val="solid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896112" y="412394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效应器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123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D5E0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射程、弹药、功率、频段、冷却、容量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896112" y="4489704"/>
            <a:ext cx="4709160" cy="0"/>
          </a:xfrm>
          <a:prstGeom prst="line">
            <a:avLst/>
          </a:prstGeom>
          <a:noFill/>
          <a:ln w="7620">
            <a:solidFill>
              <a:srgbClr val="354650"/>
            </a:solidFill>
            <a:prstDash val="solid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896112" y="4782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环境/网络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847088" y="4782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D5E0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天气、杂波、遮挡、时延、丢包、邻接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896112" y="5148072"/>
            <a:ext cx="4709160" cy="0"/>
          </a:xfrm>
          <a:prstGeom prst="line">
            <a:avLst/>
          </a:prstGeom>
          <a:noFill/>
          <a:ln w="7620">
            <a:solidFill>
              <a:srgbClr val="354650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309360" y="1417320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1968" y="16733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D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OBSERVATION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01968" y="2167128"/>
            <a:ext cx="256032" cy="256032"/>
          </a:xfrm>
          <a:prstGeom prst="ellipse">
            <a:avLst/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01968" y="2148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14884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估计值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2148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目标位置/速度估计，而非真实状态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601968" y="2514600"/>
            <a:ext cx="452628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601968" y="2825496"/>
            <a:ext cx="256032" cy="256032"/>
          </a:xfrm>
          <a:prstGeom prst="ellipse">
            <a:avLst/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01968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280720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28072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协方差、类别概率、意图概率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601968" y="3172968"/>
            <a:ext cx="452628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6601968" y="3483864"/>
            <a:ext cx="256032" cy="256032"/>
          </a:xfrm>
          <a:prstGeom prst="ellipse">
            <a:avLst/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01968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3465576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信息时效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092440" y="346557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AoI、最近更新时间与通信延迟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6601968" y="3831336"/>
            <a:ext cx="452628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6601968" y="4142232"/>
            <a:ext cx="256032" cy="256032"/>
          </a:xfrm>
          <a:prstGeom prst="ellipse">
            <a:avLst/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01968" y="4123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040880" y="412394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可见范围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092440" y="41239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仅包含覆盖内目标与邻居消息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6601968" y="4489704"/>
            <a:ext cx="452628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6601968" y="4800600"/>
            <a:ext cx="256032" cy="256032"/>
          </a:xfrm>
          <a:prstGeom prst="ellipse">
            <a:avLst/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601968" y="4782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040880" y="478231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自身资源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092440" y="47823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自身弹药、能量、模式和当前任务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6601968" y="5148072"/>
            <a:ext cx="452628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2606040" y="5925312"/>
            <a:ext cx="6995160" cy="274320"/>
          </a:xfrm>
          <a:prstGeom prst="roundRect">
            <a:avLst>
              <a:gd name="adj" fmla="val 13333"/>
            </a:avLst>
          </a:prstGeom>
          <a:solidFill>
            <a:srgbClr val="FBE7E7"/>
          </a:solidFill>
          <a:ln w="7620">
            <a:solidFill>
              <a:srgbClr val="FBE7E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743200" y="594360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5D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错误示范：把目标真实坐标、类型、意图和链路模式直接提供给所有 actor。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52" name="Text 50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本页为推荐的状态/观测字段划分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· ACTION SPACE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从离散分配开始，再逐步扩展到混合动作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动作空间复杂度应与研究阶段匹配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971800" cy="1965960"/>
          </a:xfrm>
          <a:prstGeom prst="roundRect">
            <a:avLst>
              <a:gd name="adj" fmla="val 3721"/>
            </a:avLst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6420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733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7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离散任务分配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8775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sector k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/ jam / engage target j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/ abort / reassign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60520" y="1417320"/>
            <a:ext cx="2971800" cy="1965960"/>
          </a:xfrm>
          <a:prstGeom prst="roundRect">
            <a:avLst>
              <a:gd name="adj" fmla="val 3721"/>
            </a:avLst>
          </a:prstGeom>
          <a:solidFill>
            <a:srgbClr val="DDF4F2"/>
          </a:solidFill>
          <a:ln w="12700">
            <a:solidFill>
              <a:srgbClr val="17A6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66420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6733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参数化离散动作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58775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 + 模式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 + 功率档位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 + 发射窗口/弹种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0" y="1417320"/>
            <a:ext cx="2971800" cy="1965960"/>
          </a:xfrm>
          <a:prstGeom prst="roundRect">
            <a:avLst>
              <a:gd name="adj" fmla="val 3721"/>
            </a:avLst>
          </a:prstGeom>
          <a:solidFill>
            <a:srgbClr val="EEE8F6"/>
          </a:solidFill>
          <a:ln w="12700">
            <a:solidFill>
              <a:srgbClr val="7B61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166420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09560" y="16733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6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B6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 + 连续混合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58775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离散目标选择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连续波束/功率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连续速度、航向与欺骗轨迹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730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动作掩码示例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58368" y="4187952"/>
            <a:ext cx="10972800" cy="1554480"/>
          </a:xfrm>
          <a:prstGeom prst="roundRect">
            <a:avLst>
              <a:gd name="adj" fmla="val 4706"/>
            </a:avLst>
          </a:prstGeom>
          <a:solidFill>
            <a:srgbClr val="101820"/>
          </a:solidFill>
          <a:ln w="7620">
            <a:solidFill>
              <a:srgbClr val="1018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462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A6A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mask(jam, j)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4462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link_activeⱼ ∧ band_knownⱼ ∧ in_rangeⱼ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4919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5D5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mask(intercept, j)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4919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track_qualityⱼ ≥ τ ∧ firing_solutionⱼ ∧ ammo_available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" y="5376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A3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mask(spoof, j)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5376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uses_GNSSⱼ ∧ spoofableⱼ ∧ collateral_risk ≤ limit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动作层级与掩码为本研究环境设计建议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01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· REWARD &amp; ROADMAP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奖励首先保护目标，其次控制误击与附带风险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过程塑形不能压过任务成败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389888"/>
            <a:ext cx="5623560" cy="4498848"/>
          </a:xfrm>
          <a:prstGeom prst="roundRect">
            <a:avLst>
              <a:gd name="adj" fmla="val 1626"/>
            </a:avLst>
          </a:prstGeom>
          <a:solidFill>
            <a:srgbClr val="101820"/>
          </a:solidFill>
          <a:ln w="762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REWARD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148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Rₜ =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9A6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+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993392" y="21488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保护对象存活 / 安全处置 / 威胁驱离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334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A6A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993392" y="2633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航迹质量提升与及时发现</a:t>
            </a:r>
            <a:endParaRPr lang="en-US" sz="123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1181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5D5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93392" y="31181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保护对象损伤与漏防</a:t>
            </a:r>
            <a:endParaRPr lang="en-US" sz="123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6027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5D5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993392" y="36027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误击、坠落与电磁附带影响</a:t>
            </a:r>
            <a:endParaRPr lang="en-US" sz="123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0873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3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993392" y="40873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弹药、能量、频谱和计算消耗</a:t>
            </a:r>
            <a:endParaRPr lang="en-US" sz="123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572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61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993392" y="4572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重复分配、切换和决策时延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896112" y="5257800"/>
            <a:ext cx="4983480" cy="365760"/>
          </a:xfrm>
          <a:prstGeom prst="roundRect">
            <a:avLst>
              <a:gd name="adj" fmla="val 10000"/>
            </a:avLst>
          </a:prstGeom>
          <a:solidFill>
            <a:srgbClr val="3B2527"/>
          </a:solidFill>
          <a:ln w="7620">
            <a:solidFill>
              <a:srgbClr val="3B25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4128" y="5321808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4C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优先级：目标损伤 &gt; 附带损伤 &gt; 处置效果 &gt; 资源成本 &gt; 过程奖励</a:t>
            </a:r>
            <a:endParaRPr lang="en-US" sz="107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1572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推荐实施路线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37960" y="214884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E3EEFC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84264" y="2313432"/>
            <a:ext cx="347472" cy="347472"/>
          </a:xfrm>
          <a:prstGeom prst="ellipse">
            <a:avLst/>
          </a:prstGeom>
          <a:solidFill>
            <a:srgbClr val="3B7DDD"/>
          </a:solidFill>
          <a:ln w="12700">
            <a:solidFill>
              <a:srgbClr val="3B7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84264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104888" y="225856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规则物理 + 离散分配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84264" y="2651760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先验证威胁、资源、动作掩码与终止条件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37960" y="333756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DDF4F2"/>
          </a:solidFill>
          <a:ln w="12700">
            <a:solidFill>
              <a:srgbClr val="17A6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84264" y="3502152"/>
            <a:ext cx="347472" cy="347472"/>
          </a:xfrm>
          <a:prstGeom prst="ellipse">
            <a:avLst/>
          </a:prstGeom>
          <a:solidFill>
            <a:srgbClr val="17A6A1"/>
          </a:solidFill>
          <a:ln w="12700">
            <a:solidFill>
              <a:srgbClr val="17A6A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84264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104888" y="344728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加入观测误差与融合航迹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684264" y="3840480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从全局状态过渡到局部观测和信念状态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37960" y="452628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E4F3E9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84264" y="4690872"/>
            <a:ext cx="347472" cy="347472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84264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104888" y="463600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加入异构 MARL 与动态重编组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684264" y="5029200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D69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 MAPPO、HAPPO/HARL 和规则基线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37960" y="5559552"/>
            <a:ext cx="4663440" cy="384048"/>
          </a:xfrm>
          <a:prstGeom prst="roundRect">
            <a:avLst>
              <a:gd name="adj" fmla="val 9524"/>
            </a:avLst>
          </a:prstGeom>
          <a:solidFill>
            <a:srgbClr val="DDF4F2"/>
          </a:solidFill>
          <a:ln w="7620">
            <a:solidFill>
              <a:srgbClr val="DDF4F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20840" y="562356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A6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先做“可信环境”，再追求“复杂算法”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30352" y="6400800"/>
            <a:ext cx="11109960" cy="0"/>
          </a:xfrm>
          <a:prstGeom prst="line">
            <a:avLst/>
          </a:prstGeom>
          <a:noFill/>
          <a:ln w="8890">
            <a:solidFill>
              <a:srgbClr val="D6DDE4"/>
            </a:solidFill>
            <a:prstDash val="solid"/>
            <a:tailEnd type="none"/>
          </a:ln>
        </p:spPr>
      </p:sp>
      <p:sp>
        <p:nvSpPr>
          <p:cNvPr id="41" name="Text 39"/>
          <p:cNvSpPr txBox="1"/>
          <p:nvPr/>
        </p:nvSpPr>
        <p:spPr>
          <a:xfrm>
            <a:off x="548640" y="646480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结论：论文技术分类 + HAPPO/HARL，可形成反 UAV 异构 MARL 环境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1587</Words>
  <Application>Microsoft Office PowerPoint</Application>
  <PresentationFormat>宽屏</PresentationFormat>
  <Paragraphs>464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Microsoft YaHei</vt:lpstr>
      <vt:lpstr>Aptos</vt:lpstr>
      <vt:lpstr>Aptos Display</vt:lpstr>
      <vt:lpstr>Arial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Research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Counter-UAS：技术体系与反UAV强化学习环境建模</dc:title>
  <dc:subject>Counter-UAS survey and anti-UAV MARL environment modeling</dc:subject>
  <dc:creator>OpenAI Codex</dc:creator>
  <cp:lastModifiedBy>自康 黄</cp:lastModifiedBy>
  <cp:revision>2</cp:revision>
  <dcterms:created xsi:type="dcterms:W3CDTF">2026-07-14T17:11:15Z</dcterms:created>
  <dcterms:modified xsi:type="dcterms:W3CDTF">2026-07-14T17:17:57Z</dcterms:modified>
</cp:coreProperties>
</file>